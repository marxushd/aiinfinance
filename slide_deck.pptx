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1.xml" ContentType="application/vnd.openxmlformats-officedocument.presentationml.tags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0.xml" ContentType="application/vnd.openxmlformats-officedocument.presentationml.notesSlide+xml"/>
  <Override PartName="/ppt/tags/tag95.xml" ContentType="application/vnd.openxmlformats-officedocument.presentationml.tags+xml"/>
  <Override PartName="/ppt/notesSlides/notesSlide11.xml" ContentType="application/vnd.openxmlformats-officedocument.presentationml.notesSlide+xml"/>
  <Override PartName="/ppt/tags/tag96.xml" ContentType="application/vnd.openxmlformats-officedocument.presentationml.tags+xml"/>
  <Override PartName="/ppt/notesSlides/notesSlide12.xml" ContentType="application/vnd.openxmlformats-officedocument.presentationml.notesSlide+xml"/>
  <Override PartName="/ppt/tags/tag97.xml" ContentType="application/vnd.openxmlformats-officedocument.presentationml.tags+xml"/>
  <Override PartName="/ppt/notesSlides/notesSlide13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tags/tag112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329" r:id="rId5"/>
    <p:sldId id="2147473146" r:id="rId6"/>
    <p:sldId id="2147473256" r:id="rId7"/>
    <p:sldId id="438" r:id="rId8"/>
    <p:sldId id="2147473224" r:id="rId9"/>
    <p:sldId id="2147473269" r:id="rId10"/>
    <p:sldId id="2147473210" r:id="rId11"/>
    <p:sldId id="2147473233" r:id="rId12"/>
    <p:sldId id="2147473270" r:id="rId13"/>
    <p:sldId id="2147473277" r:id="rId14"/>
    <p:sldId id="2147473264" r:id="rId15"/>
    <p:sldId id="2147473318" r:id="rId16"/>
    <p:sldId id="2147473257" r:id="rId17"/>
    <p:sldId id="2147473320" r:id="rId18"/>
    <p:sldId id="2147473268" r:id="rId19"/>
    <p:sldId id="330" r:id="rId20"/>
    <p:sldId id="2147473265" r:id="rId21"/>
    <p:sldId id="2147473321" r:id="rId22"/>
    <p:sldId id="2147473271" r:id="rId23"/>
    <p:sldId id="2147473322" r:id="rId24"/>
  </p:sldIdLst>
  <p:sldSz cx="12192000" cy="6858000"/>
  <p:notesSz cx="6858000" cy="9144000"/>
  <p:custDataLst>
    <p:tags r:id="rId2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72413-3A7F-66EF-0397-7FA92EE7128E}" name="Marcus Möller" initials="MM" userId="S::mmoelle8@on.wwu.de::2ffb4403-0d13-4bd5-9fe5-410fed7b20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AC6"/>
    <a:srgbClr val="A8A8A8"/>
    <a:srgbClr val="DBE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EE03D-4614-4D49-AEB5-52BBD553C7F5}" v="6106" dt="2026-02-26T10:51:09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94694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Bin_res_Microsoft_Excel-Arbeitsblatt2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184300341296929E-2"/>
          <c:y val="0.20799999999999999"/>
          <c:w val="0.95563139931740615"/>
          <c:h val="0.5839999999999999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6A-EF43-850F-F965BD9D72EC}"/>
            </c:ext>
          </c:extLst>
        </c:ser>
        <c:ser>
          <c:idx val="1"/>
          <c:order val="1"/>
          <c:spPr>
            <a:solidFill>
              <a:schemeClr val="bg2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6A-EF43-850F-F965BD9D7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116834464"/>
        <c:axId val="1"/>
      </c:barChart>
      <c:catAx>
        <c:axId val="21168344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1168344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184300341296929E-2"/>
          <c:y val="0.20799999999999999"/>
          <c:w val="0.95563139931740615"/>
          <c:h val="0.5839999999999999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EC-5541-8303-964F03F8C8CC}"/>
            </c:ext>
          </c:extLst>
        </c:ser>
        <c:ser>
          <c:idx val="1"/>
          <c:order val="1"/>
          <c:spPr>
            <a:solidFill>
              <a:schemeClr val="bg2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EC-5541-8303-964F03F8C8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59320175"/>
        <c:axId val="1"/>
      </c:barChart>
      <c:catAx>
        <c:axId val="1859320175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593201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193768672641914E-2"/>
          <c:y val="0.20799999999999999"/>
          <c:w val="0.95561246265471622"/>
          <c:h val="0.5839999999999999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BA-6D48-9591-F45C1DD36AF4}"/>
            </c:ext>
          </c:extLst>
        </c:ser>
        <c:ser>
          <c:idx val="1"/>
          <c:order val="1"/>
          <c:spPr>
            <a:solidFill>
              <a:schemeClr val="bg2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BA-6D48-9591-F45C1DD36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59688607"/>
        <c:axId val="1"/>
      </c:barChart>
      <c:catAx>
        <c:axId val="1859688607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596886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CA544-A8CC-2940-AD4D-FE64CBE36DDC}" type="datetimeFigureOut">
              <a:rPr lang="de-DE" smtClean="0"/>
              <a:t>26.02.26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81254-98E4-4648-8553-953DCD56A2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18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13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Possibility of impending insolvency, not default or bankruptcy per se </a:t>
            </a:r>
          </a:p>
          <a:p>
            <a:r>
              <a:rPr lang="en-US">
                <a:sym typeface="Wingdings" pitchFamily="2" charset="2"/>
              </a:rPr>
              <a:t> Earlier thus quite interesting for decision makers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6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58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0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EC43-B393-7383-D5D6-123008BA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77607-9C2A-899A-FC91-5790639A0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7D52A-0162-10C9-4755-E183A97B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72461-3E2F-C6D1-C8F6-3DEE97DF9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61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51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4CDA3-137E-DC04-10C6-4BDBFCD6E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2C2B1-D11C-2CB1-B902-B980EF26B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676B5-0B25-81F5-7175-A63989C07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FD2FE-0429-9F42-3506-8C41AC22E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97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0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19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D54A-E879-F8D5-9D8C-C3E6E0EC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C1459-7502-20EF-78B1-414E03AA3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CF9B6-E58C-4ACD-5CD8-5CBB379E5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D6C02-E551-01EE-2AEE-ABBD0DB8D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18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C349-F8F2-E40F-EB8B-E9F1DCAB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1809E-FB66-9AD4-05E6-B4BBE9A89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97838-BA42-2389-AB52-7D4647B64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C0A03-D148-2AC8-3B24-35B321446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54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1962-D3D5-1F51-39A6-CA9626C2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7EB8F-9C1A-931B-2DA4-CE57EF302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0AED3-C60A-4A7B-CBDF-6AFD51AE5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A2A13-D241-5CA2-2C85-AAA7C6F96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73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881254-98E4-4648-8553-953DCD56A228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250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D837-2C40-44D1-49AA-7EC7C3DA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8206A-02C2-F38B-D10B-2037ACB71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91D7E-DCF8-703F-BC1D-8406070EC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9BDF2-B7B7-EB7D-ADE4-16FE1230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0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0" y="1265231"/>
            <a:ext cx="10363200" cy="1470025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pPr lvl="0"/>
            <a:r>
              <a:rPr lang="de-DE"/>
              <a:t>&lt; Titel der Präsentation &gt;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100383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&lt; Anlass oder Ort oder Datum oder Dozent &gt;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el 1"/>
          <p:cNvSpPr txBox="1">
            <a:spLocks/>
          </p:cNvSpPr>
          <p:nvPr userDrawn="1"/>
        </p:nvSpPr>
        <p:spPr>
          <a:xfrm>
            <a:off x="144000" y="266400"/>
            <a:ext cx="8880000" cy="288000"/>
          </a:xfrm>
          <a:prstGeom prst="rect">
            <a:avLst/>
          </a:prstGeom>
        </p:spPr>
        <p:txBody>
          <a:bodyPr vert="horz" lIns="0" tIns="0" rIns="0" bIns="0" rtlCol="0" anchor="ctr">
            <a:normAutofit lnSpcReduction="10000"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Titelmasterformat durch Klicken bearbeiten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B79E33F6-E7D1-4EA7-91A1-65B787BAF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Wintersemester</a:t>
            </a:r>
            <a:r>
              <a:rPr lang="en-US"/>
              <a:t> 2025</a:t>
            </a:r>
            <a:endParaRPr lang="en-US" altLang="en-US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856E82F-BE86-4C68-AE56-E3B61311D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375811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90800" y="727200"/>
            <a:ext cx="11808000" cy="5400000"/>
          </a:xfrm>
        </p:spPr>
        <p:txBody>
          <a:bodyPr lIns="0"/>
          <a:lstStyle>
            <a:lvl1pPr marL="342891" indent="-342891">
              <a:buFont typeface="Arial" panose="020B0604020202020204" pitchFamily="34" charset="0"/>
              <a:buChar char="–"/>
              <a:defRPr/>
            </a:lvl1pPr>
            <a:lvl2pPr marL="742932" indent="-285744">
              <a:buFont typeface="Arial" panose="020B0604020202020204" pitchFamily="34" charset="0"/>
              <a:buChar char="•"/>
              <a:defRPr/>
            </a:lvl2pPr>
            <a:lvl3pPr marL="1142971" indent="-228594">
              <a:buFont typeface="Courier New" panose="02070309020205020404" pitchFamily="49" charset="0"/>
              <a:buChar char="o"/>
              <a:defRPr/>
            </a:lvl3pPr>
            <a:lvl4pPr marL="1600160" indent="-228594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5DFDAD7-B52D-474B-ACBF-50D7BE92A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Wintersemester</a:t>
            </a:r>
            <a:r>
              <a:rPr lang="en-US"/>
              <a:t> 2025</a:t>
            </a:r>
            <a:endParaRPr lang="en-US" altLang="en-US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411DED6D-4645-45B7-942F-155114C5A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148945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505C8C-BB84-42E2-A236-8AB4ACB7820A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5E59B374-D4E6-495F-973D-52896ADD7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Wintersemester</a:t>
            </a:r>
            <a:r>
              <a:rPr lang="en-US"/>
              <a:t> 2025</a:t>
            </a:r>
            <a:endParaRPr lang="en-US" altLang="en-US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EDCD5B3-8107-45FF-9AC5-59838120B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prstClr val="black"/>
                </a:solidFill>
              </a:rPr>
              <a:t>Seminar Asset Pricing</a:t>
            </a:r>
          </a:p>
        </p:txBody>
      </p:sp>
    </p:spTree>
    <p:extLst>
      <p:ext uri="{BB962C8B-B14F-4D97-AF65-F5344CB8AC3E}">
        <p14:creationId xmlns:p14="http://schemas.microsoft.com/office/powerpoint/2010/main" val="1026960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64">
          <p15:clr>
            <a:srgbClr val="FBAE40"/>
          </p15:clr>
        </p15:guide>
        <p15:guide id="2" pos="8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9" imgH="350" progId="TCLayout.ActiveDocument.1">
                  <p:embed/>
                </p:oleObj>
              </mc:Choice>
              <mc:Fallback>
                <p:oleObj name="think-cell Foli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9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60348E-000C-5D96-6DDE-34352D1CD6F6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0308195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7772400" imgH="10058400" progId="TCLayout.ActiveDocument.1">
                  <p:embed/>
                </p:oleObj>
              </mc:Choice>
              <mc:Fallback>
                <p:oleObj name="think-cell Folie" r:id="rId7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60348E-000C-5D96-6DDE-34352D1CD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44000" y="266400"/>
            <a:ext cx="8880000" cy="288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90800" y="727200"/>
            <a:ext cx="11808000" cy="54000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44000" y="66132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Wintersemester</a:t>
            </a:r>
            <a:r>
              <a:rPr lang="en-US"/>
              <a:t> 2024</a:t>
            </a:r>
            <a:endParaRPr lang="en-US" alt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44000" y="6429600"/>
            <a:ext cx="48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prstClr val="black"/>
                </a:solidFill>
              </a:rPr>
              <a:t>Seminar Asset Pricing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36000" y="65196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5711ED-2BAA-4AFB-BCA6-C492AC114C2F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 flipV="1">
            <a:off x="96000" y="612000"/>
            <a:ext cx="12000000" cy="18000"/>
          </a:xfrm>
          <a:prstGeom prst="rect">
            <a:avLst/>
          </a:prstGeom>
          <a:solidFill>
            <a:srgbClr val="009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 flipV="1">
            <a:off x="96000" y="6343200"/>
            <a:ext cx="12000000" cy="18000"/>
          </a:xfrm>
          <a:prstGeom prst="rect">
            <a:avLst/>
          </a:prstGeom>
          <a:solidFill>
            <a:srgbClr val="009A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E79838F-D892-4735-A995-EB4ED2EC122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9200" y="99339"/>
            <a:ext cx="1619996" cy="49831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20DF25B-71A6-4AB3-941E-F5B22263E87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 bwMode="auto">
          <a:xfrm>
            <a:off x="10634230" y="6422323"/>
            <a:ext cx="1373369" cy="37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3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defTabSz="914377" rtl="0" eaLnBrk="1" latinLnBrk="0" hangingPunct="1"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ts val="0"/>
        </a:spcBef>
        <a:spcAft>
          <a:spcPts val="300"/>
        </a:spcAft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ts val="0"/>
        </a:spcBef>
        <a:spcAft>
          <a:spcPts val="300"/>
        </a:spcAft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21">
          <p15:clr>
            <a:srgbClr val="F26B43"/>
          </p15:clr>
        </p15:guide>
        <p15:guide id="4" pos="7559">
          <p15:clr>
            <a:srgbClr val="F26B43"/>
          </p15:clr>
        </p15:guide>
        <p15:guide id="5" orient="horz" pos="459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6" Type="http://schemas.openxmlformats.org/officeDocument/2006/relationships/image" Target="../media/image7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image" Target="../media/image8.emf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.png"/><Relationship Id="rId1" Type="http://schemas.openxmlformats.org/officeDocument/2006/relationships/tags" Target="../tags/tag1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emf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24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16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15.png"/><Relationship Id="rId5" Type="http://schemas.openxmlformats.org/officeDocument/2006/relationships/tags" Target="../tags/tag22.xml"/><Relationship Id="rId15" Type="http://schemas.openxmlformats.org/officeDocument/2006/relationships/image" Target="../media/image7.png"/><Relationship Id="rId10" Type="http://schemas.openxmlformats.org/officeDocument/2006/relationships/image" Target="../media/image23.emf"/><Relationship Id="rId4" Type="http://schemas.openxmlformats.org/officeDocument/2006/relationships/tags" Target="../tags/tag21.xml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11" Type="http://schemas.openxmlformats.org/officeDocument/2006/relationships/image" Target="../media/image31.png"/><Relationship Id="rId5" Type="http://schemas.openxmlformats.org/officeDocument/2006/relationships/image" Target="../media/image26.emf"/><Relationship Id="rId10" Type="http://schemas.openxmlformats.org/officeDocument/2006/relationships/image" Target="../media/image30.svg"/><Relationship Id="rId4" Type="http://schemas.openxmlformats.org/officeDocument/2006/relationships/oleObject" Target="../embeddings/oleObject8.bin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9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7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notesSlide" Target="../notesSlides/notesSlide7.xml"/><Relationship Id="rId11" Type="http://schemas.openxmlformats.org/officeDocument/2006/relationships/chart" Target="../charts/chart3.xml"/><Relationship Id="rId5" Type="http://schemas.openxmlformats.org/officeDocument/2006/relationships/slideLayout" Target="../slideLayouts/slideLayout4.xml"/><Relationship Id="rId10" Type="http://schemas.openxmlformats.org/officeDocument/2006/relationships/chart" Target="../charts/chart2.xml"/><Relationship Id="rId4" Type="http://schemas.openxmlformats.org/officeDocument/2006/relationships/tags" Target="../tags/tag30.xml"/><Relationship Id="rId9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7.png"/><Relationship Id="rId12" Type="http://schemas.openxmlformats.org/officeDocument/2006/relationships/image" Target="../media/image39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Relationship Id="rId6" Type="http://schemas.openxmlformats.org/officeDocument/2006/relationships/image" Target="../media/image7.png"/><Relationship Id="rId11" Type="http://schemas.openxmlformats.org/officeDocument/2006/relationships/image" Target="../media/image38.png"/><Relationship Id="rId5" Type="http://schemas.openxmlformats.org/officeDocument/2006/relationships/image" Target="../media/image26.emf"/><Relationship Id="rId10" Type="http://schemas.openxmlformats.org/officeDocument/2006/relationships/image" Target="../media/image37.sv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Relationship Id="rId6" Type="http://schemas.openxmlformats.org/officeDocument/2006/relationships/image" Target="../media/image7.png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58.xml"/><Relationship Id="rId21" Type="http://schemas.openxmlformats.org/officeDocument/2006/relationships/tags" Target="../tags/tag53.xml"/><Relationship Id="rId34" Type="http://schemas.openxmlformats.org/officeDocument/2006/relationships/tags" Target="../tags/tag66.xml"/><Relationship Id="rId42" Type="http://schemas.openxmlformats.org/officeDocument/2006/relationships/tags" Target="../tags/tag74.xml"/><Relationship Id="rId47" Type="http://schemas.openxmlformats.org/officeDocument/2006/relationships/tags" Target="../tags/tag79.xml"/><Relationship Id="rId50" Type="http://schemas.openxmlformats.org/officeDocument/2006/relationships/tags" Target="../tags/tag82.xml"/><Relationship Id="rId55" Type="http://schemas.openxmlformats.org/officeDocument/2006/relationships/tags" Target="../tags/tag87.xml"/><Relationship Id="rId63" Type="http://schemas.openxmlformats.org/officeDocument/2006/relationships/oleObject" Target="../embeddings/oleObject13.bin"/><Relationship Id="rId68" Type="http://schemas.openxmlformats.org/officeDocument/2006/relationships/image" Target="../media/image44.png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9" Type="http://schemas.openxmlformats.org/officeDocument/2006/relationships/tags" Target="../tags/tag61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32" Type="http://schemas.openxmlformats.org/officeDocument/2006/relationships/tags" Target="../tags/tag64.xml"/><Relationship Id="rId37" Type="http://schemas.openxmlformats.org/officeDocument/2006/relationships/tags" Target="../tags/tag69.xml"/><Relationship Id="rId40" Type="http://schemas.openxmlformats.org/officeDocument/2006/relationships/tags" Target="../tags/tag72.xml"/><Relationship Id="rId45" Type="http://schemas.openxmlformats.org/officeDocument/2006/relationships/tags" Target="../tags/tag77.xml"/><Relationship Id="rId53" Type="http://schemas.openxmlformats.org/officeDocument/2006/relationships/tags" Target="../tags/tag85.xml"/><Relationship Id="rId58" Type="http://schemas.openxmlformats.org/officeDocument/2006/relationships/tags" Target="../tags/tag90.xml"/><Relationship Id="rId66" Type="http://schemas.openxmlformats.org/officeDocument/2006/relationships/image" Target="../media/image7.png"/><Relationship Id="rId5" Type="http://schemas.openxmlformats.org/officeDocument/2006/relationships/tags" Target="../tags/tag37.xml"/><Relationship Id="rId61" Type="http://schemas.openxmlformats.org/officeDocument/2006/relationships/tags" Target="../tags/tag93.xml"/><Relationship Id="rId19" Type="http://schemas.openxmlformats.org/officeDocument/2006/relationships/tags" Target="../tags/tag51.xml"/><Relationship Id="rId14" Type="http://schemas.openxmlformats.org/officeDocument/2006/relationships/tags" Target="../tags/tag46.xml"/><Relationship Id="rId22" Type="http://schemas.openxmlformats.org/officeDocument/2006/relationships/tags" Target="../tags/tag54.xml"/><Relationship Id="rId27" Type="http://schemas.openxmlformats.org/officeDocument/2006/relationships/tags" Target="../tags/tag59.xml"/><Relationship Id="rId30" Type="http://schemas.openxmlformats.org/officeDocument/2006/relationships/tags" Target="../tags/tag62.xml"/><Relationship Id="rId35" Type="http://schemas.openxmlformats.org/officeDocument/2006/relationships/tags" Target="../tags/tag67.xml"/><Relationship Id="rId43" Type="http://schemas.openxmlformats.org/officeDocument/2006/relationships/tags" Target="../tags/tag75.xml"/><Relationship Id="rId48" Type="http://schemas.openxmlformats.org/officeDocument/2006/relationships/tags" Target="../tags/tag80.xml"/><Relationship Id="rId56" Type="http://schemas.openxmlformats.org/officeDocument/2006/relationships/tags" Target="../tags/tag88.xml"/><Relationship Id="rId64" Type="http://schemas.openxmlformats.org/officeDocument/2006/relationships/image" Target="../media/image41.emf"/><Relationship Id="rId8" Type="http://schemas.openxmlformats.org/officeDocument/2006/relationships/tags" Target="../tags/tag40.xml"/><Relationship Id="rId51" Type="http://schemas.openxmlformats.org/officeDocument/2006/relationships/tags" Target="../tags/tag83.xml"/><Relationship Id="rId3" Type="http://schemas.openxmlformats.org/officeDocument/2006/relationships/tags" Target="../tags/tag35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tags" Target="../tags/tag57.xml"/><Relationship Id="rId33" Type="http://schemas.openxmlformats.org/officeDocument/2006/relationships/tags" Target="../tags/tag65.xml"/><Relationship Id="rId38" Type="http://schemas.openxmlformats.org/officeDocument/2006/relationships/tags" Target="../tags/tag70.xml"/><Relationship Id="rId46" Type="http://schemas.openxmlformats.org/officeDocument/2006/relationships/tags" Target="../tags/tag78.xml"/><Relationship Id="rId59" Type="http://schemas.openxmlformats.org/officeDocument/2006/relationships/tags" Target="../tags/tag91.xml"/><Relationship Id="rId67" Type="http://schemas.openxmlformats.org/officeDocument/2006/relationships/image" Target="../media/image43.png"/><Relationship Id="rId20" Type="http://schemas.openxmlformats.org/officeDocument/2006/relationships/tags" Target="../tags/tag52.xml"/><Relationship Id="rId41" Type="http://schemas.openxmlformats.org/officeDocument/2006/relationships/tags" Target="../tags/tag73.xml"/><Relationship Id="rId54" Type="http://schemas.openxmlformats.org/officeDocument/2006/relationships/tags" Target="../tags/tag86.xml"/><Relationship Id="rId62" Type="http://schemas.openxmlformats.org/officeDocument/2006/relationships/slideLayout" Target="../slideLayouts/slideLayout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28" Type="http://schemas.openxmlformats.org/officeDocument/2006/relationships/tags" Target="../tags/tag60.xml"/><Relationship Id="rId36" Type="http://schemas.openxmlformats.org/officeDocument/2006/relationships/tags" Target="../tags/tag68.xml"/><Relationship Id="rId49" Type="http://schemas.openxmlformats.org/officeDocument/2006/relationships/tags" Target="../tags/tag81.xml"/><Relationship Id="rId57" Type="http://schemas.openxmlformats.org/officeDocument/2006/relationships/tags" Target="../tags/tag89.xml"/><Relationship Id="rId10" Type="http://schemas.openxmlformats.org/officeDocument/2006/relationships/tags" Target="../tags/tag42.xml"/><Relationship Id="rId31" Type="http://schemas.openxmlformats.org/officeDocument/2006/relationships/tags" Target="../tags/tag63.xml"/><Relationship Id="rId44" Type="http://schemas.openxmlformats.org/officeDocument/2006/relationships/tags" Target="../tags/tag76.xml"/><Relationship Id="rId52" Type="http://schemas.openxmlformats.org/officeDocument/2006/relationships/tags" Target="../tags/tag84.xml"/><Relationship Id="rId60" Type="http://schemas.openxmlformats.org/officeDocument/2006/relationships/tags" Target="../tags/tag92.xml"/><Relationship Id="rId65" Type="http://schemas.openxmlformats.org/officeDocument/2006/relationships/image" Target="../media/image42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9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4.xml"/><Relationship Id="rId6" Type="http://schemas.openxmlformats.org/officeDocument/2006/relationships/image" Target="../media/image7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5.xml"/><Relationship Id="rId6" Type="http://schemas.openxmlformats.org/officeDocument/2006/relationships/image" Target="../media/image7.png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6.xml"/><Relationship Id="rId6" Type="http://schemas.openxmlformats.org/officeDocument/2006/relationships/image" Target="../media/image7.png"/><Relationship Id="rId5" Type="http://schemas.openxmlformats.org/officeDocument/2006/relationships/image" Target="../media/image46.emf"/><Relationship Id="rId4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9.sv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7.xml"/><Relationship Id="rId6" Type="http://schemas.openxmlformats.org/officeDocument/2006/relationships/image" Target="../media/image48.png"/><Relationship Id="rId5" Type="http://schemas.openxmlformats.org/officeDocument/2006/relationships/image" Target="../media/image47.emf"/><Relationship Id="rId4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Relationship Id="rId5" Type="http://schemas.openxmlformats.org/officeDocument/2006/relationships/image" Target="../media/image7.png"/><Relationship Id="rId4" Type="http://schemas.openxmlformats.org/officeDocument/2006/relationships/image" Target="../media/image5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9.xml"/><Relationship Id="rId6" Type="http://schemas.openxmlformats.org/officeDocument/2006/relationships/image" Target="../media/image7.png"/><Relationship Id="rId5" Type="http://schemas.openxmlformats.org/officeDocument/2006/relationships/image" Target="../media/image51.emf"/><Relationship Id="rId4" Type="http://schemas.openxmlformats.org/officeDocument/2006/relationships/oleObject" Target="../embeddings/oleObject1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5" Type="http://schemas.openxmlformats.org/officeDocument/2006/relationships/image" Target="../media/image7.png"/><Relationship Id="rId4" Type="http://schemas.openxmlformats.org/officeDocument/2006/relationships/image" Target="../media/image5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notesSlide" Target="../notesSlides/notesSlide15.xml"/><Relationship Id="rId18" Type="http://schemas.openxmlformats.org/officeDocument/2006/relationships/image" Target="../media/image55.svg"/><Relationship Id="rId3" Type="http://schemas.openxmlformats.org/officeDocument/2006/relationships/tags" Target="../tags/tag103.xml"/><Relationship Id="rId21" Type="http://schemas.openxmlformats.org/officeDocument/2006/relationships/image" Target="../media/image58.png"/><Relationship Id="rId7" Type="http://schemas.openxmlformats.org/officeDocument/2006/relationships/tags" Target="../tags/tag107.xml"/><Relationship Id="rId12" Type="http://schemas.openxmlformats.org/officeDocument/2006/relationships/slideLayout" Target="../slideLayouts/slideLayout4.xml"/><Relationship Id="rId17" Type="http://schemas.openxmlformats.org/officeDocument/2006/relationships/image" Target="../media/image54.png"/><Relationship Id="rId2" Type="http://schemas.openxmlformats.org/officeDocument/2006/relationships/tags" Target="../tags/tag102.xml"/><Relationship Id="rId16" Type="http://schemas.openxmlformats.org/officeDocument/2006/relationships/image" Target="../media/image7.png"/><Relationship Id="rId20" Type="http://schemas.openxmlformats.org/officeDocument/2006/relationships/image" Target="../media/image57.sv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image" Target="../media/image61.svg"/><Relationship Id="rId5" Type="http://schemas.openxmlformats.org/officeDocument/2006/relationships/tags" Target="../tags/tag105.xml"/><Relationship Id="rId15" Type="http://schemas.openxmlformats.org/officeDocument/2006/relationships/image" Target="../media/image53.emf"/><Relationship Id="rId23" Type="http://schemas.openxmlformats.org/officeDocument/2006/relationships/image" Target="../media/image60.png"/><Relationship Id="rId10" Type="http://schemas.openxmlformats.org/officeDocument/2006/relationships/tags" Target="../tags/tag110.xml"/><Relationship Id="rId19" Type="http://schemas.openxmlformats.org/officeDocument/2006/relationships/image" Target="../media/image56.png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oleObject" Target="../embeddings/oleObject21.bin"/><Relationship Id="rId22" Type="http://schemas.openxmlformats.org/officeDocument/2006/relationships/image" Target="../media/image5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5" Type="http://schemas.openxmlformats.org/officeDocument/2006/relationships/image" Target="../media/image7.png"/><Relationship Id="rId4" Type="http://schemas.openxmlformats.org/officeDocument/2006/relationships/image" Target="../media/image6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60417-878C-5046-B433-CB3DED09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BCAB2F1-80FE-E1CB-583D-C0A1BE8DA80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83713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CAB2F1-80FE-E1CB-583D-C0A1BE8DA8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0ECEE01-7962-0765-35E7-3D909D91F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>
            <a:normAutofit/>
          </a:bodyPr>
          <a:lstStyle/>
          <a:p>
            <a:r>
              <a:rPr lang="en-US" noProof="1"/>
              <a:t>Introduction to AI in Finance:</a:t>
            </a:r>
            <a:br>
              <a:rPr lang="en-US" noProof="1"/>
            </a:br>
            <a:r>
              <a:rPr lang="en-US" i="1" noProof="1"/>
              <a:t>Early-Warning Machine Learning for Corporate Financial Distress Prediction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8D6293-21A3-3235-E381-58A18381B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Presented by: Marcus Möller</a:t>
            </a:r>
          </a:p>
          <a:p>
            <a:r>
              <a:rPr lang="en-US" noProof="1"/>
              <a:t>Master of Science Business Administration, 3. Semester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768609-9645-AA75-8DD6-34607042FC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Winter Term 2025/26</a:t>
            </a:r>
            <a:endParaRPr lang="en-US" alt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5636ED-E2F3-7EED-5DFC-FA0DC22C7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de-DE" err="1">
                <a:solidFill>
                  <a:prstClr val="black"/>
                </a:solidFill>
              </a:rPr>
              <a:t>Introduction</a:t>
            </a:r>
            <a:r>
              <a:rPr lang="de-DE">
                <a:solidFill>
                  <a:prstClr val="black"/>
                </a:solidFill>
              </a:rPr>
              <a:t> </a:t>
            </a:r>
            <a:r>
              <a:rPr lang="de-DE" err="1">
                <a:solidFill>
                  <a:prstClr val="black"/>
                </a:solidFill>
              </a:rPr>
              <a:t>to</a:t>
            </a:r>
            <a:r>
              <a:rPr lang="de-DE">
                <a:solidFill>
                  <a:prstClr val="black"/>
                </a:solidFill>
              </a:rPr>
              <a:t> AI in Finance</a:t>
            </a:r>
          </a:p>
        </p:txBody>
      </p:sp>
      <p:pic>
        <p:nvPicPr>
          <p:cNvPr id="8" name="Grafik 7" descr="Ein Bild, das Text, Schrift, weiß, Design enthält.&#10;&#10;KI-generierte Inhalte können fehlerhaft sein.">
            <a:extLst>
              <a:ext uri="{FF2B5EF4-FFF2-40B4-BE49-F238E27FC236}">
                <a16:creationId xmlns:a16="http://schemas.microsoft.com/office/drawing/2014/main" id="{5F62164C-25C5-4AE3-C33D-AE7B3A8BE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069" y="42041"/>
            <a:ext cx="2231985" cy="536028"/>
          </a:xfrm>
          <a:prstGeom prst="rect">
            <a:avLst/>
          </a:prstGeom>
        </p:spPr>
      </p:pic>
      <p:pic>
        <p:nvPicPr>
          <p:cNvPr id="7" name="Grafik 6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219DBF6-683B-6953-2588-18BBBA079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9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F5B038-CF88-2EB0-55F0-3865C8D2718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6930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49" imgH="349" progId="TCLayout.ActiveDocument.1">
                  <p:embed/>
                </p:oleObj>
              </mc:Choice>
              <mc:Fallback>
                <p:oleObj name="think-cell Folie" r:id="rId14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F5B038-CF88-2EB0-55F0-3865C8D27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How we will proceed today</a:t>
            </a:r>
          </a:p>
        </p:txBody>
      </p:sp>
      <p:cxnSp>
        <p:nvCxnSpPr>
          <p:cNvPr id="32" name="Gerader Verbinder 22">
            <a:extLst>
              <a:ext uri="{FF2B5EF4-FFF2-40B4-BE49-F238E27FC236}">
                <a16:creationId xmlns:a16="http://schemas.microsoft.com/office/drawing/2014/main" id="{0D5E26FD-8837-B5B5-A23F-2096F2B2F6F6}"/>
              </a:ext>
            </a:extLst>
          </p:cNvPr>
          <p:cNvCxnSpPr>
            <a:cxnSpLocks/>
          </p:cNvCxnSpPr>
          <p:nvPr/>
        </p:nvCxnSpPr>
        <p:spPr>
          <a:xfrm>
            <a:off x="407987" y="1557338"/>
            <a:ext cx="0" cy="25875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42">
            <a:extLst>
              <a:ext uri="{FF2B5EF4-FFF2-40B4-BE49-F238E27FC236}">
                <a16:creationId xmlns:a16="http://schemas.microsoft.com/office/drawing/2014/main" id="{08671B0C-B4A0-09C7-7E02-581ED43DF339}"/>
              </a:ext>
            </a:extLst>
          </p:cNvPr>
          <p:cNvCxnSpPr>
            <a:cxnSpLocks/>
          </p:cNvCxnSpPr>
          <p:nvPr/>
        </p:nvCxnSpPr>
        <p:spPr>
          <a:xfrm>
            <a:off x="407987" y="4426835"/>
            <a:ext cx="0" cy="16310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7A005708-D6FF-D33E-72AF-2F2B6692022B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720122" y="2513837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Data &amp; Methodology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5C86CD47-4408-566D-0701-57E136BD82F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720122" y="1557338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Motivation &amp; Literature</a:t>
            </a:r>
            <a:endParaRPr kumimoji="0" lang="en-US" i="0" u="none" strike="noStrike" kern="1200" spc="0" normalizeH="0" noProof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E01594ED-9099-154D-9793-F2006866064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0122" y="3470336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144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Empirical Results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4CD4BAF4-05D4-0661-355A-253337544A75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720122" y="4426835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Discussion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9161E148-4E84-18A6-644C-422AA3F85F4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20122" y="53833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Conclusion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A32C164C-839A-62B2-03EC-6F8D3AC5364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812054" y="1634226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1C016ACC-1048-9F45-A168-05F988684C3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812054" y="2590725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92EDAD3D-FC61-1D1D-8B4B-6392526DC90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812054" y="3547224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F29E01A4-98B7-2AB4-ACDE-7A82A952F3E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12054" y="4503723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C9487B06-5289-CA96-5434-5362EC8B5DF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12054" y="5460222"/>
            <a:ext cx="66784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05.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CA712340-8D57-05EF-2159-4E94AAED8BD4}"/>
              </a:ext>
            </a:extLst>
          </p:cNvPr>
          <p:cNvSpPr>
            <a:spLocks/>
          </p:cNvSpPr>
          <p:nvPr/>
        </p:nvSpPr>
        <p:spPr bwMode="gray">
          <a:xfrm>
            <a:off x="4057685" y="15573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Economic motivation, Research question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F0B232F1-93A0-8E95-4907-F58B2C62B1A4}"/>
              </a:ext>
            </a:extLst>
          </p:cNvPr>
          <p:cNvSpPr>
            <a:spLocks/>
          </p:cNvSpPr>
          <p:nvPr/>
        </p:nvSpPr>
        <p:spPr bwMode="gray">
          <a:xfrm>
            <a:off x="4057685" y="25138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err="1"/>
              <a:t>Compustat</a:t>
            </a:r>
            <a:r>
              <a:rPr lang="en-US" sz="1600"/>
              <a:t> annual panel, </a:t>
            </a:r>
            <a:r>
              <a:rPr lang="de-DE" sz="1600"/>
              <a:t>Workflow </a:t>
            </a:r>
            <a:r>
              <a:rPr lang="de-DE" sz="1600" err="1"/>
              <a:t>Overview</a:t>
            </a:r>
            <a:r>
              <a:rPr lang="de-DE" sz="1600"/>
              <a:t>, </a:t>
            </a:r>
            <a:r>
              <a:rPr lang="en-US" sz="1600"/>
              <a:t>distress proxies, feature setup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50956BF1-A299-BBBD-1BC8-999D33102A16}"/>
              </a:ext>
            </a:extLst>
          </p:cNvPr>
          <p:cNvSpPr>
            <a:spLocks/>
          </p:cNvSpPr>
          <p:nvPr/>
        </p:nvSpPr>
        <p:spPr bwMode="gray">
          <a:xfrm>
            <a:off x="4057685" y="34703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Model performance (Logit vs </a:t>
            </a:r>
            <a:r>
              <a:rPr lang="en-US" sz="1600" err="1"/>
              <a:t>XGBoost</a:t>
            </a:r>
            <a:r>
              <a:rPr lang="en-US" sz="1600"/>
              <a:t>), ranking quality under class imbalance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A4F0622F-629B-E0E1-1FF7-1C76FF2A5A07}"/>
              </a:ext>
            </a:extLst>
          </p:cNvPr>
          <p:cNvSpPr>
            <a:spLocks/>
          </p:cNvSpPr>
          <p:nvPr/>
        </p:nvSpPr>
        <p:spPr bwMode="gray">
          <a:xfrm>
            <a:off x="4057685" y="4426838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/>
              <a:t>Why ML wins here (nonlinearities/interactions), No Legal Bankruptcy, and key limitations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9E0318CB-A0AF-6E88-EBFB-6E6B10DF1B27}"/>
              </a:ext>
            </a:extLst>
          </p:cNvPr>
          <p:cNvSpPr>
            <a:spLocks/>
          </p:cNvSpPr>
          <p:nvPr/>
        </p:nvSpPr>
        <p:spPr bwMode="gray">
          <a:xfrm>
            <a:off x="4057685" y="5383334"/>
            <a:ext cx="7751728" cy="673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de-DE" sz="1600"/>
              <a:t>Takeaways </a:t>
            </a:r>
            <a:r>
              <a:rPr lang="de-DE" sz="1600" err="1"/>
              <a:t>for</a:t>
            </a:r>
            <a:r>
              <a:rPr lang="de-DE" sz="1600"/>
              <a:t> </a:t>
            </a:r>
            <a:r>
              <a:rPr lang="de-DE" sz="1600" err="1"/>
              <a:t>early-warning</a:t>
            </a:r>
            <a:r>
              <a:rPr lang="de-DE" sz="1600"/>
              <a:t> </a:t>
            </a:r>
            <a:r>
              <a:rPr lang="de-DE" sz="1600" err="1"/>
              <a:t>selection</a:t>
            </a:r>
            <a:r>
              <a:rPr lang="de-DE" sz="1600"/>
              <a:t>, </a:t>
            </a:r>
            <a:r>
              <a:rPr lang="de-DE" sz="1600" err="1"/>
              <a:t>implications</a:t>
            </a:r>
            <a:r>
              <a:rPr lang="de-DE" sz="1600"/>
              <a:t> and </a:t>
            </a:r>
            <a:r>
              <a:rPr lang="de-DE" sz="1600" err="1"/>
              <a:t>future</a:t>
            </a:r>
            <a:r>
              <a:rPr lang="de-DE" sz="1600"/>
              <a:t> </a:t>
            </a:r>
            <a:r>
              <a:rPr lang="de-DE" sz="1600" err="1"/>
              <a:t>research</a:t>
            </a:r>
            <a:endParaRPr lang="de-DE" sz="160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977A4D5-7932-4C7E-D0A4-F1CDD7EB493D}"/>
              </a:ext>
            </a:extLst>
          </p:cNvPr>
          <p:cNvCxnSpPr>
            <a:cxnSpLocks/>
          </p:cNvCxnSpPr>
          <p:nvPr/>
        </p:nvCxnSpPr>
        <p:spPr>
          <a:xfrm>
            <a:off x="4057685" y="23721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FA7ACC9-1681-B038-6920-A2867352274C}"/>
              </a:ext>
            </a:extLst>
          </p:cNvPr>
          <p:cNvCxnSpPr>
            <a:cxnSpLocks/>
          </p:cNvCxnSpPr>
          <p:nvPr/>
        </p:nvCxnSpPr>
        <p:spPr>
          <a:xfrm>
            <a:off x="4057685" y="33286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D93E6B-E0AD-2ABA-816A-C6094AECF151}"/>
              </a:ext>
            </a:extLst>
          </p:cNvPr>
          <p:cNvCxnSpPr>
            <a:cxnSpLocks/>
          </p:cNvCxnSpPr>
          <p:nvPr/>
        </p:nvCxnSpPr>
        <p:spPr>
          <a:xfrm>
            <a:off x="4057685" y="42851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B63F31-D389-08AB-8767-F554B2393477}"/>
              </a:ext>
            </a:extLst>
          </p:cNvPr>
          <p:cNvCxnSpPr>
            <a:cxnSpLocks/>
          </p:cNvCxnSpPr>
          <p:nvPr/>
        </p:nvCxnSpPr>
        <p:spPr>
          <a:xfrm>
            <a:off x="4057685" y="5241688"/>
            <a:ext cx="77508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764E763-EA3D-3203-2436-F8025F4B86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9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8D00AE0-C43F-24CB-B952-464F83F9C94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27095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D00AE0-C43F-24CB-B952-464F83F9C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Definition of Financial Distress</a:t>
            </a:r>
          </a:p>
        </p:txBody>
      </p:sp>
      <p:sp>
        <p:nvSpPr>
          <p:cNvPr id="2" name="Rechteck 13">
            <a:extLst>
              <a:ext uri="{FF2B5EF4-FFF2-40B4-BE49-F238E27FC236}">
                <a16:creationId xmlns:a16="http://schemas.microsoft.com/office/drawing/2014/main" id="{23F6F237-0BEF-ADEC-37E0-E35A13D85800}"/>
              </a:ext>
            </a:extLst>
          </p:cNvPr>
          <p:cNvSpPr>
            <a:spLocks/>
          </p:cNvSpPr>
          <p:nvPr/>
        </p:nvSpPr>
        <p:spPr>
          <a:xfrm>
            <a:off x="0" y="2450512"/>
            <a:ext cx="12192000" cy="17549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F612B2C-0B5F-556A-89CA-88C2BC0A8F70}"/>
              </a:ext>
            </a:extLst>
          </p:cNvPr>
          <p:cNvSpPr txBox="1">
            <a:spLocks/>
          </p:cNvSpPr>
          <p:nvPr/>
        </p:nvSpPr>
        <p:spPr bwMode="gray">
          <a:xfrm>
            <a:off x="1251450" y="2728114"/>
            <a:ext cx="9715497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1" kern="1200">
                <a:solidFill>
                  <a:schemeClr val="bg1"/>
                </a:solidFill>
                <a:latin typeface="Montserrat ExtraBold" panose="00000900000000000000" pitchFamily="2" charset="0"/>
                <a:ea typeface="+mj-ea"/>
                <a:cs typeface="+mj-cs"/>
                <a:sym typeface="Futura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[Financial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distress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is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] a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situation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in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which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the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activity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of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a business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is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influenced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by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the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possibility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of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  <a:r>
              <a:rPr kumimoji="0" lang="pt-BR" b="1" u="none" strike="noStrike" kern="120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impending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insolvency</a:t>
            </a:r>
            <a:r>
              <a:rPr kumimoji="0" lang="pt-BR" b="1" u="none" strike="noStrike" kern="1200" cap="none" spc="0" normalizeH="0" baseline="30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1</a:t>
            </a:r>
            <a:r>
              <a:rPr kumimoji="0" lang="pt-BR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n-cs"/>
                <a:sym typeface="Futura"/>
              </a:rPr>
              <a:t>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0EF0353-030D-59DC-9455-54ECD53569BA}"/>
              </a:ext>
            </a:extLst>
          </p:cNvPr>
          <p:cNvGrpSpPr/>
          <p:nvPr/>
        </p:nvGrpSpPr>
        <p:grpSpPr>
          <a:xfrm>
            <a:off x="409053" y="2402901"/>
            <a:ext cx="842398" cy="459350"/>
            <a:chOff x="5499100" y="3057832"/>
            <a:chExt cx="1361360" cy="742335"/>
          </a:xfrm>
        </p:grpSpPr>
        <p:sp>
          <p:nvSpPr>
            <p:cNvPr id="25" name="Textfeld 11">
              <a:extLst>
                <a:ext uri="{FF2B5EF4-FFF2-40B4-BE49-F238E27FC236}">
                  <a16:creationId xmlns:a16="http://schemas.microsoft.com/office/drawing/2014/main" id="{2BB152B5-3975-354F-B52C-F415F9C1EA78}"/>
                </a:ext>
              </a:extLst>
            </p:cNvPr>
            <p:cNvSpPr txBox="1">
              <a:spLocks/>
            </p:cNvSpPr>
            <p:nvPr/>
          </p:nvSpPr>
          <p:spPr>
            <a:xfrm>
              <a:off x="5499100" y="3057832"/>
              <a:ext cx="943804" cy="742335"/>
            </a:xfrm>
            <a:custGeom>
              <a:avLst/>
              <a:gdLst/>
              <a:ahLst/>
              <a:cxnLst/>
              <a:rect l="l" t="t" r="r" b="b"/>
              <a:pathLst>
                <a:path w="212113" h="166837">
                  <a:moveTo>
                    <a:pt x="197021" y="0"/>
                  </a:moveTo>
                  <a:lnTo>
                    <a:pt x="212113" y="31831"/>
                  </a:lnTo>
                  <a:cubicBezTo>
                    <a:pt x="196746" y="36953"/>
                    <a:pt x="185724" y="44088"/>
                    <a:pt x="179047" y="53234"/>
                  </a:cubicBezTo>
                  <a:cubicBezTo>
                    <a:pt x="172370" y="62381"/>
                    <a:pt x="168849" y="74546"/>
                    <a:pt x="168483" y="89730"/>
                  </a:cubicBezTo>
                  <a:lnTo>
                    <a:pt x="205802" y="89730"/>
                  </a:lnTo>
                  <a:lnTo>
                    <a:pt x="205802" y="166837"/>
                  </a:lnTo>
                  <a:lnTo>
                    <a:pt x="128695" y="166837"/>
                  </a:lnTo>
                  <a:lnTo>
                    <a:pt x="128695" y="111682"/>
                  </a:lnTo>
                  <a:cubicBezTo>
                    <a:pt x="128695" y="89181"/>
                    <a:pt x="130661" y="71528"/>
                    <a:pt x="134594" y="58722"/>
                  </a:cubicBezTo>
                  <a:cubicBezTo>
                    <a:pt x="138527" y="45917"/>
                    <a:pt x="145845" y="34392"/>
                    <a:pt x="156546" y="24148"/>
                  </a:cubicBezTo>
                  <a:cubicBezTo>
                    <a:pt x="167248" y="13903"/>
                    <a:pt x="180740" y="5854"/>
                    <a:pt x="197021" y="0"/>
                  </a:cubicBezTo>
                  <a:close/>
                  <a:moveTo>
                    <a:pt x="68326" y="0"/>
                  </a:moveTo>
                  <a:lnTo>
                    <a:pt x="83418" y="31831"/>
                  </a:lnTo>
                  <a:cubicBezTo>
                    <a:pt x="68052" y="36953"/>
                    <a:pt x="57030" y="44088"/>
                    <a:pt x="50353" y="53234"/>
                  </a:cubicBezTo>
                  <a:cubicBezTo>
                    <a:pt x="43676" y="62381"/>
                    <a:pt x="40154" y="74546"/>
                    <a:pt x="39788" y="89730"/>
                  </a:cubicBezTo>
                  <a:lnTo>
                    <a:pt x="77107" y="89730"/>
                  </a:lnTo>
                  <a:lnTo>
                    <a:pt x="77107" y="166837"/>
                  </a:lnTo>
                  <a:lnTo>
                    <a:pt x="0" y="166837"/>
                  </a:lnTo>
                  <a:lnTo>
                    <a:pt x="0" y="111682"/>
                  </a:lnTo>
                  <a:cubicBezTo>
                    <a:pt x="0" y="89364"/>
                    <a:pt x="1967" y="71756"/>
                    <a:pt x="5900" y="58860"/>
                  </a:cubicBezTo>
                  <a:cubicBezTo>
                    <a:pt x="9833" y="45963"/>
                    <a:pt x="17105" y="34392"/>
                    <a:pt x="27715" y="24148"/>
                  </a:cubicBezTo>
                  <a:cubicBezTo>
                    <a:pt x="38325" y="13903"/>
                    <a:pt x="51862" y="5854"/>
                    <a:pt x="68326" y="0"/>
                  </a:cubicBezTo>
                  <a:close/>
                </a:path>
              </a:pathLst>
            </a:custGeom>
            <a:noFill/>
            <a:ln w="6350">
              <a:solidFill>
                <a:schemeClr val="bg1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4400" b="1"/>
            </a:p>
          </p:txBody>
        </p:sp>
        <p:sp>
          <p:nvSpPr>
            <p:cNvPr id="26" name="Textfeld 10">
              <a:extLst>
                <a:ext uri="{FF2B5EF4-FFF2-40B4-BE49-F238E27FC236}">
                  <a16:creationId xmlns:a16="http://schemas.microsoft.com/office/drawing/2014/main" id="{AE8C85A8-98CF-0345-8BF0-53F14027461C}"/>
                </a:ext>
              </a:extLst>
            </p:cNvPr>
            <p:cNvSpPr txBox="1">
              <a:spLocks/>
            </p:cNvSpPr>
            <p:nvPr/>
          </p:nvSpPr>
          <p:spPr>
            <a:xfrm>
              <a:off x="6379403" y="3285242"/>
              <a:ext cx="481057" cy="378370"/>
            </a:xfrm>
            <a:custGeom>
              <a:avLst/>
              <a:gdLst/>
              <a:ahLst/>
              <a:cxnLst/>
              <a:rect l="l" t="t" r="r" b="b"/>
              <a:pathLst>
                <a:path w="212113" h="166837">
                  <a:moveTo>
                    <a:pt x="197021" y="0"/>
                  </a:moveTo>
                  <a:lnTo>
                    <a:pt x="212113" y="31831"/>
                  </a:lnTo>
                  <a:cubicBezTo>
                    <a:pt x="196746" y="36953"/>
                    <a:pt x="185724" y="44088"/>
                    <a:pt x="179047" y="53234"/>
                  </a:cubicBezTo>
                  <a:cubicBezTo>
                    <a:pt x="172370" y="62381"/>
                    <a:pt x="168849" y="74546"/>
                    <a:pt x="168483" y="89730"/>
                  </a:cubicBezTo>
                  <a:lnTo>
                    <a:pt x="205802" y="89730"/>
                  </a:lnTo>
                  <a:lnTo>
                    <a:pt x="205802" y="166837"/>
                  </a:lnTo>
                  <a:lnTo>
                    <a:pt x="128695" y="166837"/>
                  </a:lnTo>
                  <a:lnTo>
                    <a:pt x="128695" y="111682"/>
                  </a:lnTo>
                  <a:cubicBezTo>
                    <a:pt x="128695" y="89181"/>
                    <a:pt x="130661" y="71528"/>
                    <a:pt x="134594" y="58722"/>
                  </a:cubicBezTo>
                  <a:cubicBezTo>
                    <a:pt x="138527" y="45917"/>
                    <a:pt x="145845" y="34392"/>
                    <a:pt x="156546" y="24148"/>
                  </a:cubicBezTo>
                  <a:cubicBezTo>
                    <a:pt x="167248" y="13903"/>
                    <a:pt x="180740" y="5854"/>
                    <a:pt x="197021" y="0"/>
                  </a:cubicBezTo>
                  <a:close/>
                  <a:moveTo>
                    <a:pt x="68326" y="0"/>
                  </a:moveTo>
                  <a:lnTo>
                    <a:pt x="83418" y="31831"/>
                  </a:lnTo>
                  <a:cubicBezTo>
                    <a:pt x="68052" y="36953"/>
                    <a:pt x="57030" y="44088"/>
                    <a:pt x="50353" y="53234"/>
                  </a:cubicBezTo>
                  <a:cubicBezTo>
                    <a:pt x="43676" y="62381"/>
                    <a:pt x="40154" y="74546"/>
                    <a:pt x="39788" y="89730"/>
                  </a:cubicBezTo>
                  <a:lnTo>
                    <a:pt x="77107" y="89730"/>
                  </a:lnTo>
                  <a:lnTo>
                    <a:pt x="77107" y="166837"/>
                  </a:lnTo>
                  <a:lnTo>
                    <a:pt x="0" y="166837"/>
                  </a:lnTo>
                  <a:lnTo>
                    <a:pt x="0" y="111682"/>
                  </a:lnTo>
                  <a:cubicBezTo>
                    <a:pt x="0" y="89364"/>
                    <a:pt x="1967" y="71756"/>
                    <a:pt x="5900" y="58860"/>
                  </a:cubicBezTo>
                  <a:cubicBezTo>
                    <a:pt x="9833" y="45963"/>
                    <a:pt x="17105" y="34392"/>
                    <a:pt x="27715" y="24148"/>
                  </a:cubicBezTo>
                  <a:cubicBezTo>
                    <a:pt x="38325" y="13903"/>
                    <a:pt x="51862" y="5854"/>
                    <a:pt x="68326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4400" b="1"/>
            </a:p>
          </p:txBody>
        </p:sp>
      </p:grpSp>
      <p:sp>
        <p:nvSpPr>
          <p:cNvPr id="29" name="Textfeld 11">
            <a:extLst>
              <a:ext uri="{FF2B5EF4-FFF2-40B4-BE49-F238E27FC236}">
                <a16:creationId xmlns:a16="http://schemas.microsoft.com/office/drawing/2014/main" id="{BE72FCFA-9789-0B61-1471-21965F7BDC26}"/>
              </a:ext>
            </a:extLst>
          </p:cNvPr>
          <p:cNvSpPr txBox="1">
            <a:spLocks/>
          </p:cNvSpPr>
          <p:nvPr/>
        </p:nvSpPr>
        <p:spPr>
          <a:xfrm flipH="1" flipV="1">
            <a:off x="11231182" y="3701973"/>
            <a:ext cx="584018" cy="459350"/>
          </a:xfrm>
          <a:custGeom>
            <a:avLst/>
            <a:gdLst/>
            <a:ahLst/>
            <a:cxnLst/>
            <a:rect l="l" t="t" r="r" b="b"/>
            <a:pathLst>
              <a:path w="212113" h="166837">
                <a:moveTo>
                  <a:pt x="197021" y="0"/>
                </a:moveTo>
                <a:lnTo>
                  <a:pt x="212113" y="31831"/>
                </a:lnTo>
                <a:cubicBezTo>
                  <a:pt x="196746" y="36953"/>
                  <a:pt x="185724" y="44088"/>
                  <a:pt x="179047" y="53234"/>
                </a:cubicBezTo>
                <a:cubicBezTo>
                  <a:pt x="172370" y="62381"/>
                  <a:pt x="168849" y="74546"/>
                  <a:pt x="168483" y="89730"/>
                </a:cubicBezTo>
                <a:lnTo>
                  <a:pt x="205802" y="89730"/>
                </a:lnTo>
                <a:lnTo>
                  <a:pt x="205802" y="166837"/>
                </a:lnTo>
                <a:lnTo>
                  <a:pt x="128695" y="166837"/>
                </a:lnTo>
                <a:lnTo>
                  <a:pt x="128695" y="111682"/>
                </a:lnTo>
                <a:cubicBezTo>
                  <a:pt x="128695" y="89181"/>
                  <a:pt x="130661" y="71528"/>
                  <a:pt x="134594" y="58722"/>
                </a:cubicBezTo>
                <a:cubicBezTo>
                  <a:pt x="138527" y="45917"/>
                  <a:pt x="145845" y="34392"/>
                  <a:pt x="156546" y="24148"/>
                </a:cubicBezTo>
                <a:cubicBezTo>
                  <a:pt x="167248" y="13903"/>
                  <a:pt x="180740" y="5854"/>
                  <a:pt x="197021" y="0"/>
                </a:cubicBezTo>
                <a:close/>
                <a:moveTo>
                  <a:pt x="68326" y="0"/>
                </a:moveTo>
                <a:lnTo>
                  <a:pt x="83418" y="31831"/>
                </a:lnTo>
                <a:cubicBezTo>
                  <a:pt x="68052" y="36953"/>
                  <a:pt x="57030" y="44088"/>
                  <a:pt x="50353" y="53234"/>
                </a:cubicBezTo>
                <a:cubicBezTo>
                  <a:pt x="43676" y="62381"/>
                  <a:pt x="40154" y="74546"/>
                  <a:pt x="39788" y="89730"/>
                </a:cubicBezTo>
                <a:lnTo>
                  <a:pt x="77107" y="89730"/>
                </a:lnTo>
                <a:lnTo>
                  <a:pt x="77107" y="166837"/>
                </a:lnTo>
                <a:lnTo>
                  <a:pt x="0" y="166837"/>
                </a:lnTo>
                <a:lnTo>
                  <a:pt x="0" y="111682"/>
                </a:lnTo>
                <a:cubicBezTo>
                  <a:pt x="0" y="89364"/>
                  <a:pt x="1967" y="71756"/>
                  <a:pt x="5900" y="58860"/>
                </a:cubicBezTo>
                <a:cubicBezTo>
                  <a:pt x="9833" y="45963"/>
                  <a:pt x="17105" y="34392"/>
                  <a:pt x="27715" y="24148"/>
                </a:cubicBezTo>
                <a:cubicBezTo>
                  <a:pt x="38325" y="13903"/>
                  <a:pt x="51862" y="5854"/>
                  <a:pt x="68326" y="0"/>
                </a:cubicBezTo>
                <a:close/>
              </a:path>
            </a:pathLst>
          </a:custGeom>
          <a:noFill/>
          <a:ln w="6350">
            <a:solidFill>
              <a:schemeClr val="bg1"/>
            </a:solidFill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4400" b="1"/>
          </a:p>
        </p:txBody>
      </p:sp>
      <p:sp>
        <p:nvSpPr>
          <p:cNvPr id="7" name="Textfeld 10">
            <a:extLst>
              <a:ext uri="{FF2B5EF4-FFF2-40B4-BE49-F238E27FC236}">
                <a16:creationId xmlns:a16="http://schemas.microsoft.com/office/drawing/2014/main" id="{3C1D5CF3-C84A-5A42-004A-C7F8936F1A73}"/>
              </a:ext>
            </a:extLst>
          </p:cNvPr>
          <p:cNvSpPr txBox="1">
            <a:spLocks/>
          </p:cNvSpPr>
          <p:nvPr/>
        </p:nvSpPr>
        <p:spPr>
          <a:xfrm rot="10800000">
            <a:off x="10972805" y="3793536"/>
            <a:ext cx="297674" cy="234132"/>
          </a:xfrm>
          <a:custGeom>
            <a:avLst/>
            <a:gdLst/>
            <a:ahLst/>
            <a:cxnLst/>
            <a:rect l="l" t="t" r="r" b="b"/>
            <a:pathLst>
              <a:path w="212113" h="166837">
                <a:moveTo>
                  <a:pt x="197021" y="0"/>
                </a:moveTo>
                <a:lnTo>
                  <a:pt x="212113" y="31831"/>
                </a:lnTo>
                <a:cubicBezTo>
                  <a:pt x="196746" y="36953"/>
                  <a:pt x="185724" y="44088"/>
                  <a:pt x="179047" y="53234"/>
                </a:cubicBezTo>
                <a:cubicBezTo>
                  <a:pt x="172370" y="62381"/>
                  <a:pt x="168849" y="74546"/>
                  <a:pt x="168483" y="89730"/>
                </a:cubicBezTo>
                <a:lnTo>
                  <a:pt x="205802" y="89730"/>
                </a:lnTo>
                <a:lnTo>
                  <a:pt x="205802" y="166837"/>
                </a:lnTo>
                <a:lnTo>
                  <a:pt x="128695" y="166837"/>
                </a:lnTo>
                <a:lnTo>
                  <a:pt x="128695" y="111682"/>
                </a:lnTo>
                <a:cubicBezTo>
                  <a:pt x="128695" y="89181"/>
                  <a:pt x="130661" y="71528"/>
                  <a:pt x="134594" y="58722"/>
                </a:cubicBezTo>
                <a:cubicBezTo>
                  <a:pt x="138527" y="45917"/>
                  <a:pt x="145845" y="34392"/>
                  <a:pt x="156546" y="24148"/>
                </a:cubicBezTo>
                <a:cubicBezTo>
                  <a:pt x="167248" y="13903"/>
                  <a:pt x="180740" y="5854"/>
                  <a:pt x="197021" y="0"/>
                </a:cubicBezTo>
                <a:close/>
                <a:moveTo>
                  <a:pt x="68326" y="0"/>
                </a:moveTo>
                <a:lnTo>
                  <a:pt x="83418" y="31831"/>
                </a:lnTo>
                <a:cubicBezTo>
                  <a:pt x="68052" y="36953"/>
                  <a:pt x="57030" y="44088"/>
                  <a:pt x="50353" y="53234"/>
                </a:cubicBezTo>
                <a:cubicBezTo>
                  <a:pt x="43676" y="62381"/>
                  <a:pt x="40154" y="74546"/>
                  <a:pt x="39788" y="89730"/>
                </a:cubicBezTo>
                <a:lnTo>
                  <a:pt x="77107" y="89730"/>
                </a:lnTo>
                <a:lnTo>
                  <a:pt x="77107" y="166837"/>
                </a:lnTo>
                <a:lnTo>
                  <a:pt x="0" y="166837"/>
                </a:lnTo>
                <a:lnTo>
                  <a:pt x="0" y="111682"/>
                </a:lnTo>
                <a:cubicBezTo>
                  <a:pt x="0" y="89364"/>
                  <a:pt x="1967" y="71756"/>
                  <a:pt x="5900" y="58860"/>
                </a:cubicBezTo>
                <a:cubicBezTo>
                  <a:pt x="9833" y="45963"/>
                  <a:pt x="17105" y="34392"/>
                  <a:pt x="27715" y="24148"/>
                </a:cubicBezTo>
                <a:cubicBezTo>
                  <a:pt x="38325" y="13903"/>
                  <a:pt x="51862" y="5854"/>
                  <a:pt x="68326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4400" b="1"/>
          </a:p>
        </p:txBody>
      </p:sp>
      <p:pic>
        <p:nvPicPr>
          <p:cNvPr id="3" name="Grafik 2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6FD3A830-4CFB-3697-FC56-9DC46A811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334BAEDE-AB89-CF14-2776-7C0E0451AA40}"/>
              </a:ext>
            </a:extLst>
          </p:cNvPr>
          <p:cNvSpPr/>
          <p:nvPr/>
        </p:nvSpPr>
        <p:spPr>
          <a:xfrm>
            <a:off x="407988" y="6522350"/>
            <a:ext cx="1051570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>
                <a:solidFill>
                  <a:schemeClr val="tx2"/>
                </a:solidFill>
                <a:latin typeface="Arial" panose="020B0604020202020204" pitchFamily="34" charset="0"/>
              </a:rPr>
              <a:t>1) Law, 2008, p. 166</a:t>
            </a:r>
          </a:p>
        </p:txBody>
      </p:sp>
    </p:spTree>
    <p:extLst>
      <p:ext uri="{BB962C8B-B14F-4D97-AF65-F5344CB8AC3E}">
        <p14:creationId xmlns:p14="http://schemas.microsoft.com/office/powerpoint/2010/main" val="189054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998405A-F479-E910-6545-46F16A8C20C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555181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8405A-F479-E910-6545-46F16A8C20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Economic motivation: why early warning matters</a:t>
            </a:r>
          </a:p>
        </p:txBody>
      </p:sp>
      <p:pic>
        <p:nvPicPr>
          <p:cNvPr id="11" name="Grafik 12">
            <a:extLst>
              <a:ext uri="{FF2B5EF4-FFF2-40B4-BE49-F238E27FC236}">
                <a16:creationId xmlns:a16="http://schemas.microsoft.com/office/drawing/2014/main" id="{FC5810F7-71DC-3C91-D433-97E23BCD76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5951" y="4030373"/>
            <a:ext cx="704560" cy="704560"/>
          </a:xfrm>
          <a:prstGeom prst="rect">
            <a:avLst/>
          </a:prstGeom>
        </p:spPr>
      </p:pic>
      <p:pic>
        <p:nvPicPr>
          <p:cNvPr id="12" name="Grafik 14">
            <a:extLst>
              <a:ext uri="{FF2B5EF4-FFF2-40B4-BE49-F238E27FC236}">
                <a16:creationId xmlns:a16="http://schemas.microsoft.com/office/drawing/2014/main" id="{8D52E85E-B189-61AF-472E-2D32D39157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1976" y="4030373"/>
            <a:ext cx="704560" cy="704560"/>
          </a:xfrm>
          <a:prstGeom prst="rect">
            <a:avLst/>
          </a:prstGeom>
        </p:spPr>
      </p:pic>
      <p:pic>
        <p:nvPicPr>
          <p:cNvPr id="13" name="Grafik 18">
            <a:extLst>
              <a:ext uri="{FF2B5EF4-FFF2-40B4-BE49-F238E27FC236}">
                <a16:creationId xmlns:a16="http://schemas.microsoft.com/office/drawing/2014/main" id="{9605D600-3A1F-F813-5D9C-6295EA7BAA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98002" y="4030373"/>
            <a:ext cx="704560" cy="704560"/>
          </a:xfrm>
          <a:prstGeom prst="rect">
            <a:avLst/>
          </a:prstGeom>
        </p:spPr>
      </p:pic>
      <p:pic>
        <p:nvPicPr>
          <p:cNvPr id="14" name="Grafik 20">
            <a:extLst>
              <a:ext uri="{FF2B5EF4-FFF2-40B4-BE49-F238E27FC236}">
                <a16:creationId xmlns:a16="http://schemas.microsoft.com/office/drawing/2014/main" id="{76D518E2-18BC-1336-9FC3-17507213D2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25951" y="1743958"/>
            <a:ext cx="704560" cy="704560"/>
          </a:xfrm>
          <a:prstGeom prst="rect">
            <a:avLst/>
          </a:prstGeom>
        </p:spPr>
      </p:pic>
      <p:pic>
        <p:nvPicPr>
          <p:cNvPr id="15" name="Grafik 22">
            <a:extLst>
              <a:ext uri="{FF2B5EF4-FFF2-40B4-BE49-F238E27FC236}">
                <a16:creationId xmlns:a16="http://schemas.microsoft.com/office/drawing/2014/main" id="{CAEC1307-BF5C-B8E9-D139-8EC7786964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61976" y="1743958"/>
            <a:ext cx="704560" cy="7045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F90ADF7B-5A0A-FC0C-FCDE-63FF30578FEB}"/>
              </a:ext>
            </a:extLst>
          </p:cNvPr>
          <p:cNvSpPr>
            <a:spLocks/>
          </p:cNvSpPr>
          <p:nvPr/>
        </p:nvSpPr>
        <p:spPr>
          <a:xfrm>
            <a:off x="8135937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Policy readiness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Avoid false positives</a:t>
            </a:r>
            <a:endParaRPr lang="en-US" sz="1200" b="1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Strong discrimination is not enough: if outputs trigger actions, you need explicit calibration to avoid overconfident probabilities.</a:t>
            </a:r>
            <a:endParaRPr lang="en-US">
              <a:solidFill>
                <a:schemeClr val="tx1"/>
              </a:solidFill>
              <a:sym typeface="Futura"/>
            </a:endParaRPr>
          </a:p>
        </p:txBody>
      </p:sp>
      <p:sp>
        <p:nvSpPr>
          <p:cNvPr id="6" name="Rechteck 6">
            <a:extLst>
              <a:ext uri="{FF2B5EF4-FFF2-40B4-BE49-F238E27FC236}">
                <a16:creationId xmlns:a16="http://schemas.microsoft.com/office/drawing/2014/main" id="{9FE5418E-084B-3A8A-1401-31AA765F1677}"/>
              </a:ext>
            </a:extLst>
          </p:cNvPr>
          <p:cNvSpPr>
            <a:spLocks/>
          </p:cNvSpPr>
          <p:nvPr/>
        </p:nvSpPr>
        <p:spPr>
          <a:xfrm>
            <a:off x="4271962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Capacity-constrained screening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Most events sit in the tail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Under a fixed review budget, screening the top 20% risk bucket captures 87.9% of transition events, motivating high-recall operating points. </a:t>
            </a:r>
            <a:endParaRPr lang="en-US">
              <a:solidFill>
                <a:schemeClr val="tx1"/>
              </a:solidFill>
              <a:sym typeface="Futura"/>
            </a:endParaRPr>
          </a:p>
        </p:txBody>
      </p:sp>
      <p:sp>
        <p:nvSpPr>
          <p:cNvPr id="3" name="Rechteck 4">
            <a:extLst>
              <a:ext uri="{FF2B5EF4-FFF2-40B4-BE49-F238E27FC236}">
                <a16:creationId xmlns:a16="http://schemas.microsoft.com/office/drawing/2014/main" id="{44BE4541-2948-6CFA-B33F-4A49D7295E95}"/>
              </a:ext>
            </a:extLst>
          </p:cNvPr>
          <p:cNvSpPr>
            <a:spLocks/>
          </p:cNvSpPr>
          <p:nvPr/>
        </p:nvSpPr>
        <p:spPr>
          <a:xfrm>
            <a:off x="407988" y="389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Changing firm fundamentals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Traditional metrics weaken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Rising leverage, shifting capital structures, and intangible-intensive business models can reduce the informativeness of classic balance-sheet ratios. </a:t>
            </a:r>
            <a:endParaRPr lang="en-US">
              <a:solidFill>
                <a:schemeClr val="tx1"/>
              </a:solidFill>
              <a:sym typeface="Futura"/>
            </a:endParaRPr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90085541-30E3-5017-7DDC-F303BE35024D}"/>
              </a:ext>
            </a:extLst>
          </p:cNvPr>
          <p:cNvSpPr>
            <a:spLocks/>
          </p:cNvSpPr>
          <p:nvPr/>
        </p:nvSpPr>
        <p:spPr>
          <a:xfrm>
            <a:off x="8135937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Risk management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Prevent avoidable losses</a:t>
            </a:r>
            <a:endParaRPr lang="en-US" sz="1200">
              <a:solidFill>
                <a:schemeClr val="tx1"/>
              </a:solidFill>
              <a:sym typeface="Futura"/>
            </a:endParaRP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Timely signals enable liquidity planning, covenant talks, and restructuring before value erosion accelerates.</a:t>
            </a:r>
            <a:endParaRPr lang="en-US">
              <a:solidFill>
                <a:schemeClr val="tx1"/>
              </a:solidFill>
              <a:sym typeface="Futura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C3F70125-0842-37DC-8C25-431D4056439A}"/>
              </a:ext>
            </a:extLst>
          </p:cNvPr>
          <p:cNvSpPr>
            <a:spLocks/>
          </p:cNvSpPr>
          <p:nvPr/>
        </p:nvSpPr>
        <p:spPr>
          <a:xfrm>
            <a:off x="4271962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Limited attention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Early warning is prioritization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The goal is not a perfectly timed “alarm”, but to focus monitoring: which firms deserve a closer look and where risk builds up in the background.</a:t>
            </a:r>
            <a:endParaRPr lang="en-US">
              <a:solidFill>
                <a:schemeClr val="tx1"/>
              </a:solidFill>
              <a:sym typeface="Futura"/>
            </a:endParaRPr>
          </a:p>
        </p:txBody>
      </p:sp>
      <p:sp>
        <p:nvSpPr>
          <p:cNvPr id="2" name="Rechteck 3">
            <a:extLst>
              <a:ext uri="{FF2B5EF4-FFF2-40B4-BE49-F238E27FC236}">
                <a16:creationId xmlns:a16="http://schemas.microsoft.com/office/drawing/2014/main" id="{753893A9-CB04-2C1F-8002-FA887FD41065}"/>
              </a:ext>
            </a:extLst>
          </p:cNvPr>
          <p:cNvSpPr>
            <a:spLocks/>
          </p:cNvSpPr>
          <p:nvPr/>
        </p:nvSpPr>
        <p:spPr>
          <a:xfrm>
            <a:off x="407988" y="1557338"/>
            <a:ext cx="3684588" cy="216000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900000" rIns="144000" bIns="108000" rtlCol="0" anchor="t"/>
          <a:lstStyle/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sym typeface="Futura"/>
              </a:rPr>
              <a:t>Real economic costs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 b="1">
                <a:solidFill>
                  <a:schemeClr val="accent1"/>
                </a:solidFill>
                <a:sym typeface="Futura"/>
              </a:rPr>
              <a:t>Direct costs are only the start </a:t>
            </a:r>
          </a:p>
          <a:p>
            <a:pPr algn="ctr">
              <a:spcAft>
                <a:spcPts val="600"/>
              </a:spcAft>
              <a:buClr>
                <a:srgbClr val="000000"/>
              </a:buClr>
            </a:pPr>
            <a:r>
              <a:rPr lang="en-US" sz="1200">
                <a:solidFill>
                  <a:schemeClr val="tx1"/>
                </a:solidFill>
                <a:sym typeface="Futura"/>
              </a:rPr>
              <a:t>Direct costs (Lawless and Ferris, 1997; Thorburn, 2000; Raviv and Sundgren, 1998) and Indirect costs (Titman, 1984; Opler and Titman, 1994; Pulvino, 1998) </a:t>
            </a:r>
          </a:p>
        </p:txBody>
      </p:sp>
      <p:pic>
        <p:nvPicPr>
          <p:cNvPr id="16" name="Grafik 24">
            <a:extLst>
              <a:ext uri="{FF2B5EF4-FFF2-40B4-BE49-F238E27FC236}">
                <a16:creationId xmlns:a16="http://schemas.microsoft.com/office/drawing/2014/main" id="{83980584-3676-2892-CB97-2A4AB90661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98002" y="1743958"/>
            <a:ext cx="704560" cy="704560"/>
          </a:xfrm>
          <a:prstGeom prst="rect">
            <a:avLst/>
          </a:prstGeom>
        </p:spPr>
      </p:pic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5CB49530-169A-DF5B-2813-40DCA6D7608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02F2160-5741-07CA-D89A-5A49D61FB67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34202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2F2160-5741-07CA-D89A-5A49D61FB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noProof="0">
                <a:sym typeface="Futura"/>
              </a:rPr>
              <a:t>Cross Over of our Framework and the Literature</a:t>
            </a:r>
            <a:endParaRPr lang="en-US"/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DECF3FC3-260F-5157-83AC-A9CD8EAC7849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08525" y="2140306"/>
            <a:ext cx="2412981" cy="7771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2400">
                <a:sym typeface="Futura"/>
              </a:rPr>
              <a:t>Accounting driven distress proxy</a:t>
            </a:r>
          </a:p>
          <a:p>
            <a:pPr marR="0" lvl="0" fontAlgn="auto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>
                <a:solidFill>
                  <a:schemeClr val="accent1"/>
                </a:solidFill>
                <a:sym typeface="Futura"/>
              </a:rPr>
              <a:t>Pioneered by Altman (1968), Beaver (1966) and Ohlson, 1980. 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46BCB03D-B062-24E9-4CEF-A48173C5A00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407544" y="2140306"/>
            <a:ext cx="2412981" cy="7771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2400">
                <a:sym typeface="Futura"/>
              </a:rPr>
              <a:t>Machine Learning </a:t>
            </a:r>
          </a:p>
          <a:p>
            <a:pPr marR="0" lvl="0" algn="r" fontAlgn="auto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lang="en-US" sz="2400" err="1"/>
              <a:t>XGBoost</a:t>
            </a:r>
            <a:r>
              <a:rPr lang="en-US" sz="2400"/>
              <a:t> </a:t>
            </a:r>
          </a:p>
          <a:p>
            <a:pPr marR="0" lvl="0" algn="r" fontAlgn="auto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SzTx/>
              <a:tabLst/>
              <a:defRPr/>
            </a:pP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by (Chen &amp;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</a:rPr>
              <a:t>Guestrin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, 2016)</a:t>
            </a:r>
            <a:endParaRPr lang="en-US" sz="2400"/>
          </a:p>
          <a:p>
            <a:pPr algn="r">
              <a:spcAft>
                <a:spcPts val="300"/>
              </a:spcAft>
              <a:buClr>
                <a:srgbClr val="000000"/>
              </a:buClr>
              <a:defRPr/>
            </a:pPr>
            <a:r>
              <a:rPr lang="en-US" sz="1600" b="1">
                <a:solidFill>
                  <a:schemeClr val="accent1"/>
                </a:solidFill>
              </a:rPr>
              <a:t>Boosting ensembles outperform SVMs and are on par with the neural networks </a:t>
            </a:r>
          </a:p>
          <a:p>
            <a:pPr algn="r">
              <a:spcAft>
                <a:spcPts val="300"/>
              </a:spcAft>
              <a:buClr>
                <a:srgbClr val="000000"/>
              </a:buClr>
              <a:defRPr/>
            </a:pPr>
            <a:r>
              <a:rPr lang="en-US" sz="1600" b="1">
                <a:solidFill>
                  <a:schemeClr val="accent1"/>
                </a:solidFill>
              </a:rPr>
              <a:t>(Lessmann et al. 2015, p. 131) </a:t>
            </a:r>
            <a:endParaRPr lang="en-US" sz="1600" b="1">
              <a:solidFill>
                <a:schemeClr val="accent1"/>
              </a:solidFill>
              <a:sym typeface="Futura"/>
            </a:endParaRPr>
          </a:p>
        </p:txBody>
      </p:sp>
      <p:sp>
        <p:nvSpPr>
          <p:cNvPr id="2" name="Freihandform: Form 46">
            <a:extLst>
              <a:ext uri="{FF2B5EF4-FFF2-40B4-BE49-F238E27FC236}">
                <a16:creationId xmlns:a16="http://schemas.microsoft.com/office/drawing/2014/main" id="{576610EC-EE66-9380-C19C-56B3927FD4C1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13959" y="1574174"/>
            <a:ext cx="1000414" cy="2477991"/>
          </a:xfrm>
          <a:custGeom>
            <a:avLst/>
            <a:gdLst>
              <a:gd name="connsiteX0" fmla="*/ 500380 w 1000414"/>
              <a:gd name="connsiteY0" fmla="*/ 0 h 2477991"/>
              <a:gd name="connsiteX1" fmla="*/ 590993 w 1000414"/>
              <a:gd name="connsiteY1" fmla="*/ 99654 h 2477991"/>
              <a:gd name="connsiteX2" fmla="*/ 1000414 w 1000414"/>
              <a:gd name="connsiteY2" fmla="*/ 1239617 h 2477991"/>
              <a:gd name="connsiteX3" fmla="*/ 590993 w 1000414"/>
              <a:gd name="connsiteY3" fmla="*/ 2378397 h 2477991"/>
              <a:gd name="connsiteX4" fmla="*/ 500380 w 1000414"/>
              <a:gd name="connsiteY4" fmla="*/ 2477991 h 2477991"/>
              <a:gd name="connsiteX5" fmla="*/ 409714 w 1000414"/>
              <a:gd name="connsiteY5" fmla="*/ 2378397 h 2477991"/>
              <a:gd name="connsiteX6" fmla="*/ 0 w 1000414"/>
              <a:gd name="connsiteY6" fmla="*/ 1239617 h 2477991"/>
              <a:gd name="connsiteX7" fmla="*/ 409714 w 1000414"/>
              <a:gd name="connsiteY7" fmla="*/ 99654 h 247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414" h="2477991">
                <a:moveTo>
                  <a:pt x="500380" y="0"/>
                </a:moveTo>
                <a:lnTo>
                  <a:pt x="590993" y="99654"/>
                </a:lnTo>
                <a:cubicBezTo>
                  <a:pt x="846752" y="409419"/>
                  <a:pt x="1000414" y="806563"/>
                  <a:pt x="1000414" y="1239617"/>
                </a:cubicBezTo>
                <a:cubicBezTo>
                  <a:pt x="1000414" y="1672042"/>
                  <a:pt x="846752" y="2068831"/>
                  <a:pt x="590993" y="2378397"/>
                </a:cubicBezTo>
                <a:lnTo>
                  <a:pt x="500380" y="2477991"/>
                </a:lnTo>
                <a:lnTo>
                  <a:pt x="409714" y="2378397"/>
                </a:lnTo>
                <a:cubicBezTo>
                  <a:pt x="153800" y="2068831"/>
                  <a:pt x="0" y="1672042"/>
                  <a:pt x="0" y="1239617"/>
                </a:cubicBezTo>
                <a:cubicBezTo>
                  <a:pt x="0" y="806563"/>
                  <a:pt x="153800" y="409419"/>
                  <a:pt x="409714" y="99654"/>
                </a:cubicBezTo>
                <a:close/>
              </a:path>
            </a:pathLst>
          </a:custGeom>
          <a:solidFill>
            <a:srgbClr val="029AC6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 lang="en-US" sz="2863">
              <a:solidFill>
                <a:prstClr val="black"/>
              </a:solidFill>
            </a:endParaRPr>
          </a:p>
        </p:txBody>
      </p:sp>
      <p:sp>
        <p:nvSpPr>
          <p:cNvPr id="3" name="Freeform 34">
            <a:extLst>
              <a:ext uri="{FF2B5EF4-FFF2-40B4-BE49-F238E27FC236}">
                <a16:creationId xmlns:a16="http://schemas.microsoft.com/office/drawing/2014/main" id="{D044BC63-01E9-A1C4-63FF-4E9E74CAFC41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028364" y="1021730"/>
            <a:ext cx="3586728" cy="3583400"/>
          </a:xfrm>
          <a:custGeom>
            <a:avLst/>
            <a:gdLst>
              <a:gd name="T0" fmla="*/ 3424791 w 4986"/>
              <a:gd name="T1" fmla="*/ 1711568 h 4985"/>
              <a:gd name="T2" fmla="*/ 3424791 w 4986"/>
              <a:gd name="T3" fmla="*/ 1711568 h 4985"/>
              <a:gd name="T4" fmla="*/ 1712739 w 4986"/>
              <a:gd name="T5" fmla="*/ 3421762 h 4985"/>
              <a:gd name="T6" fmla="*/ 1712739 w 4986"/>
              <a:gd name="T7" fmla="*/ 3421762 h 4985"/>
              <a:gd name="T8" fmla="*/ 0 w 4986"/>
              <a:gd name="T9" fmla="*/ 1711568 h 4985"/>
              <a:gd name="T10" fmla="*/ 0 w 4986"/>
              <a:gd name="T11" fmla="*/ 1711568 h 4985"/>
              <a:gd name="T12" fmla="*/ 1712739 w 4986"/>
              <a:gd name="T13" fmla="*/ 0 h 4985"/>
              <a:gd name="T14" fmla="*/ 1712739 w 4986"/>
              <a:gd name="T15" fmla="*/ 0 h 4985"/>
              <a:gd name="T16" fmla="*/ 3424791 w 4986"/>
              <a:gd name="T17" fmla="*/ 1711568 h 498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986" h="4985">
                <a:moveTo>
                  <a:pt x="4985" y="2493"/>
                </a:moveTo>
                <a:lnTo>
                  <a:pt x="4985" y="2493"/>
                </a:lnTo>
                <a:cubicBezTo>
                  <a:pt x="4985" y="3868"/>
                  <a:pt x="3869" y="4984"/>
                  <a:pt x="2493" y="4984"/>
                </a:cubicBezTo>
                <a:cubicBezTo>
                  <a:pt x="1117" y="4984"/>
                  <a:pt x="0" y="3868"/>
                  <a:pt x="0" y="2493"/>
                </a:cubicBezTo>
                <a:cubicBezTo>
                  <a:pt x="0" y="1116"/>
                  <a:pt x="1117" y="0"/>
                  <a:pt x="2493" y="0"/>
                </a:cubicBezTo>
                <a:cubicBezTo>
                  <a:pt x="3869" y="0"/>
                  <a:pt x="4985" y="1116"/>
                  <a:pt x="4985" y="2493"/>
                </a:cubicBezTo>
              </a:path>
            </a:pathLst>
          </a:custGeom>
          <a:noFill/>
          <a:ln w="9525">
            <a:solidFill>
              <a:srgbClr val="029AC6"/>
            </a:solidFill>
          </a:ln>
        </p:spPr>
        <p:txBody>
          <a:bodyPr wrap="none" anchor="ctr"/>
          <a:lstStyle/>
          <a:p>
            <a:endParaRPr lang="en-US" sz="2863">
              <a:solidFill>
                <a:prstClr val="black"/>
              </a:solidFill>
            </a:endParaRPr>
          </a:p>
        </p:txBody>
      </p:sp>
      <p:sp>
        <p:nvSpPr>
          <p:cNvPr id="4" name="Freeform 34">
            <a:extLst>
              <a:ext uri="{FF2B5EF4-FFF2-40B4-BE49-F238E27FC236}">
                <a16:creationId xmlns:a16="http://schemas.microsoft.com/office/drawing/2014/main" id="{D4C5C740-C5E3-661C-2E1B-3A8AD148EE1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13959" y="1021730"/>
            <a:ext cx="3586728" cy="3583400"/>
          </a:xfrm>
          <a:custGeom>
            <a:avLst/>
            <a:gdLst>
              <a:gd name="T0" fmla="*/ 3424791 w 4986"/>
              <a:gd name="T1" fmla="*/ 1711568 h 4985"/>
              <a:gd name="T2" fmla="*/ 3424791 w 4986"/>
              <a:gd name="T3" fmla="*/ 1711568 h 4985"/>
              <a:gd name="T4" fmla="*/ 1712739 w 4986"/>
              <a:gd name="T5" fmla="*/ 3421762 h 4985"/>
              <a:gd name="T6" fmla="*/ 1712739 w 4986"/>
              <a:gd name="T7" fmla="*/ 3421762 h 4985"/>
              <a:gd name="T8" fmla="*/ 0 w 4986"/>
              <a:gd name="T9" fmla="*/ 1711568 h 4985"/>
              <a:gd name="T10" fmla="*/ 0 w 4986"/>
              <a:gd name="T11" fmla="*/ 1711568 h 4985"/>
              <a:gd name="T12" fmla="*/ 1712739 w 4986"/>
              <a:gd name="T13" fmla="*/ 0 h 4985"/>
              <a:gd name="T14" fmla="*/ 1712739 w 4986"/>
              <a:gd name="T15" fmla="*/ 0 h 4985"/>
              <a:gd name="T16" fmla="*/ 3424791 w 4986"/>
              <a:gd name="T17" fmla="*/ 1711568 h 498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986" h="4985">
                <a:moveTo>
                  <a:pt x="4985" y="2493"/>
                </a:moveTo>
                <a:lnTo>
                  <a:pt x="4985" y="2493"/>
                </a:lnTo>
                <a:cubicBezTo>
                  <a:pt x="4985" y="3868"/>
                  <a:pt x="3869" y="4984"/>
                  <a:pt x="2493" y="4984"/>
                </a:cubicBezTo>
                <a:cubicBezTo>
                  <a:pt x="1117" y="4984"/>
                  <a:pt x="0" y="3868"/>
                  <a:pt x="0" y="2493"/>
                </a:cubicBezTo>
                <a:cubicBezTo>
                  <a:pt x="0" y="1116"/>
                  <a:pt x="1117" y="0"/>
                  <a:pt x="2493" y="0"/>
                </a:cubicBezTo>
                <a:cubicBezTo>
                  <a:pt x="3869" y="0"/>
                  <a:pt x="4985" y="1116"/>
                  <a:pt x="4985" y="2493"/>
                </a:cubicBezTo>
              </a:path>
            </a:pathLst>
          </a:custGeom>
          <a:noFill/>
          <a:ln w="9525">
            <a:solidFill>
              <a:srgbClr val="029AC6"/>
            </a:solidFill>
          </a:ln>
        </p:spPr>
        <p:txBody>
          <a:bodyPr wrap="none" anchor="ctr"/>
          <a:lstStyle/>
          <a:p>
            <a:endParaRPr lang="en-US" sz="2863">
              <a:solidFill>
                <a:prstClr val="black"/>
              </a:solidFill>
            </a:endParaRPr>
          </a:p>
        </p:txBody>
      </p:sp>
      <p:pic>
        <p:nvPicPr>
          <p:cNvPr id="12" name="Grafik 35">
            <a:extLst>
              <a:ext uri="{FF2B5EF4-FFF2-40B4-BE49-F238E27FC236}">
                <a16:creationId xmlns:a16="http://schemas.microsoft.com/office/drawing/2014/main" id="{E47FAB47-5217-CB59-1271-12CED65444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3307" y="2369207"/>
            <a:ext cx="888446" cy="888446"/>
          </a:xfrm>
          <a:prstGeom prst="rect">
            <a:avLst/>
          </a:prstGeom>
        </p:spPr>
      </p:pic>
      <p:pic>
        <p:nvPicPr>
          <p:cNvPr id="13" name="Grafik 36">
            <a:extLst>
              <a:ext uri="{FF2B5EF4-FFF2-40B4-BE49-F238E27FC236}">
                <a16:creationId xmlns:a16="http://schemas.microsoft.com/office/drawing/2014/main" id="{B7D2297F-BFD6-7738-469E-AA6E4F515B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76939" y="2369207"/>
            <a:ext cx="888446" cy="888446"/>
          </a:xfrm>
          <a:prstGeom prst="rect">
            <a:avLst/>
          </a:prstGeom>
        </p:spPr>
      </p:pic>
      <p:sp>
        <p:nvSpPr>
          <p:cNvPr id="17" name="Rechteck 13">
            <a:extLst>
              <a:ext uri="{FF2B5EF4-FFF2-40B4-BE49-F238E27FC236}">
                <a16:creationId xmlns:a16="http://schemas.microsoft.com/office/drawing/2014/main" id="{3BC0F992-CB18-7C26-940D-52F36A8DB856}"/>
              </a:ext>
            </a:extLst>
          </p:cNvPr>
          <p:cNvSpPr>
            <a:spLocks/>
          </p:cNvSpPr>
          <p:nvPr/>
        </p:nvSpPr>
        <p:spPr>
          <a:xfrm>
            <a:off x="0" y="5204146"/>
            <a:ext cx="12192000" cy="10147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CB31BB51-0621-8D46-01F3-A7660106D9D3}"/>
              </a:ext>
            </a:extLst>
          </p:cNvPr>
          <p:cNvSpPr txBox="1">
            <a:spLocks/>
          </p:cNvSpPr>
          <p:nvPr/>
        </p:nvSpPr>
        <p:spPr bwMode="gray">
          <a:xfrm>
            <a:off x="159796" y="5253842"/>
            <a:ext cx="11872409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i="1" kern="1200">
                <a:solidFill>
                  <a:schemeClr val="bg1"/>
                </a:solidFill>
                <a:latin typeface="Montserrat ExtraBold" panose="00000900000000000000" pitchFamily="2" charset="0"/>
                <a:ea typeface="+mj-ea"/>
                <a:cs typeface="+mj-cs"/>
                <a:sym typeface="Futura"/>
              </a:defRPr>
            </a:lvl1pPr>
          </a:lstStyle>
          <a:p>
            <a:pPr lvl="0" algn="ctr">
              <a:defRPr/>
            </a:pP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To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what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extent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can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accounting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information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available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at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fiscal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year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err="1">
                <a:solidFill>
                  <a:schemeClr val="accent1"/>
                </a:solidFill>
                <a:latin typeface="+mn-lt"/>
                <a:cs typeface="+mn-cs"/>
              </a:rPr>
              <a:t>t</a:t>
            </a:r>
            <a:r>
              <a:rPr lang="pt-BR" sz="3000" b="1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predict</a:t>
            </a:r>
            <a:r>
              <a:rPr lang="en-GB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which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firms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will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transition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from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err="1">
                <a:solidFill>
                  <a:schemeClr val="accent1"/>
                </a:solidFill>
                <a:latin typeface="+mn-lt"/>
                <a:cs typeface="+mn-cs"/>
              </a:rPr>
              <a:t>healthy</a:t>
            </a:r>
            <a:r>
              <a:rPr lang="pt-BR" sz="3000" b="1" baseline="-25000" err="1">
                <a:solidFill>
                  <a:schemeClr val="accent1"/>
                </a:solidFill>
                <a:latin typeface="+mn-lt"/>
                <a:cs typeface="+mn-cs"/>
              </a:rPr>
              <a:t>t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 i="0" err="1">
                <a:solidFill>
                  <a:schemeClr val="accent1"/>
                </a:solidFill>
                <a:latin typeface="+mn-lt"/>
                <a:cs typeface="+mn-cs"/>
              </a:rPr>
              <a:t>to</a:t>
            </a:r>
            <a:r>
              <a:rPr lang="pt-BR" sz="3000" b="1" i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r>
              <a:rPr lang="pt-BR" sz="3000" b="1">
                <a:solidFill>
                  <a:schemeClr val="accent1"/>
                </a:solidFill>
                <a:latin typeface="+mn-lt"/>
                <a:cs typeface="+mn-cs"/>
              </a:rPr>
              <a:t>distressed</a:t>
            </a:r>
            <a:r>
              <a:rPr lang="pt-BR" sz="3000" b="1" baseline="-25000">
                <a:solidFill>
                  <a:schemeClr val="accent1"/>
                </a:solidFill>
                <a:latin typeface="+mn-lt"/>
                <a:cs typeface="+mn-cs"/>
              </a:rPr>
              <a:t>t+1</a:t>
            </a:r>
            <a:endParaRPr kumimoji="0" lang="pt-BR" sz="3000" b="1" u="none" strike="noStrike" kern="1200" cap="none" spc="0" normalizeH="0" baseline="-2500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j-ea"/>
              <a:cs typeface="+mn-cs"/>
              <a:sym typeface="Futura"/>
            </a:endParaRPr>
          </a:p>
        </p:txBody>
      </p:sp>
      <p:pic>
        <p:nvPicPr>
          <p:cNvPr id="19" name="Grafik 18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6CEBA969-F1A3-53F2-EDD6-CD92E723E5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9" name="Isosceles Triangle 1">
            <a:extLst>
              <a:ext uri="{FF2B5EF4-FFF2-40B4-BE49-F238E27FC236}">
                <a16:creationId xmlns:a16="http://schemas.microsoft.com/office/drawing/2014/main" id="{1C335916-F87A-4373-7782-7C54F5AC4CCA}"/>
              </a:ext>
            </a:extLst>
          </p:cNvPr>
          <p:cNvSpPr/>
          <p:nvPr/>
        </p:nvSpPr>
        <p:spPr>
          <a:xfrm flipV="1">
            <a:off x="5348188" y="4682354"/>
            <a:ext cx="1495623" cy="390106"/>
          </a:xfrm>
          <a:prstGeom prst="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435"/>
          </a:p>
        </p:txBody>
      </p:sp>
    </p:spTree>
    <p:extLst>
      <p:ext uri="{BB962C8B-B14F-4D97-AF65-F5344CB8AC3E}">
        <p14:creationId xmlns:p14="http://schemas.microsoft.com/office/powerpoint/2010/main" val="255004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FC86BA4-5229-0373-56E5-A86FF7AD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EEE265F-D422-E742-AAE5-74B248DEEA2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EE265F-D422-E742-AAE5-74B248DEEA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AEB21241-B889-16BB-D9D6-DC0AC532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Workflow </a:t>
            </a:r>
            <a:r>
              <a:rPr lang="de-DE" err="1"/>
              <a:t>Overview</a:t>
            </a:r>
            <a:r>
              <a:rPr lang="de-DE"/>
              <a:t>: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raw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actionable</a:t>
            </a:r>
            <a:r>
              <a:rPr lang="de-DE"/>
              <a:t> </a:t>
            </a:r>
            <a:r>
              <a:rPr lang="de-DE" err="1"/>
              <a:t>early</a:t>
            </a:r>
            <a:r>
              <a:rPr lang="de-DE"/>
              <a:t> </a:t>
            </a:r>
            <a:r>
              <a:rPr lang="de-DE" err="1"/>
              <a:t>warning</a:t>
            </a:r>
            <a:r>
              <a:rPr lang="de-DE"/>
              <a:t> (1/2)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9A10F9-0465-D681-EE0D-BF4B1409F32F}"/>
              </a:ext>
            </a:extLst>
          </p:cNvPr>
          <p:cNvSpPr txBox="1">
            <a:spLocks/>
          </p:cNvSpPr>
          <p:nvPr/>
        </p:nvSpPr>
        <p:spPr>
          <a:xfrm>
            <a:off x="413289" y="4922434"/>
            <a:ext cx="3215544" cy="16773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Role of Data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Data Availability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Data Quality </a:t>
            </a:r>
          </a:p>
          <a:p>
            <a:pPr>
              <a:spcBef>
                <a:spcPts val="600"/>
              </a:spcBef>
            </a:pPr>
            <a:r>
              <a:rPr lang="en-US" sz="1400" noProof="1"/>
              <a:t>Data Readiness</a:t>
            </a:r>
          </a:p>
          <a:p>
            <a:pPr>
              <a:spcBef>
                <a:spcPts val="600"/>
              </a:spcBef>
            </a:pPr>
            <a:r>
              <a:rPr lang="en-US" sz="1400" noProof="1"/>
              <a:t>Structured historical data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noProof="1"/>
          </a:p>
        </p:txBody>
      </p:sp>
      <p:sp>
        <p:nvSpPr>
          <p:cNvPr id="25" name="Ellipse 6">
            <a:extLst>
              <a:ext uri="{FF2B5EF4-FFF2-40B4-BE49-F238E27FC236}">
                <a16:creationId xmlns:a16="http://schemas.microsoft.com/office/drawing/2014/main" id="{DD9DB2FD-BC37-D809-9B61-887ECE383D61}"/>
              </a:ext>
            </a:extLst>
          </p:cNvPr>
          <p:cNvSpPr>
            <a:spLocks/>
          </p:cNvSpPr>
          <p:nvPr/>
        </p:nvSpPr>
        <p:spPr>
          <a:xfrm>
            <a:off x="413289" y="2914960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0A02F5BF-E9BE-CDA7-5D0B-AD4E41FA02E5}"/>
              </a:ext>
            </a:extLst>
          </p:cNvPr>
          <p:cNvSpPr>
            <a:spLocks/>
          </p:cNvSpPr>
          <p:nvPr/>
        </p:nvSpPr>
        <p:spPr>
          <a:xfrm>
            <a:off x="2939814" y="2055128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Ellipse 8">
            <a:extLst>
              <a:ext uri="{FF2B5EF4-FFF2-40B4-BE49-F238E27FC236}">
                <a16:creationId xmlns:a16="http://schemas.microsoft.com/office/drawing/2014/main" id="{EF4EAB3D-E7B9-1DC9-7979-26A7B9FD31FB}"/>
              </a:ext>
            </a:extLst>
          </p:cNvPr>
          <p:cNvSpPr>
            <a:spLocks/>
          </p:cNvSpPr>
          <p:nvPr/>
        </p:nvSpPr>
        <p:spPr>
          <a:xfrm>
            <a:off x="5466340" y="2914960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8" name="Ellipse 9">
            <a:extLst>
              <a:ext uri="{FF2B5EF4-FFF2-40B4-BE49-F238E27FC236}">
                <a16:creationId xmlns:a16="http://schemas.microsoft.com/office/drawing/2014/main" id="{4D2DCDCC-B006-3DC1-7205-9551B178A4C7}"/>
              </a:ext>
            </a:extLst>
          </p:cNvPr>
          <p:cNvSpPr>
            <a:spLocks/>
          </p:cNvSpPr>
          <p:nvPr/>
        </p:nvSpPr>
        <p:spPr>
          <a:xfrm>
            <a:off x="7992864" y="2055128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Bogen 10">
            <a:extLst>
              <a:ext uri="{FF2B5EF4-FFF2-40B4-BE49-F238E27FC236}">
                <a16:creationId xmlns:a16="http://schemas.microsoft.com/office/drawing/2014/main" id="{7CC8999C-1E21-CC64-0065-6C935F5B2D58}"/>
              </a:ext>
            </a:extLst>
          </p:cNvPr>
          <p:cNvSpPr>
            <a:spLocks/>
          </p:cNvSpPr>
          <p:nvPr/>
        </p:nvSpPr>
        <p:spPr>
          <a:xfrm rot="17839092">
            <a:off x="1592809" y="2324396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Bogen 11">
            <a:extLst>
              <a:ext uri="{FF2B5EF4-FFF2-40B4-BE49-F238E27FC236}">
                <a16:creationId xmlns:a16="http://schemas.microsoft.com/office/drawing/2014/main" id="{C6E789EA-774B-8F1B-4211-5EE10ECF8132}"/>
              </a:ext>
            </a:extLst>
          </p:cNvPr>
          <p:cNvSpPr>
            <a:spLocks/>
          </p:cNvSpPr>
          <p:nvPr/>
        </p:nvSpPr>
        <p:spPr>
          <a:xfrm rot="3866140" flipV="1">
            <a:off x="4185540" y="2686091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1" name="Bogen 13">
            <a:extLst>
              <a:ext uri="{FF2B5EF4-FFF2-40B4-BE49-F238E27FC236}">
                <a16:creationId xmlns:a16="http://schemas.microsoft.com/office/drawing/2014/main" id="{EA750856-8DE9-BAB2-4B51-1DD91BD802AD}"/>
              </a:ext>
            </a:extLst>
          </p:cNvPr>
          <p:cNvSpPr>
            <a:spLocks/>
          </p:cNvSpPr>
          <p:nvPr/>
        </p:nvSpPr>
        <p:spPr>
          <a:xfrm rot="17581777">
            <a:off x="6753559" y="2269106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B0AEA37A-FA99-A163-6A94-2271ABB91C7C}"/>
              </a:ext>
            </a:extLst>
          </p:cNvPr>
          <p:cNvSpPr txBox="1">
            <a:spLocks/>
          </p:cNvSpPr>
          <p:nvPr/>
        </p:nvSpPr>
        <p:spPr>
          <a:xfrm>
            <a:off x="5466340" y="4922434"/>
            <a:ext cx="5131322" cy="16773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Exploratory Data Analysis &amp; Feature Engineering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Summary Statistics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Visual Checks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Generation of Proxies and Predictors</a:t>
            </a:r>
          </a:p>
          <a:p>
            <a:pPr>
              <a:spcBef>
                <a:spcPts val="600"/>
              </a:spcBef>
            </a:pPr>
            <a:r>
              <a:rPr lang="en-US" sz="1400" noProof="1"/>
              <a:t>Analysis by Year and Size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1" noProof="1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22AA1102-BCD2-EE9E-C37F-374D4E1DA63C}"/>
              </a:ext>
            </a:extLst>
          </p:cNvPr>
          <p:cNvSpPr txBox="1">
            <a:spLocks/>
          </p:cNvSpPr>
          <p:nvPr/>
        </p:nvSpPr>
        <p:spPr>
          <a:xfrm>
            <a:off x="7992864" y="1033081"/>
            <a:ext cx="3215544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Model Selection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1" noProof="1"/>
          </a:p>
        </p:txBody>
      </p:sp>
      <p:sp>
        <p:nvSpPr>
          <p:cNvPr id="39" name="Ellipse 26">
            <a:extLst>
              <a:ext uri="{FF2B5EF4-FFF2-40B4-BE49-F238E27FC236}">
                <a16:creationId xmlns:a16="http://schemas.microsoft.com/office/drawing/2014/main" id="{7BDADD46-E287-A2D3-B5B1-B57D088A0250}"/>
              </a:ext>
            </a:extLst>
          </p:cNvPr>
          <p:cNvSpPr>
            <a:spLocks/>
          </p:cNvSpPr>
          <p:nvPr/>
        </p:nvSpPr>
        <p:spPr>
          <a:xfrm>
            <a:off x="1454439" y="2714564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40" name="Ellipse 27">
            <a:extLst>
              <a:ext uri="{FF2B5EF4-FFF2-40B4-BE49-F238E27FC236}">
                <a16:creationId xmlns:a16="http://schemas.microsoft.com/office/drawing/2014/main" id="{398BE043-1D35-803B-4FC1-532B9ADD032C}"/>
              </a:ext>
            </a:extLst>
          </p:cNvPr>
          <p:cNvSpPr>
            <a:spLocks/>
          </p:cNvSpPr>
          <p:nvPr/>
        </p:nvSpPr>
        <p:spPr>
          <a:xfrm>
            <a:off x="4033290" y="3754067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41" name="Ellipse 29">
            <a:extLst>
              <a:ext uri="{FF2B5EF4-FFF2-40B4-BE49-F238E27FC236}">
                <a16:creationId xmlns:a16="http://schemas.microsoft.com/office/drawing/2014/main" id="{43226B13-0680-9161-6BF8-5092656DB14A}"/>
              </a:ext>
            </a:extLst>
          </p:cNvPr>
          <p:cNvSpPr>
            <a:spLocks/>
          </p:cNvSpPr>
          <p:nvPr/>
        </p:nvSpPr>
        <p:spPr>
          <a:xfrm>
            <a:off x="6594445" y="2714564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2" name="Ellipse 30">
            <a:extLst>
              <a:ext uri="{FF2B5EF4-FFF2-40B4-BE49-F238E27FC236}">
                <a16:creationId xmlns:a16="http://schemas.microsoft.com/office/drawing/2014/main" id="{41FD4F0F-057F-CE09-C94C-AE3B08A93D23}"/>
              </a:ext>
            </a:extLst>
          </p:cNvPr>
          <p:cNvSpPr>
            <a:spLocks/>
          </p:cNvSpPr>
          <p:nvPr/>
        </p:nvSpPr>
        <p:spPr>
          <a:xfrm>
            <a:off x="9137908" y="3754067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04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0692679-30E7-7C71-ECC9-8A0C64CCA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pic>
        <p:nvPicPr>
          <p:cNvPr id="8" name="Grafik 7" descr="Volltreffer Silhouette">
            <a:extLst>
              <a:ext uri="{FF2B5EF4-FFF2-40B4-BE49-F238E27FC236}">
                <a16:creationId xmlns:a16="http://schemas.microsoft.com/office/drawing/2014/main" id="{D111522F-6910-54CF-61F9-4DE0A7929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6493" y="3455113"/>
            <a:ext cx="849600" cy="849600"/>
          </a:xfrm>
          <a:prstGeom prst="rect">
            <a:avLst/>
          </a:prstGeom>
        </p:spPr>
      </p:pic>
      <p:pic>
        <p:nvPicPr>
          <p:cNvPr id="10" name="Grafik 9" descr="Statistiken Silhouette">
            <a:extLst>
              <a:ext uri="{FF2B5EF4-FFF2-40B4-BE49-F238E27FC236}">
                <a16:creationId xmlns:a16="http://schemas.microsoft.com/office/drawing/2014/main" id="{5B4115A5-4C79-1E2B-9175-A31F414167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3018" y="2595281"/>
            <a:ext cx="849600" cy="849600"/>
          </a:xfrm>
          <a:prstGeom prst="rect">
            <a:avLst/>
          </a:prstGeom>
        </p:spPr>
      </p:pic>
      <p:pic>
        <p:nvPicPr>
          <p:cNvPr id="12" name="Grafik 11" descr="Filter Silhouette">
            <a:extLst>
              <a:ext uri="{FF2B5EF4-FFF2-40B4-BE49-F238E27FC236}">
                <a16:creationId xmlns:a16="http://schemas.microsoft.com/office/drawing/2014/main" id="{61ACD3C5-B9B6-EE5F-6A82-EA74C3244D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79968" y="2595281"/>
            <a:ext cx="849600" cy="849600"/>
          </a:xfrm>
          <a:prstGeom prst="rect">
            <a:avLst/>
          </a:prstGeom>
        </p:spPr>
      </p:pic>
      <p:pic>
        <p:nvPicPr>
          <p:cNvPr id="15" name="Grafik 14" descr="Datenbank Silhouette">
            <a:extLst>
              <a:ext uri="{FF2B5EF4-FFF2-40B4-BE49-F238E27FC236}">
                <a16:creationId xmlns:a16="http://schemas.microsoft.com/office/drawing/2014/main" id="{C861BF0D-BFB8-D904-8FFD-C37997D299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3443" y="3455114"/>
            <a:ext cx="849600" cy="849600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F6A6A9-293B-EB83-08C1-7D00EDEB56E2}"/>
              </a:ext>
            </a:extLst>
          </p:cNvPr>
          <p:cNvSpPr txBox="1">
            <a:spLocks/>
          </p:cNvSpPr>
          <p:nvPr/>
        </p:nvSpPr>
        <p:spPr>
          <a:xfrm>
            <a:off x="2939813" y="915851"/>
            <a:ext cx="3916279" cy="1092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Data Cleaning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Clean the panel without using any future information.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 noProof="1"/>
              <a:t>Deduplicate, winsorize, impute and standardize 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 i="1" noProof="1"/>
              <a:t>Fit on train only</a:t>
            </a:r>
          </a:p>
        </p:txBody>
      </p:sp>
      <p:sp>
        <p:nvSpPr>
          <p:cNvPr id="9" name="Bogen 11">
            <a:extLst>
              <a:ext uri="{FF2B5EF4-FFF2-40B4-BE49-F238E27FC236}">
                <a16:creationId xmlns:a16="http://schemas.microsoft.com/office/drawing/2014/main" id="{A3B7760F-B07F-DC10-AE8B-8C1373AFD8B1}"/>
              </a:ext>
            </a:extLst>
          </p:cNvPr>
          <p:cNvSpPr>
            <a:spLocks/>
          </p:cNvSpPr>
          <p:nvPr/>
        </p:nvSpPr>
        <p:spPr>
          <a:xfrm rot="620485" flipV="1">
            <a:off x="9147862" y="1890709"/>
            <a:ext cx="3298514" cy="2971887"/>
          </a:xfrm>
          <a:prstGeom prst="arc">
            <a:avLst>
              <a:gd name="adj1" fmla="val 13053172"/>
              <a:gd name="adj2" fmla="val 0"/>
            </a:avLst>
          </a:prstGeom>
          <a:noFill/>
          <a:ln w="38100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36F6286B-C8E5-4E28-DE8D-3BCC8017D4DE}"/>
              </a:ext>
            </a:extLst>
          </p:cNvPr>
          <p:cNvSpPr txBox="1">
            <a:spLocks/>
          </p:cNvSpPr>
          <p:nvPr/>
        </p:nvSpPr>
        <p:spPr>
          <a:xfrm>
            <a:off x="7992864" y="1033081"/>
            <a:ext cx="4199136" cy="1600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Model Selection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Ridge Regularized Logistic Regression (Baseline, and extensions)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XGBoost gbtree (considering imbalance)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noProof="1"/>
          </a:p>
          <a:p>
            <a:pPr marL="0" indent="0">
              <a:spcBef>
                <a:spcPts val="600"/>
              </a:spcBef>
              <a:buNone/>
            </a:pPr>
            <a:endParaRPr lang="en-US" sz="1400" noProof="1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83B57CE-D68B-FA56-424A-45E95659EA3F}"/>
              </a:ext>
            </a:extLst>
          </p:cNvPr>
          <p:cNvSpPr txBox="1"/>
          <p:nvPr/>
        </p:nvSpPr>
        <p:spPr>
          <a:xfrm>
            <a:off x="11063586" y="5134522"/>
            <a:ext cx="62694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noProof="1">
                <a:solidFill>
                  <a:srgbClr val="029AC6"/>
                </a:solidFill>
              </a:rPr>
              <a:t>…</a:t>
            </a:r>
            <a:endParaRPr lang="de-DE" sz="6600">
              <a:solidFill>
                <a:srgbClr val="029A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227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36793E9-7B1D-6FD4-5379-D7DD91E1186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63519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538" imgH="540" progId="TCLayout.ActiveDocument.1">
                  <p:embed/>
                </p:oleObj>
              </mc:Choice>
              <mc:Fallback>
                <p:oleObj name="think-cell Folie" r:id="rId5" imgW="538" imgH="54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6793E9-7B1D-6FD4-5379-D7DD91E118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Gerade Verbindung 22">
            <a:extLst>
              <a:ext uri="{FF2B5EF4-FFF2-40B4-BE49-F238E27FC236}">
                <a16:creationId xmlns:a16="http://schemas.microsoft.com/office/drawing/2014/main" id="{6FCA5EDE-F80A-296A-D667-60B51EE88584}"/>
              </a:ext>
            </a:extLst>
          </p:cNvPr>
          <p:cNvCxnSpPr>
            <a:cxnSpLocks/>
          </p:cNvCxnSpPr>
          <p:nvPr/>
        </p:nvCxnSpPr>
        <p:spPr bwMode="gray">
          <a:xfrm>
            <a:off x="409277" y="3676227"/>
            <a:ext cx="363884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platzhalter 13">
            <a:extLst>
              <a:ext uri="{FF2B5EF4-FFF2-40B4-BE49-F238E27FC236}">
                <a16:creationId xmlns:a16="http://schemas.microsoft.com/office/drawing/2014/main" id="{BB32161D-87D1-97AC-0056-F61AFBC58748}"/>
              </a:ext>
            </a:extLst>
          </p:cNvPr>
          <p:cNvSpPr txBox="1">
            <a:spLocks/>
          </p:cNvSpPr>
          <p:nvPr/>
        </p:nvSpPr>
        <p:spPr bwMode="gray">
          <a:xfrm>
            <a:off x="407987" y="3284615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sz="1800" b="1" cap="none">
                <a:solidFill>
                  <a:srgbClr val="029AC6"/>
                </a:solidFill>
              </a:rPr>
              <a:t>Cash Flow Quality</a:t>
            </a:r>
          </a:p>
        </p:txBody>
      </p:sp>
      <p:sp>
        <p:nvSpPr>
          <p:cNvPr id="71" name="Rechteck 153">
            <a:extLst>
              <a:ext uri="{FF2B5EF4-FFF2-40B4-BE49-F238E27FC236}">
                <a16:creationId xmlns:a16="http://schemas.microsoft.com/office/drawing/2014/main" id="{CC58CE57-2943-33C8-1C05-029F79B21F88}"/>
              </a:ext>
            </a:extLst>
          </p:cNvPr>
          <p:cNvSpPr>
            <a:spLocks/>
          </p:cNvSpPr>
          <p:nvPr/>
        </p:nvSpPr>
        <p:spPr>
          <a:xfrm flipH="1">
            <a:off x="407987" y="3718137"/>
            <a:ext cx="3135541" cy="108969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Cash generation 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Examples: Free Cash Flow /Debt, Operating Cash Flow /Debt</a:t>
            </a:r>
          </a:p>
          <a:p>
            <a:pPr>
              <a:spcAft>
                <a:spcPts val="600"/>
              </a:spcAft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Beaver (1966</a:t>
            </a:r>
            <a:r>
              <a:rPr lang="en-US" sz="1200" i="1">
                <a:solidFill>
                  <a:prstClr val="white">
                    <a:lumMod val="50000"/>
                  </a:prstClr>
                </a:solidFill>
              </a:rPr>
              <a:t>), Beaver et al. (2005)</a:t>
            </a:r>
            <a:endParaRPr lang="en-US" sz="1400" i="1">
              <a:solidFill>
                <a:schemeClr val="tx1"/>
              </a:solidFill>
            </a:endParaRPr>
          </a:p>
        </p:txBody>
      </p:sp>
      <p:cxnSp>
        <p:nvCxnSpPr>
          <p:cNvPr id="78" name="Gerade Verbindung 22">
            <a:extLst>
              <a:ext uri="{FF2B5EF4-FFF2-40B4-BE49-F238E27FC236}">
                <a16:creationId xmlns:a16="http://schemas.microsoft.com/office/drawing/2014/main" id="{5CB0ADAD-B51B-D764-771F-6903DDC3A4D3}"/>
              </a:ext>
            </a:extLst>
          </p:cNvPr>
          <p:cNvCxnSpPr>
            <a:cxnSpLocks/>
          </p:cNvCxnSpPr>
          <p:nvPr/>
        </p:nvCxnSpPr>
        <p:spPr bwMode="gray">
          <a:xfrm flipH="1">
            <a:off x="8180386" y="3676227"/>
            <a:ext cx="363884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platzhalter 13">
            <a:extLst>
              <a:ext uri="{FF2B5EF4-FFF2-40B4-BE49-F238E27FC236}">
                <a16:creationId xmlns:a16="http://schemas.microsoft.com/office/drawing/2014/main" id="{59386B26-AE3F-E7D7-9B55-30C46E473D53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3284615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b="1" cap="none">
                <a:solidFill>
                  <a:srgbClr val="029AC6"/>
                </a:solidFill>
              </a:rPr>
              <a:t>Liquidity &amp; Working Capital</a:t>
            </a:r>
          </a:p>
        </p:txBody>
      </p:sp>
      <p:sp>
        <p:nvSpPr>
          <p:cNvPr id="80" name="Rechteck 153">
            <a:extLst>
              <a:ext uri="{FF2B5EF4-FFF2-40B4-BE49-F238E27FC236}">
                <a16:creationId xmlns:a16="http://schemas.microsoft.com/office/drawing/2014/main" id="{EC61E2DE-B895-843A-BC24-CB532C1041B6}"/>
              </a:ext>
            </a:extLst>
          </p:cNvPr>
          <p:cNvSpPr>
            <a:spLocks/>
          </p:cNvSpPr>
          <p:nvPr/>
        </p:nvSpPr>
        <p:spPr>
          <a:xfrm>
            <a:off x="8683581" y="3718137"/>
            <a:ext cx="3136943" cy="11204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Short-term solvency and liquidity cushions.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Examples: Cash / Assets, Net Working Capital  / assets</a:t>
            </a:r>
          </a:p>
          <a:p>
            <a:pPr algn="r">
              <a:spcAft>
                <a:spcPts val="600"/>
              </a:spcAft>
              <a:defRPr/>
            </a:pPr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Beaver (1966), Altman (1968)</a:t>
            </a:r>
          </a:p>
        </p:txBody>
      </p:sp>
      <p:cxnSp>
        <p:nvCxnSpPr>
          <p:cNvPr id="59" name="Gerade Verbindung 22">
            <a:extLst>
              <a:ext uri="{FF2B5EF4-FFF2-40B4-BE49-F238E27FC236}">
                <a16:creationId xmlns:a16="http://schemas.microsoft.com/office/drawing/2014/main" id="{2DEC4FE8-185B-F190-C66D-DB70A2E33A2F}"/>
              </a:ext>
            </a:extLst>
          </p:cNvPr>
          <p:cNvCxnSpPr>
            <a:cxnSpLocks/>
          </p:cNvCxnSpPr>
          <p:nvPr/>
        </p:nvCxnSpPr>
        <p:spPr bwMode="gray">
          <a:xfrm flipH="1">
            <a:off x="6878474" y="5403504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platzhalter 13">
            <a:extLst>
              <a:ext uri="{FF2B5EF4-FFF2-40B4-BE49-F238E27FC236}">
                <a16:creationId xmlns:a16="http://schemas.microsoft.com/office/drawing/2014/main" id="{68E01678-C0CB-880F-E519-DF63F890E464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5011892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b="1" cap="none">
                <a:solidFill>
                  <a:srgbClr val="029AC6"/>
                </a:solidFill>
              </a:rPr>
              <a:t>Leverage &amp; Solvency</a:t>
            </a:r>
          </a:p>
        </p:txBody>
      </p:sp>
      <p:sp>
        <p:nvSpPr>
          <p:cNvPr id="61" name="Rechteck 153">
            <a:extLst>
              <a:ext uri="{FF2B5EF4-FFF2-40B4-BE49-F238E27FC236}">
                <a16:creationId xmlns:a16="http://schemas.microsoft.com/office/drawing/2014/main" id="{0EB1FDF2-3A77-605C-1612-B9D335700620}"/>
              </a:ext>
            </a:extLst>
          </p:cNvPr>
          <p:cNvSpPr>
            <a:spLocks/>
          </p:cNvSpPr>
          <p:nvPr/>
        </p:nvSpPr>
        <p:spPr>
          <a:xfrm>
            <a:off x="8684983" y="5445414"/>
            <a:ext cx="3135541" cy="11666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Debt burden and balance-sheet fragility.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Examples: Total Liabilities/Assets,</a:t>
            </a:r>
          </a:p>
          <a:p>
            <a:pPr lvl="0" algn="r">
              <a:spcAft>
                <a:spcPts val="600"/>
              </a:spcAft>
              <a:defRPr/>
            </a:pPr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Ohlson (1980)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Altman (1968)</a:t>
            </a:r>
          </a:p>
          <a:p>
            <a:pPr algn="r">
              <a:spcAft>
                <a:spcPts val="600"/>
              </a:spcAft>
              <a:defRPr/>
            </a:pPr>
            <a:endParaRPr lang="en-US" sz="1400" i="1">
              <a:solidFill>
                <a:schemeClr val="tx1"/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5DFCB21-4FB1-D05A-0309-0658400042E2}"/>
              </a:ext>
            </a:extLst>
          </p:cNvPr>
          <p:cNvGrpSpPr/>
          <p:nvPr/>
        </p:nvGrpSpPr>
        <p:grpSpPr>
          <a:xfrm>
            <a:off x="407986" y="5011892"/>
            <a:ext cx="4942051" cy="1600165"/>
            <a:chOff x="407986" y="5011892"/>
            <a:chExt cx="4942051" cy="1600165"/>
          </a:xfrm>
        </p:grpSpPr>
        <p:cxnSp>
          <p:nvCxnSpPr>
            <p:cNvPr id="63" name="Gerade Verbindung 22">
              <a:extLst>
                <a:ext uri="{FF2B5EF4-FFF2-40B4-BE49-F238E27FC236}">
                  <a16:creationId xmlns:a16="http://schemas.microsoft.com/office/drawing/2014/main" id="{328FD6A2-D06A-3E35-9610-20CFC7CBFA7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09277" y="5403504"/>
              <a:ext cx="4940760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platzhalter 13">
              <a:extLst>
                <a:ext uri="{FF2B5EF4-FFF2-40B4-BE49-F238E27FC236}">
                  <a16:creationId xmlns:a16="http://schemas.microsoft.com/office/drawing/2014/main" id="{1F575F0A-20FB-6C3A-45A7-86C3C6FFD58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07987" y="5011892"/>
              <a:ext cx="3135541" cy="349702"/>
            </a:xfrm>
            <a:prstGeom prst="rect">
              <a:avLst/>
            </a:prstGeom>
          </p:spPr>
          <p:txBody>
            <a:bodyPr vert="horz" wrap="square" lIns="0" tIns="0" rIns="0" bIns="72000" rtlCol="0" anchor="b">
              <a:spAutoFit/>
            </a:bodyPr>
            <a:lstStyle>
              <a:defPPr>
                <a:defRPr lang="de-DE"/>
              </a:defPPr>
              <a:lvl1pPr marL="0" indent="0">
                <a:lnSpc>
                  <a:spcPct val="100000"/>
                </a:lnSpc>
                <a:spcBef>
                  <a:spcPts val="400"/>
                </a:spcBef>
                <a:buFont typeface="Arial" pitchFamily="34" charset="0"/>
                <a:buNone/>
                <a:defRPr sz="1300" cap="all">
                  <a:solidFill>
                    <a:schemeClr val="tx2"/>
                  </a:solidFill>
                  <a:latin typeface="+mn-lt"/>
                  <a:ea typeface="Verdana" pitchFamily="34" charset="0"/>
                  <a:cs typeface="Verdana" pitchFamily="34" charset="0"/>
                </a:defRPr>
              </a:lvl1pPr>
              <a:lvl2pPr marL="180975" indent="-180975">
                <a:lnSpc>
                  <a:spcPct val="95000"/>
                </a:lnSpc>
                <a:spcBef>
                  <a:spcPts val="400"/>
                </a:spcBef>
                <a:buFont typeface="Wingdings" pitchFamily="2" charset="2"/>
                <a:buChar char="§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2pPr>
              <a:lvl3pPr marL="361950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3pPr>
              <a:lvl4pPr marL="534988" indent="-173038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4pPr>
              <a:lvl5pPr marL="715963" indent="-180975">
                <a:lnSpc>
                  <a:spcPct val="95000"/>
                </a:lnSpc>
                <a:spcBef>
                  <a:spcPts val="400"/>
                </a:spcBef>
                <a:buFont typeface="Arial" pitchFamily="34" charset="0"/>
                <a:buChar char="̵"/>
                <a:defRPr sz="1300">
                  <a:latin typeface="+mn-lt"/>
                  <a:ea typeface="Verdana" pitchFamily="34" charset="0"/>
                  <a:cs typeface="Verdana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>
                  <a:latin typeface="+mn-lt"/>
                </a:defRPr>
              </a:lvl9pPr>
            </a:lstStyle>
            <a:p>
              <a:r>
                <a:rPr lang="en-US" sz="1800" b="1" cap="none">
                  <a:solidFill>
                    <a:srgbClr val="029AC6"/>
                  </a:solidFill>
                </a:rPr>
                <a:t>Profitability</a:t>
              </a:r>
            </a:p>
          </p:txBody>
        </p:sp>
        <p:sp>
          <p:nvSpPr>
            <p:cNvPr id="65" name="Rechteck 153">
              <a:extLst>
                <a:ext uri="{FF2B5EF4-FFF2-40B4-BE49-F238E27FC236}">
                  <a16:creationId xmlns:a16="http://schemas.microsoft.com/office/drawing/2014/main" id="{6F5DC4E0-0CB1-0D0D-24A7-51478B4F99EA}"/>
                </a:ext>
              </a:extLst>
            </p:cNvPr>
            <p:cNvSpPr>
              <a:spLocks/>
            </p:cNvSpPr>
            <p:nvPr/>
          </p:nvSpPr>
          <p:spPr>
            <a:xfrm flipH="1">
              <a:off x="407986" y="5445414"/>
              <a:ext cx="3968941" cy="11666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en-US" sz="1400">
                  <a:solidFill>
                    <a:schemeClr val="tx1"/>
                  </a:solidFill>
                </a:rPr>
                <a:t>Ability to generate profits </a:t>
              </a:r>
              <a:br>
                <a:rPr lang="en-US" sz="1400">
                  <a:solidFill>
                    <a:schemeClr val="tx1"/>
                  </a:solidFill>
                </a:rPr>
              </a:br>
              <a:r>
                <a:rPr lang="en-US" sz="1400" i="1">
                  <a:solidFill>
                    <a:schemeClr val="tx1"/>
                  </a:solidFill>
                </a:rPr>
                <a:t>Examples: ROA, retained earnings/assets</a:t>
              </a:r>
            </a:p>
            <a:p>
              <a:pPr>
                <a:spcAft>
                  <a:spcPts val="600"/>
                </a:spcAft>
                <a:defRPr/>
              </a:pPr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Ohlson (1980), Campbell et al. (2008)</a:t>
              </a:r>
            </a:p>
            <a:p>
              <a:pPr>
                <a:spcAft>
                  <a:spcPts val="600"/>
                </a:spcAft>
                <a:defRPr/>
              </a:pPr>
              <a:endParaRPr lang="en-US" sz="1400" i="1">
                <a:solidFill>
                  <a:schemeClr val="tx1"/>
                </a:solidFill>
              </a:endParaRPr>
            </a:p>
          </p:txBody>
        </p:sp>
      </p:grpSp>
      <p:cxnSp>
        <p:nvCxnSpPr>
          <p:cNvPr id="55" name="Gerade Verbindung 22">
            <a:extLst>
              <a:ext uri="{FF2B5EF4-FFF2-40B4-BE49-F238E27FC236}">
                <a16:creationId xmlns:a16="http://schemas.microsoft.com/office/drawing/2014/main" id="{586C1FF7-FD07-72FF-52ED-5E46A68DC6A6}"/>
              </a:ext>
            </a:extLst>
          </p:cNvPr>
          <p:cNvCxnSpPr>
            <a:cxnSpLocks/>
          </p:cNvCxnSpPr>
          <p:nvPr/>
        </p:nvCxnSpPr>
        <p:spPr bwMode="gray">
          <a:xfrm flipH="1">
            <a:off x="6878474" y="1948950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platzhalter 13">
            <a:extLst>
              <a:ext uri="{FF2B5EF4-FFF2-40B4-BE49-F238E27FC236}">
                <a16:creationId xmlns:a16="http://schemas.microsoft.com/office/drawing/2014/main" id="{8176DC21-380D-CE58-6D3D-6A544A29BA2D}"/>
              </a:ext>
            </a:extLst>
          </p:cNvPr>
          <p:cNvSpPr txBox="1">
            <a:spLocks/>
          </p:cNvSpPr>
          <p:nvPr/>
        </p:nvSpPr>
        <p:spPr bwMode="gray">
          <a:xfrm flipH="1">
            <a:off x="8684983" y="1557338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algn="r"/>
            <a:r>
              <a:rPr lang="en-US" sz="1800" b="1" cap="none">
                <a:solidFill>
                  <a:srgbClr val="029AC6"/>
                </a:solidFill>
              </a:rPr>
              <a:t>Size &amp; scale</a:t>
            </a:r>
          </a:p>
        </p:txBody>
      </p:sp>
      <p:sp>
        <p:nvSpPr>
          <p:cNvPr id="57" name="Rechteck 153">
            <a:extLst>
              <a:ext uri="{FF2B5EF4-FFF2-40B4-BE49-F238E27FC236}">
                <a16:creationId xmlns:a16="http://schemas.microsoft.com/office/drawing/2014/main" id="{77B0AD7B-F313-F4A7-5719-C5C9CA8615F9}"/>
              </a:ext>
            </a:extLst>
          </p:cNvPr>
          <p:cNvSpPr>
            <a:spLocks/>
          </p:cNvSpPr>
          <p:nvPr/>
        </p:nvSpPr>
        <p:spPr>
          <a:xfrm>
            <a:off x="8684983" y="1990860"/>
            <a:ext cx="3135541" cy="11204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Larger firms tend to have more capital options.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Examples: Assets </a:t>
            </a:r>
          </a:p>
          <a:p>
            <a:pPr algn="r">
              <a:spcAft>
                <a:spcPts val="600"/>
              </a:spcAft>
              <a:defRPr/>
            </a:pPr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Ohlson (1980), Campbell et al. (2008)</a:t>
            </a:r>
          </a:p>
        </p:txBody>
      </p:sp>
      <p:cxnSp>
        <p:nvCxnSpPr>
          <p:cNvPr id="49" name="Gerade Verbindung 22">
            <a:extLst>
              <a:ext uri="{FF2B5EF4-FFF2-40B4-BE49-F238E27FC236}">
                <a16:creationId xmlns:a16="http://schemas.microsoft.com/office/drawing/2014/main" id="{80E62D8E-CB17-DF46-CB85-78894169005B}"/>
              </a:ext>
            </a:extLst>
          </p:cNvPr>
          <p:cNvCxnSpPr>
            <a:cxnSpLocks/>
          </p:cNvCxnSpPr>
          <p:nvPr/>
        </p:nvCxnSpPr>
        <p:spPr bwMode="gray">
          <a:xfrm>
            <a:off x="409277" y="1948950"/>
            <a:ext cx="494076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platzhalter 13">
            <a:extLst>
              <a:ext uri="{FF2B5EF4-FFF2-40B4-BE49-F238E27FC236}">
                <a16:creationId xmlns:a16="http://schemas.microsoft.com/office/drawing/2014/main" id="{4F594E02-9E7C-21F4-9683-CAA1AD6F4311}"/>
              </a:ext>
            </a:extLst>
          </p:cNvPr>
          <p:cNvSpPr txBox="1">
            <a:spLocks/>
          </p:cNvSpPr>
          <p:nvPr/>
        </p:nvSpPr>
        <p:spPr bwMode="gray">
          <a:xfrm>
            <a:off x="407987" y="1557338"/>
            <a:ext cx="3135541" cy="349702"/>
          </a:xfrm>
          <a:prstGeom prst="rect">
            <a:avLst/>
          </a:prstGeom>
        </p:spPr>
        <p:txBody>
          <a:bodyPr vert="horz" wrap="square" lIns="0" tIns="0" rIns="0" bIns="7200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en-US" sz="1800" b="1" cap="none">
                <a:solidFill>
                  <a:srgbClr val="029AC6"/>
                </a:solidFill>
              </a:rPr>
              <a:t>Asset Structure</a:t>
            </a:r>
          </a:p>
        </p:txBody>
      </p:sp>
      <p:sp>
        <p:nvSpPr>
          <p:cNvPr id="51" name="Rechteck 153">
            <a:extLst>
              <a:ext uri="{FF2B5EF4-FFF2-40B4-BE49-F238E27FC236}">
                <a16:creationId xmlns:a16="http://schemas.microsoft.com/office/drawing/2014/main" id="{26EAF4A9-C508-B008-1E37-0CA21D1348CC}"/>
              </a:ext>
            </a:extLst>
          </p:cNvPr>
          <p:cNvSpPr>
            <a:spLocks/>
          </p:cNvSpPr>
          <p:nvPr/>
        </p:nvSpPr>
        <p:spPr>
          <a:xfrm flipH="1">
            <a:off x="407986" y="1990860"/>
            <a:ext cx="3968939" cy="90503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08000" rIns="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400">
                <a:solidFill>
                  <a:schemeClr val="tx1"/>
                </a:solidFill>
              </a:rPr>
              <a:t>Flexibility, tangibility, and liquidation value.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Examples: PPE/Assets, intangibles/Assets</a:t>
            </a:r>
          </a:p>
          <a:p>
            <a:pPr>
              <a:spcAft>
                <a:spcPts val="600"/>
              </a:spcAft>
              <a:defRPr/>
            </a:pPr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Beaver et al. (2012), Franzen et al. (2007)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Feature </a:t>
            </a:r>
            <a:r>
              <a:rPr lang="de-DE" err="1"/>
              <a:t>Map</a:t>
            </a:r>
            <a:r>
              <a:rPr lang="de-DE"/>
              <a:t>: Accounting </a:t>
            </a:r>
            <a:r>
              <a:rPr lang="de-DE" err="1"/>
              <a:t>signals</a:t>
            </a:r>
            <a:r>
              <a:rPr lang="de-DE"/>
              <a:t> </a:t>
            </a:r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early-warning</a:t>
            </a:r>
            <a:r>
              <a:rPr lang="de-DE"/>
              <a:t> </a:t>
            </a:r>
            <a:r>
              <a:rPr lang="de-DE" err="1"/>
              <a:t>prediction</a:t>
            </a:r>
            <a:endParaRPr lang="en-US"/>
          </a:p>
        </p:txBody>
      </p:sp>
      <p:sp>
        <p:nvSpPr>
          <p:cNvPr id="41" name="Freihandform: Form 142">
            <a:extLst>
              <a:ext uri="{FF2B5EF4-FFF2-40B4-BE49-F238E27FC236}">
                <a16:creationId xmlns:a16="http://schemas.microsoft.com/office/drawing/2014/main" id="{3187D027-8521-0253-4657-DD46879B6856}"/>
              </a:ext>
            </a:extLst>
          </p:cNvPr>
          <p:cNvSpPr>
            <a:spLocks/>
          </p:cNvSpPr>
          <p:nvPr/>
        </p:nvSpPr>
        <p:spPr>
          <a:xfrm>
            <a:off x="6114336" y="4253319"/>
            <a:ext cx="1567828" cy="1804582"/>
          </a:xfrm>
          <a:custGeom>
            <a:avLst/>
            <a:gdLst>
              <a:gd name="connsiteX0" fmla="*/ 698863 w 698862"/>
              <a:gd name="connsiteY0" fmla="*/ 605199 h 806978"/>
              <a:gd name="connsiteX1" fmla="*/ 698863 w 698862"/>
              <a:gd name="connsiteY1" fmla="*/ 201710 h 806978"/>
              <a:gd name="connsiteX2" fmla="*/ 349431 w 698862"/>
              <a:gd name="connsiteY2" fmla="*/ 0 h 806978"/>
              <a:gd name="connsiteX3" fmla="*/ 0 w 698862"/>
              <a:gd name="connsiteY3" fmla="*/ 201710 h 806978"/>
              <a:gd name="connsiteX4" fmla="*/ 0 w 698862"/>
              <a:gd name="connsiteY4" fmla="*/ 605199 h 806978"/>
              <a:gd name="connsiteX5" fmla="*/ 349431 w 698862"/>
              <a:gd name="connsiteY5" fmla="*/ 806979 h 806978"/>
              <a:gd name="connsiteX6" fmla="*/ 698863 w 698862"/>
              <a:gd name="connsiteY6" fmla="*/ 60519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199"/>
                </a:moveTo>
                <a:lnTo>
                  <a:pt x="698863" y="201710"/>
                </a:lnTo>
                <a:lnTo>
                  <a:pt x="349431" y="0"/>
                </a:lnTo>
                <a:lnTo>
                  <a:pt x="0" y="201710"/>
                </a:lnTo>
                <a:lnTo>
                  <a:pt x="0" y="605199"/>
                </a:lnTo>
                <a:lnTo>
                  <a:pt x="349431" y="806979"/>
                </a:lnTo>
                <a:lnTo>
                  <a:pt x="698863" y="60519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42" name="Freihandform: Form 143">
            <a:extLst>
              <a:ext uri="{FF2B5EF4-FFF2-40B4-BE49-F238E27FC236}">
                <a16:creationId xmlns:a16="http://schemas.microsoft.com/office/drawing/2014/main" id="{6E6201C1-BD34-044E-89C3-31DA31EAFFD4}"/>
              </a:ext>
            </a:extLst>
          </p:cNvPr>
          <p:cNvSpPr>
            <a:spLocks/>
          </p:cNvSpPr>
          <p:nvPr/>
        </p:nvSpPr>
        <p:spPr>
          <a:xfrm>
            <a:off x="4546350" y="4253319"/>
            <a:ext cx="1567986" cy="1804582"/>
          </a:xfrm>
          <a:custGeom>
            <a:avLst/>
            <a:gdLst>
              <a:gd name="connsiteX0" fmla="*/ 698933 w 698932"/>
              <a:gd name="connsiteY0" fmla="*/ 605199 h 806978"/>
              <a:gd name="connsiteX1" fmla="*/ 698933 w 698932"/>
              <a:gd name="connsiteY1" fmla="*/ 201710 h 806978"/>
              <a:gd name="connsiteX2" fmla="*/ 349501 w 698932"/>
              <a:gd name="connsiteY2" fmla="*/ 0 h 806978"/>
              <a:gd name="connsiteX3" fmla="*/ 0 w 698932"/>
              <a:gd name="connsiteY3" fmla="*/ 201710 h 806978"/>
              <a:gd name="connsiteX4" fmla="*/ 0 w 698932"/>
              <a:gd name="connsiteY4" fmla="*/ 605199 h 806978"/>
              <a:gd name="connsiteX5" fmla="*/ 349501 w 698932"/>
              <a:gd name="connsiteY5" fmla="*/ 806979 h 806978"/>
              <a:gd name="connsiteX6" fmla="*/ 698933 w 698932"/>
              <a:gd name="connsiteY6" fmla="*/ 60519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6978">
                <a:moveTo>
                  <a:pt x="698933" y="605199"/>
                </a:moveTo>
                <a:lnTo>
                  <a:pt x="698933" y="201710"/>
                </a:lnTo>
                <a:lnTo>
                  <a:pt x="349501" y="0"/>
                </a:lnTo>
                <a:lnTo>
                  <a:pt x="0" y="201710"/>
                </a:lnTo>
                <a:lnTo>
                  <a:pt x="0" y="605199"/>
                </a:lnTo>
                <a:lnTo>
                  <a:pt x="349501" y="806979"/>
                </a:lnTo>
                <a:lnTo>
                  <a:pt x="698933" y="60519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43" name="Freihandform: Form 144">
            <a:extLst>
              <a:ext uri="{FF2B5EF4-FFF2-40B4-BE49-F238E27FC236}">
                <a16:creationId xmlns:a16="http://schemas.microsoft.com/office/drawing/2014/main" id="{61EC8371-E30E-20DD-B455-687D3B4D9E3D}"/>
              </a:ext>
            </a:extLst>
          </p:cNvPr>
          <p:cNvSpPr>
            <a:spLocks/>
          </p:cNvSpPr>
          <p:nvPr/>
        </p:nvSpPr>
        <p:spPr>
          <a:xfrm>
            <a:off x="6898250" y="2905408"/>
            <a:ext cx="1567828" cy="1804582"/>
          </a:xfrm>
          <a:custGeom>
            <a:avLst/>
            <a:gdLst>
              <a:gd name="connsiteX0" fmla="*/ 698863 w 698862"/>
              <a:gd name="connsiteY0" fmla="*/ 605269 h 806978"/>
              <a:gd name="connsiteX1" fmla="*/ 698863 w 698862"/>
              <a:gd name="connsiteY1" fmla="*/ 201780 h 806978"/>
              <a:gd name="connsiteX2" fmla="*/ 349432 w 698862"/>
              <a:gd name="connsiteY2" fmla="*/ 0 h 806978"/>
              <a:gd name="connsiteX3" fmla="*/ 0 w 698862"/>
              <a:gd name="connsiteY3" fmla="*/ 201780 h 806978"/>
              <a:gd name="connsiteX4" fmla="*/ 0 w 698862"/>
              <a:gd name="connsiteY4" fmla="*/ 605269 h 806978"/>
              <a:gd name="connsiteX5" fmla="*/ 349432 w 698862"/>
              <a:gd name="connsiteY5" fmla="*/ 806979 h 806978"/>
              <a:gd name="connsiteX6" fmla="*/ 698863 w 69886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269"/>
                </a:moveTo>
                <a:lnTo>
                  <a:pt x="698863" y="201780"/>
                </a:lnTo>
                <a:lnTo>
                  <a:pt x="349432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2" y="806979"/>
                </a:lnTo>
                <a:lnTo>
                  <a:pt x="69886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44" name="Freihandform: Form 146">
            <a:extLst>
              <a:ext uri="{FF2B5EF4-FFF2-40B4-BE49-F238E27FC236}">
                <a16:creationId xmlns:a16="http://schemas.microsoft.com/office/drawing/2014/main" id="{B4869B08-EE8A-9454-E4A5-F120BEB9019E}"/>
              </a:ext>
            </a:extLst>
          </p:cNvPr>
          <p:cNvSpPr>
            <a:spLocks/>
          </p:cNvSpPr>
          <p:nvPr/>
        </p:nvSpPr>
        <p:spPr>
          <a:xfrm>
            <a:off x="3762436" y="2905408"/>
            <a:ext cx="1567986" cy="1804582"/>
          </a:xfrm>
          <a:custGeom>
            <a:avLst/>
            <a:gdLst>
              <a:gd name="connsiteX0" fmla="*/ 698932 w 698932"/>
              <a:gd name="connsiteY0" fmla="*/ 605269 h 806978"/>
              <a:gd name="connsiteX1" fmla="*/ 698932 w 698932"/>
              <a:gd name="connsiteY1" fmla="*/ 201780 h 806978"/>
              <a:gd name="connsiteX2" fmla="*/ 349431 w 698932"/>
              <a:gd name="connsiteY2" fmla="*/ 0 h 806978"/>
              <a:gd name="connsiteX3" fmla="*/ 0 w 698932"/>
              <a:gd name="connsiteY3" fmla="*/ 201780 h 806978"/>
              <a:gd name="connsiteX4" fmla="*/ 0 w 698932"/>
              <a:gd name="connsiteY4" fmla="*/ 605269 h 806978"/>
              <a:gd name="connsiteX5" fmla="*/ 349431 w 698932"/>
              <a:gd name="connsiteY5" fmla="*/ 806979 h 806978"/>
              <a:gd name="connsiteX6" fmla="*/ 698932 w 69893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6978">
                <a:moveTo>
                  <a:pt x="698932" y="605269"/>
                </a:moveTo>
                <a:lnTo>
                  <a:pt x="698932" y="201780"/>
                </a:lnTo>
                <a:lnTo>
                  <a:pt x="349431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1" y="806979"/>
                </a:lnTo>
                <a:lnTo>
                  <a:pt x="698932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05</a:t>
            </a:r>
          </a:p>
        </p:txBody>
      </p:sp>
      <p:sp>
        <p:nvSpPr>
          <p:cNvPr id="45" name="Freihandform: Form 147">
            <a:extLst>
              <a:ext uri="{FF2B5EF4-FFF2-40B4-BE49-F238E27FC236}">
                <a16:creationId xmlns:a16="http://schemas.microsoft.com/office/drawing/2014/main" id="{A8AB32E4-88C7-5DD3-F157-995691028F15}"/>
              </a:ext>
            </a:extLst>
          </p:cNvPr>
          <p:cNvSpPr>
            <a:spLocks/>
          </p:cNvSpPr>
          <p:nvPr/>
        </p:nvSpPr>
        <p:spPr>
          <a:xfrm>
            <a:off x="6114332" y="1557339"/>
            <a:ext cx="1567828" cy="1804739"/>
          </a:xfrm>
          <a:custGeom>
            <a:avLst/>
            <a:gdLst>
              <a:gd name="connsiteX0" fmla="*/ 698863 w 698862"/>
              <a:gd name="connsiteY0" fmla="*/ 605269 h 807048"/>
              <a:gd name="connsiteX1" fmla="*/ 698863 w 698862"/>
              <a:gd name="connsiteY1" fmla="*/ 201779 h 807048"/>
              <a:gd name="connsiteX2" fmla="*/ 349431 w 698862"/>
              <a:gd name="connsiteY2" fmla="*/ 0 h 807048"/>
              <a:gd name="connsiteX3" fmla="*/ 0 w 698862"/>
              <a:gd name="connsiteY3" fmla="*/ 201779 h 807048"/>
              <a:gd name="connsiteX4" fmla="*/ 0 w 698862"/>
              <a:gd name="connsiteY4" fmla="*/ 605269 h 807048"/>
              <a:gd name="connsiteX5" fmla="*/ 349431 w 698862"/>
              <a:gd name="connsiteY5" fmla="*/ 807048 h 807048"/>
              <a:gd name="connsiteX6" fmla="*/ 698863 w 698862"/>
              <a:gd name="connsiteY6" fmla="*/ 605269 h 80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7048">
                <a:moveTo>
                  <a:pt x="698863" y="605269"/>
                </a:moveTo>
                <a:lnTo>
                  <a:pt x="698863" y="201779"/>
                </a:lnTo>
                <a:lnTo>
                  <a:pt x="349431" y="0"/>
                </a:lnTo>
                <a:lnTo>
                  <a:pt x="0" y="201779"/>
                </a:lnTo>
                <a:lnTo>
                  <a:pt x="0" y="605269"/>
                </a:lnTo>
                <a:lnTo>
                  <a:pt x="349431" y="807048"/>
                </a:lnTo>
                <a:lnTo>
                  <a:pt x="69886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46" name="Freihandform: Form 148">
            <a:extLst>
              <a:ext uri="{FF2B5EF4-FFF2-40B4-BE49-F238E27FC236}">
                <a16:creationId xmlns:a16="http://schemas.microsoft.com/office/drawing/2014/main" id="{71967A9D-39ED-D6B9-7623-C55E91660487}"/>
              </a:ext>
            </a:extLst>
          </p:cNvPr>
          <p:cNvSpPr>
            <a:spLocks/>
          </p:cNvSpPr>
          <p:nvPr/>
        </p:nvSpPr>
        <p:spPr>
          <a:xfrm>
            <a:off x="4546350" y="1557339"/>
            <a:ext cx="1567986" cy="1804739"/>
          </a:xfrm>
          <a:custGeom>
            <a:avLst/>
            <a:gdLst>
              <a:gd name="connsiteX0" fmla="*/ 698933 w 698932"/>
              <a:gd name="connsiteY0" fmla="*/ 605269 h 807048"/>
              <a:gd name="connsiteX1" fmla="*/ 698933 w 698932"/>
              <a:gd name="connsiteY1" fmla="*/ 201779 h 807048"/>
              <a:gd name="connsiteX2" fmla="*/ 349501 w 698932"/>
              <a:gd name="connsiteY2" fmla="*/ 0 h 807048"/>
              <a:gd name="connsiteX3" fmla="*/ 0 w 698932"/>
              <a:gd name="connsiteY3" fmla="*/ 201779 h 807048"/>
              <a:gd name="connsiteX4" fmla="*/ 0 w 698932"/>
              <a:gd name="connsiteY4" fmla="*/ 605269 h 807048"/>
              <a:gd name="connsiteX5" fmla="*/ 349501 w 698932"/>
              <a:gd name="connsiteY5" fmla="*/ 807048 h 807048"/>
              <a:gd name="connsiteX6" fmla="*/ 698933 w 698932"/>
              <a:gd name="connsiteY6" fmla="*/ 605269 h 80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32" h="807048">
                <a:moveTo>
                  <a:pt x="698933" y="605269"/>
                </a:moveTo>
                <a:lnTo>
                  <a:pt x="698933" y="201779"/>
                </a:lnTo>
                <a:lnTo>
                  <a:pt x="349501" y="0"/>
                </a:lnTo>
                <a:lnTo>
                  <a:pt x="0" y="201779"/>
                </a:lnTo>
                <a:lnTo>
                  <a:pt x="0" y="605269"/>
                </a:lnTo>
                <a:lnTo>
                  <a:pt x="349501" y="807048"/>
                </a:lnTo>
                <a:lnTo>
                  <a:pt x="698933" y="605269"/>
                </a:lnTo>
                <a:close/>
              </a:path>
            </a:pathLst>
          </a:custGeom>
          <a:solidFill>
            <a:schemeClr val="bg2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3200" b="1">
                <a:solidFill>
                  <a:schemeClr val="accent1"/>
                </a:solidFill>
              </a:rPr>
              <a:t>06</a:t>
            </a:r>
          </a:p>
        </p:txBody>
      </p:sp>
      <p:sp>
        <p:nvSpPr>
          <p:cNvPr id="47" name="Freihandform: Form 145">
            <a:extLst>
              <a:ext uri="{FF2B5EF4-FFF2-40B4-BE49-F238E27FC236}">
                <a16:creationId xmlns:a16="http://schemas.microsoft.com/office/drawing/2014/main" id="{0B09A834-F468-923D-C2EC-7B383BCD7DA4}"/>
              </a:ext>
            </a:extLst>
          </p:cNvPr>
          <p:cNvSpPr>
            <a:spLocks noChangeAspect="1"/>
          </p:cNvSpPr>
          <p:nvPr/>
        </p:nvSpPr>
        <p:spPr>
          <a:xfrm>
            <a:off x="5361603" y="2941303"/>
            <a:ext cx="1505459" cy="1732794"/>
          </a:xfrm>
          <a:custGeom>
            <a:avLst/>
            <a:gdLst>
              <a:gd name="connsiteX0" fmla="*/ 698863 w 698862"/>
              <a:gd name="connsiteY0" fmla="*/ 605269 h 806978"/>
              <a:gd name="connsiteX1" fmla="*/ 698863 w 698862"/>
              <a:gd name="connsiteY1" fmla="*/ 201780 h 806978"/>
              <a:gd name="connsiteX2" fmla="*/ 349432 w 698862"/>
              <a:gd name="connsiteY2" fmla="*/ 0 h 806978"/>
              <a:gd name="connsiteX3" fmla="*/ 0 w 698862"/>
              <a:gd name="connsiteY3" fmla="*/ 201780 h 806978"/>
              <a:gd name="connsiteX4" fmla="*/ 0 w 698862"/>
              <a:gd name="connsiteY4" fmla="*/ 605269 h 806978"/>
              <a:gd name="connsiteX5" fmla="*/ 349432 w 698862"/>
              <a:gd name="connsiteY5" fmla="*/ 806979 h 806978"/>
              <a:gd name="connsiteX6" fmla="*/ 698863 w 698862"/>
              <a:gd name="connsiteY6" fmla="*/ 605269 h 806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862" h="806978">
                <a:moveTo>
                  <a:pt x="698863" y="605269"/>
                </a:moveTo>
                <a:lnTo>
                  <a:pt x="698863" y="201780"/>
                </a:lnTo>
                <a:lnTo>
                  <a:pt x="349432" y="0"/>
                </a:lnTo>
                <a:lnTo>
                  <a:pt x="0" y="201780"/>
                </a:lnTo>
                <a:lnTo>
                  <a:pt x="0" y="605269"/>
                </a:lnTo>
                <a:lnTo>
                  <a:pt x="349432" y="806979"/>
                </a:lnTo>
                <a:lnTo>
                  <a:pt x="698863" y="605269"/>
                </a:lnTo>
                <a:close/>
              </a:path>
            </a:pathLst>
          </a:cu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979C8D0E-C1D2-79EF-A9B8-831675432F5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79998" y="3334493"/>
            <a:ext cx="1268668" cy="9464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600" b="1">
                <a:sym typeface="Futura"/>
              </a:rPr>
              <a:t>Feature set </a:t>
            </a:r>
            <a:r>
              <a:rPr lang="en-US" sz="1600">
                <a:sym typeface="Futura"/>
              </a:rPr>
              <a:t>(Accounting signals)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accent1"/>
                </a:solidFill>
                <a:sym typeface="Futura"/>
              </a:rPr>
              <a:t>at time t and t-1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7D74DB8-DF10-D1EA-26BA-495FDC117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5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56D422A7-CF01-1BA4-03AB-52F7043C552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0903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349" imgH="349" progId="TCLayout.ActiveDocument.1">
                  <p:embed/>
                </p:oleObj>
              </mc:Choice>
              <mc:Fallback>
                <p:oleObj name="think-cell Folie" r:id="rId7" imgW="349" imgH="349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422A7-CF01-1BA4-03AB-52F7043C55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Proxies for Financial Distress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6A15B2-0574-B3FF-BA8D-821584075F5A}"/>
              </a:ext>
            </a:extLst>
          </p:cNvPr>
          <p:cNvSpPr>
            <a:spLocks/>
          </p:cNvSpPr>
          <p:nvPr/>
        </p:nvSpPr>
        <p:spPr bwMode="gray">
          <a:xfrm>
            <a:off x="8266207" y="3815860"/>
            <a:ext cx="3554856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t">
            <a:spAutoFit/>
          </a:bodyPr>
          <a:lstStyle/>
          <a:p>
            <a:pPr defTabSz="979488"/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S&amp;P Highly Leveraged Definition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2EAFE85-0ABE-428C-26DE-C5F83BF7C9B0}"/>
              </a:ext>
            </a:extLst>
          </p:cNvPr>
          <p:cNvSpPr>
            <a:spLocks/>
          </p:cNvSpPr>
          <p:nvPr/>
        </p:nvSpPr>
        <p:spPr bwMode="gray">
          <a:xfrm>
            <a:off x="8266321" y="2731285"/>
            <a:ext cx="3554742" cy="615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noAutofit/>
          </a:bodyPr>
          <a:lstStyle/>
          <a:p>
            <a:pPr defTabSz="979488"/>
            <a:r>
              <a:rPr lang="en-US" altLang="en-US" sz="4000" b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3%</a:t>
            </a:r>
            <a:endParaRPr lang="en-US" sz="4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19CA479-4588-8702-9A48-5A6C68CB6C8C}"/>
              </a:ext>
            </a:extLst>
          </p:cNvPr>
          <p:cNvSpPr>
            <a:spLocks/>
          </p:cNvSpPr>
          <p:nvPr/>
        </p:nvSpPr>
        <p:spPr bwMode="gray">
          <a:xfrm>
            <a:off x="408639" y="2731285"/>
            <a:ext cx="3554742" cy="615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noAutofit/>
          </a:bodyPr>
          <a:lstStyle/>
          <a:p>
            <a:pPr defTabSz="979488"/>
            <a:r>
              <a:rPr lang="en-US" altLang="en-US" sz="4000" b="1">
                <a:solidFill>
                  <a:schemeClr val="accent3"/>
                </a:solidFill>
                <a:effectLst/>
              </a:rPr>
              <a:t>4%</a:t>
            </a:r>
            <a:endParaRPr lang="en-US" sz="4000" b="1">
              <a:solidFill>
                <a:schemeClr val="accent3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7E46D14-1376-0F52-1748-81AAC89A3BFC}"/>
              </a:ext>
            </a:extLst>
          </p:cNvPr>
          <p:cNvSpPr>
            <a:spLocks/>
          </p:cNvSpPr>
          <p:nvPr/>
        </p:nvSpPr>
        <p:spPr bwMode="gray">
          <a:xfrm>
            <a:off x="408524" y="3815860"/>
            <a:ext cx="410632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defTabSz="979488"/>
            <a:r>
              <a:rPr lang="en-US" b="1">
                <a:solidFill>
                  <a:schemeClr val="accent3"/>
                </a:solidFill>
              </a:rPr>
              <a:t>Negative Common Shareholder Equity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C6E4BF63-3177-C940-CE6A-1337287A4B21}"/>
              </a:ext>
            </a:extLst>
          </p:cNvPr>
          <p:cNvSpPr txBox="1">
            <a:spLocks/>
          </p:cNvSpPr>
          <p:nvPr/>
        </p:nvSpPr>
        <p:spPr>
          <a:xfrm>
            <a:off x="8266207" y="4198858"/>
            <a:ext cx="3554856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Composite threshold screen based on funds from operations to debt (12%), debt to capital (60%), and debt to EBITDA (5x) </a:t>
            </a:r>
          </a:p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Following Standard &amp; Poor’s (2009) Financial Risk Assessment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66168B-C1A7-B9B0-01C3-3100E2852FF4}"/>
              </a:ext>
            </a:extLst>
          </p:cNvPr>
          <p:cNvSpPr>
            <a:spLocks/>
          </p:cNvSpPr>
          <p:nvPr/>
        </p:nvSpPr>
        <p:spPr bwMode="gray">
          <a:xfrm>
            <a:off x="4337423" y="3815860"/>
            <a:ext cx="3554856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t">
            <a:spAutoFit/>
          </a:bodyPr>
          <a:lstStyle/>
          <a:p>
            <a:pPr defTabSz="979488"/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Negative OCF and adj. Net Income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4AF1528-722F-CCC3-A7A7-8216740AAAB6}"/>
              </a:ext>
            </a:extLst>
          </p:cNvPr>
          <p:cNvSpPr>
            <a:spLocks/>
          </p:cNvSpPr>
          <p:nvPr/>
        </p:nvSpPr>
        <p:spPr bwMode="gray">
          <a:xfrm>
            <a:off x="4337422" y="2731285"/>
            <a:ext cx="3554857" cy="615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defTabSz="979488"/>
            <a:r>
              <a:rPr lang="en-US" altLang="en-US" sz="4000" b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10%</a:t>
            </a:r>
            <a:endParaRPr lang="en-US" sz="40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D1E2667E-E076-0601-88A9-BDB4B3C830E8}"/>
              </a:ext>
            </a:extLst>
          </p:cNvPr>
          <p:cNvSpPr txBox="1">
            <a:spLocks/>
          </p:cNvSpPr>
          <p:nvPr/>
        </p:nvSpPr>
        <p:spPr>
          <a:xfrm>
            <a:off x="4337423" y="4198858"/>
            <a:ext cx="3554856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Insufficient internal cashflow to meet fixed obligations is the primary cause of financial distress (Denis and Denis, 1995) </a:t>
            </a:r>
          </a:p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Deteriorating Profitability signals weak business model (Beaver, 1966, pp. 85-86)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BD83B25-00E1-857C-2E7D-9A65EB963C2A}"/>
              </a:ext>
            </a:extLst>
          </p:cNvPr>
          <p:cNvSpPr txBox="1">
            <a:spLocks/>
          </p:cNvSpPr>
          <p:nvPr/>
        </p:nvSpPr>
        <p:spPr>
          <a:xfrm>
            <a:off x="408525" y="4198858"/>
            <a:ext cx="3554856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/>
              <a:t>Simple balance-sheet proxy for accounting insolvency </a:t>
            </a:r>
          </a:p>
          <a:p>
            <a:pPr marL="140400" indent="-14040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/>
              <a:t>Included in classic distress models as a core signal (Ohlson, 1980, pp. 118-120; Altman, 1968)</a:t>
            </a:r>
          </a:p>
        </p:txBody>
      </p:sp>
      <p:graphicFrame>
        <p:nvGraphicFramePr>
          <p:cNvPr id="28" name="Chart 3">
            <a:extLst>
              <a:ext uri="{FF2B5EF4-FFF2-40B4-BE49-F238E27FC236}">
                <a16:creationId xmlns:a16="http://schemas.microsoft.com/office/drawing/2014/main" id="{A4561D09-9609-2F38-1C80-BEAE275D0CA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0345827"/>
              </p:ext>
            </p:extLst>
          </p:nvPr>
        </p:nvGraphicFramePr>
        <p:xfrm>
          <a:off x="17463" y="2157413"/>
          <a:ext cx="3721100" cy="39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D009A8B5-A436-D0AD-3CB8-6E1E54EF7CE0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66623714"/>
              </p:ext>
            </p:extLst>
          </p:nvPr>
        </p:nvGraphicFramePr>
        <p:xfrm>
          <a:off x="4254500" y="2157413"/>
          <a:ext cx="3721100" cy="39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220C3B8F-6977-243B-2EF1-75AA7A689411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989626"/>
              </p:ext>
            </p:extLst>
          </p:nvPr>
        </p:nvGraphicFramePr>
        <p:xfrm>
          <a:off x="8183563" y="2157413"/>
          <a:ext cx="3719512" cy="39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25" name="Grafik 24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E90A93B9-319F-CC3A-3287-187746337D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749F0A26-88FB-813F-F276-8F91066CBE52}"/>
              </a:ext>
            </a:extLst>
          </p:cNvPr>
          <p:cNvSpPr txBox="1"/>
          <p:nvPr/>
        </p:nvSpPr>
        <p:spPr>
          <a:xfrm>
            <a:off x="63059" y="1192019"/>
            <a:ext cx="12044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noProof="1">
                <a:solidFill>
                  <a:srgbClr val="029AC6"/>
                </a:solidFill>
              </a:rPr>
              <a:t>Transition from </a:t>
            </a:r>
            <a:r>
              <a:rPr lang="pt-BR" sz="2800" b="1" noProof="1">
                <a:solidFill>
                  <a:schemeClr val="accent1"/>
                </a:solidFill>
              </a:rPr>
              <a:t>H</a:t>
            </a:r>
            <a:r>
              <a:rPr lang="pt-BR" sz="2800" b="1" err="1">
                <a:solidFill>
                  <a:schemeClr val="accent1"/>
                </a:solidFill>
              </a:rPr>
              <a:t>ealthy</a:t>
            </a:r>
            <a:r>
              <a:rPr lang="pt-BR" sz="2800" b="1" baseline="-25000" err="1">
                <a:solidFill>
                  <a:schemeClr val="accent1"/>
                </a:solidFill>
              </a:rPr>
              <a:t>t</a:t>
            </a:r>
            <a:r>
              <a:rPr lang="pt-BR" sz="2800" b="1">
                <a:solidFill>
                  <a:schemeClr val="accent1"/>
                </a:solidFill>
              </a:rPr>
              <a:t> </a:t>
            </a:r>
            <a:r>
              <a:rPr lang="pt-BR" sz="2800" b="1" err="1">
                <a:solidFill>
                  <a:schemeClr val="accent1"/>
                </a:solidFill>
              </a:rPr>
              <a:t>to</a:t>
            </a:r>
            <a:r>
              <a:rPr lang="pt-BR" sz="2800" b="1">
                <a:solidFill>
                  <a:schemeClr val="accent1"/>
                </a:solidFill>
              </a:rPr>
              <a:t> Distressed</a:t>
            </a:r>
            <a:r>
              <a:rPr lang="pt-BR" sz="2800" b="1" baseline="-25000">
                <a:solidFill>
                  <a:schemeClr val="accent1"/>
                </a:solidFill>
              </a:rPr>
              <a:t>t+1</a:t>
            </a:r>
            <a:r>
              <a:rPr lang="en-US" sz="2800" b="1" noProof="1">
                <a:solidFill>
                  <a:srgbClr val="029AC6"/>
                </a:solidFill>
              </a:rPr>
              <a:t>  </a:t>
            </a:r>
            <a:endParaRPr lang="en-US" sz="2800">
              <a:solidFill>
                <a:srgbClr val="029A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32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E13B105-EBD5-FD43-587B-88B39456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62D2B59-CED8-82B1-A3B8-3A090EE423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2D2B59-CED8-82B1-A3B8-3A090EE423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DF41644-BE4A-1275-AE6E-07CAC521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Workflow </a:t>
            </a:r>
            <a:r>
              <a:rPr lang="de-DE" err="1"/>
              <a:t>Overview</a:t>
            </a:r>
            <a:r>
              <a:rPr lang="de-DE"/>
              <a:t>: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raw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actionable</a:t>
            </a:r>
            <a:r>
              <a:rPr lang="de-DE"/>
              <a:t> </a:t>
            </a:r>
            <a:r>
              <a:rPr lang="de-DE" err="1"/>
              <a:t>early</a:t>
            </a:r>
            <a:r>
              <a:rPr lang="de-DE"/>
              <a:t> </a:t>
            </a:r>
            <a:r>
              <a:rPr lang="de-DE" err="1"/>
              <a:t>warning</a:t>
            </a:r>
            <a:r>
              <a:rPr lang="de-DE"/>
              <a:t> (2/2)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0F9BF2-FA0F-38C1-CB6F-6B87CCE296B1}"/>
              </a:ext>
            </a:extLst>
          </p:cNvPr>
          <p:cNvSpPr txBox="1">
            <a:spLocks/>
          </p:cNvSpPr>
          <p:nvPr/>
        </p:nvSpPr>
        <p:spPr>
          <a:xfrm>
            <a:off x="413289" y="4922434"/>
            <a:ext cx="3215544" cy="2262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Model Training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Chronological holdout 2023 and 2024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Walk Forward Cross Validation until 2021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Year 2022 for Calibration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Robustness analyses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noProof="1"/>
          </a:p>
          <a:p>
            <a:pPr marL="0" indent="0">
              <a:spcBef>
                <a:spcPts val="600"/>
              </a:spcBef>
              <a:buNone/>
            </a:pPr>
            <a:endParaRPr lang="en-US" sz="1400" b="1" noProof="1"/>
          </a:p>
          <a:p>
            <a:pPr marL="0" indent="0">
              <a:spcBef>
                <a:spcPts val="600"/>
              </a:spcBef>
              <a:buNone/>
            </a:pPr>
            <a:endParaRPr lang="en-US" sz="1400" noProof="1"/>
          </a:p>
        </p:txBody>
      </p:sp>
      <p:sp>
        <p:nvSpPr>
          <p:cNvPr id="25" name="Ellipse 6">
            <a:extLst>
              <a:ext uri="{FF2B5EF4-FFF2-40B4-BE49-F238E27FC236}">
                <a16:creationId xmlns:a16="http://schemas.microsoft.com/office/drawing/2014/main" id="{2EE45A52-AAB5-0B63-D6A5-73B3BB00D18C}"/>
              </a:ext>
            </a:extLst>
          </p:cNvPr>
          <p:cNvSpPr>
            <a:spLocks/>
          </p:cNvSpPr>
          <p:nvPr/>
        </p:nvSpPr>
        <p:spPr>
          <a:xfrm>
            <a:off x="413289" y="2914960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FBE2BF1-7EDD-AC41-63C4-569F52553D61}"/>
              </a:ext>
            </a:extLst>
          </p:cNvPr>
          <p:cNvSpPr>
            <a:spLocks/>
          </p:cNvSpPr>
          <p:nvPr/>
        </p:nvSpPr>
        <p:spPr>
          <a:xfrm>
            <a:off x="2939814" y="2055128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7" name="Ellipse 8">
            <a:extLst>
              <a:ext uri="{FF2B5EF4-FFF2-40B4-BE49-F238E27FC236}">
                <a16:creationId xmlns:a16="http://schemas.microsoft.com/office/drawing/2014/main" id="{087CF47A-E39A-BEAA-5C5B-30676436E9C1}"/>
              </a:ext>
            </a:extLst>
          </p:cNvPr>
          <p:cNvSpPr>
            <a:spLocks/>
          </p:cNvSpPr>
          <p:nvPr/>
        </p:nvSpPr>
        <p:spPr>
          <a:xfrm>
            <a:off x="5466340" y="2914960"/>
            <a:ext cx="1929602" cy="192960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" name="Bogen 10">
            <a:extLst>
              <a:ext uri="{FF2B5EF4-FFF2-40B4-BE49-F238E27FC236}">
                <a16:creationId xmlns:a16="http://schemas.microsoft.com/office/drawing/2014/main" id="{B8931F7D-3A8E-1EF0-B5A7-977AB99814F3}"/>
              </a:ext>
            </a:extLst>
          </p:cNvPr>
          <p:cNvSpPr>
            <a:spLocks/>
          </p:cNvSpPr>
          <p:nvPr/>
        </p:nvSpPr>
        <p:spPr>
          <a:xfrm rot="17839092">
            <a:off x="1592809" y="2324396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0" name="Bogen 11">
            <a:extLst>
              <a:ext uri="{FF2B5EF4-FFF2-40B4-BE49-F238E27FC236}">
                <a16:creationId xmlns:a16="http://schemas.microsoft.com/office/drawing/2014/main" id="{B96A6DC5-A7B8-66AA-B9CD-7E387D00DAA2}"/>
              </a:ext>
            </a:extLst>
          </p:cNvPr>
          <p:cNvSpPr>
            <a:spLocks/>
          </p:cNvSpPr>
          <p:nvPr/>
        </p:nvSpPr>
        <p:spPr>
          <a:xfrm rot="3866140" flipV="1">
            <a:off x="4185540" y="2686091"/>
            <a:ext cx="1929602" cy="1929602"/>
          </a:xfrm>
          <a:prstGeom prst="arc">
            <a:avLst/>
          </a:prstGeom>
          <a:noFill/>
          <a:ln w="38100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C4885615-2EFE-505A-FE22-F61BC8CA56C1}"/>
              </a:ext>
            </a:extLst>
          </p:cNvPr>
          <p:cNvSpPr txBox="1">
            <a:spLocks/>
          </p:cNvSpPr>
          <p:nvPr/>
        </p:nvSpPr>
        <p:spPr>
          <a:xfrm>
            <a:off x="5466340" y="4922434"/>
            <a:ext cx="3215544" cy="800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Practical Actions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Liquidity &amp; Payout Events and Risk Jumps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Expected Costs and Ranking</a:t>
            </a:r>
          </a:p>
        </p:txBody>
      </p:sp>
      <p:sp>
        <p:nvSpPr>
          <p:cNvPr id="39" name="Ellipse 26">
            <a:extLst>
              <a:ext uri="{FF2B5EF4-FFF2-40B4-BE49-F238E27FC236}">
                <a16:creationId xmlns:a16="http://schemas.microsoft.com/office/drawing/2014/main" id="{4F5B13E6-46B1-B807-B5F9-E64F6A97D389}"/>
              </a:ext>
            </a:extLst>
          </p:cNvPr>
          <p:cNvSpPr>
            <a:spLocks/>
          </p:cNvSpPr>
          <p:nvPr/>
        </p:nvSpPr>
        <p:spPr>
          <a:xfrm>
            <a:off x="1454439" y="2714564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40" name="Ellipse 27">
            <a:extLst>
              <a:ext uri="{FF2B5EF4-FFF2-40B4-BE49-F238E27FC236}">
                <a16:creationId xmlns:a16="http://schemas.microsoft.com/office/drawing/2014/main" id="{37038F2A-4862-EC75-04A7-7FA061F0537F}"/>
              </a:ext>
            </a:extLst>
          </p:cNvPr>
          <p:cNvSpPr>
            <a:spLocks/>
          </p:cNvSpPr>
          <p:nvPr/>
        </p:nvSpPr>
        <p:spPr>
          <a:xfrm>
            <a:off x="4033290" y="3754067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06</a:t>
            </a: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2C182E7C-1E32-3CB2-2DF8-D2A0F31A4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pic>
        <p:nvPicPr>
          <p:cNvPr id="8" name="Grafik 7" descr="Volltreffer Silhouette">
            <a:extLst>
              <a:ext uri="{FF2B5EF4-FFF2-40B4-BE49-F238E27FC236}">
                <a16:creationId xmlns:a16="http://schemas.microsoft.com/office/drawing/2014/main" id="{36A1546E-CEA8-5E65-3FDE-7FB9DC5125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6493" y="3455113"/>
            <a:ext cx="849600" cy="849600"/>
          </a:xfrm>
          <a:prstGeom prst="rect">
            <a:avLst/>
          </a:prstGeom>
        </p:spPr>
      </p:pic>
      <p:pic>
        <p:nvPicPr>
          <p:cNvPr id="16" name="Grafik 15" descr="Stern für Bewertung Silhouette">
            <a:extLst>
              <a:ext uri="{FF2B5EF4-FFF2-40B4-BE49-F238E27FC236}">
                <a16:creationId xmlns:a16="http://schemas.microsoft.com/office/drawing/2014/main" id="{7AF9CFF6-38E7-DDB0-8281-603CD4AF27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9968" y="2595281"/>
            <a:ext cx="914400" cy="9144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3349EDC-2AB4-9A8A-393B-028C8BA10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53443" y="3455114"/>
            <a:ext cx="849600" cy="849600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DAC314B-FEB3-6DBF-0AAD-CE74800A6B2E}"/>
              </a:ext>
            </a:extLst>
          </p:cNvPr>
          <p:cNvSpPr txBox="1">
            <a:spLocks/>
          </p:cNvSpPr>
          <p:nvPr/>
        </p:nvSpPr>
        <p:spPr>
          <a:xfrm>
            <a:off x="2939813" y="867726"/>
            <a:ext cx="3916279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b="1" noProof="1"/>
              <a:t>Model Evaluation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Performance based on ROC AUC, PR AUC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Brier Score  and Capacity Costs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Bootstrap Statistical Significance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b="1" noProof="1"/>
          </a:p>
        </p:txBody>
      </p:sp>
      <p:sp>
        <p:nvSpPr>
          <p:cNvPr id="9" name="Bogen 13">
            <a:extLst>
              <a:ext uri="{FF2B5EF4-FFF2-40B4-BE49-F238E27FC236}">
                <a16:creationId xmlns:a16="http://schemas.microsoft.com/office/drawing/2014/main" id="{90690223-42DE-A7CE-7930-9B02CD6A0884}"/>
              </a:ext>
            </a:extLst>
          </p:cNvPr>
          <p:cNvSpPr>
            <a:spLocks/>
          </p:cNvSpPr>
          <p:nvPr/>
        </p:nvSpPr>
        <p:spPr>
          <a:xfrm rot="15969260">
            <a:off x="-309821" y="3454960"/>
            <a:ext cx="1929602" cy="1929602"/>
          </a:xfrm>
          <a:prstGeom prst="arc">
            <a:avLst>
              <a:gd name="adj1" fmla="val 16508086"/>
              <a:gd name="adj2" fmla="val 21451714"/>
            </a:avLst>
          </a:pr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Ellipse 27">
            <a:extLst>
              <a:ext uri="{FF2B5EF4-FFF2-40B4-BE49-F238E27FC236}">
                <a16:creationId xmlns:a16="http://schemas.microsoft.com/office/drawing/2014/main" id="{268D1C7F-A801-A0B9-3392-AA5CE68B9F1C}"/>
              </a:ext>
            </a:extLst>
          </p:cNvPr>
          <p:cNvSpPr>
            <a:spLocks/>
          </p:cNvSpPr>
          <p:nvPr/>
        </p:nvSpPr>
        <p:spPr>
          <a:xfrm>
            <a:off x="5526507" y="4219366"/>
            <a:ext cx="400790" cy="4007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9230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9F4307-6890-6798-1297-745A8B2FA4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99635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F4307-6890-6798-1297-745A8B2FA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182AEA3C-9378-9DE2-A7A7-E2887E4C6B1D}"/>
              </a:ext>
            </a:extLst>
          </p:cNvPr>
          <p:cNvSpPr>
            <a:spLocks/>
          </p:cNvSpPr>
          <p:nvPr/>
        </p:nvSpPr>
        <p:spPr bwMode="gray">
          <a:xfrm>
            <a:off x="409052" y="1557338"/>
            <a:ext cx="2719948" cy="639362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72000" tIns="72000" rIns="72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Parameter Space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705E8FB0-2489-E80B-F501-3D01FD830AD5}"/>
              </a:ext>
            </a:extLst>
          </p:cNvPr>
          <p:cNvSpPr>
            <a:spLocks/>
          </p:cNvSpPr>
          <p:nvPr/>
        </p:nvSpPr>
        <p:spPr bwMode="gray">
          <a:xfrm>
            <a:off x="3306403" y="1557338"/>
            <a:ext cx="2719948" cy="639362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72000" tIns="72000" rIns="72000" bIns="72000" anchor="ctr">
            <a:noAutofit/>
          </a:bodyPr>
          <a:lstStyle/>
          <a:p>
            <a:pPr lvl="0"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>
                <a:solidFill>
                  <a:schemeClr val="accent3"/>
                </a:solidFill>
              </a:rPr>
              <a:t>Negative Equity</a:t>
            </a:r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C83388CF-FB3B-7C0F-05E8-D590060ED472}"/>
              </a:ext>
            </a:extLst>
          </p:cNvPr>
          <p:cNvSpPr>
            <a:spLocks/>
          </p:cNvSpPr>
          <p:nvPr/>
        </p:nvSpPr>
        <p:spPr bwMode="gray">
          <a:xfrm>
            <a:off x="5264314" y="1630214"/>
            <a:ext cx="689161" cy="4936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3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F3A4C34B-FCDF-BBF5-D4BE-033D306F18C4}"/>
              </a:ext>
            </a:extLst>
          </p:cNvPr>
          <p:cNvSpPr>
            <a:spLocks/>
          </p:cNvSpPr>
          <p:nvPr/>
        </p:nvSpPr>
        <p:spPr bwMode="gray">
          <a:xfrm>
            <a:off x="6203754" y="1557338"/>
            <a:ext cx="2719948" cy="639362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72000" tIns="72000" rIns="72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Negative Profits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328CB41-7A73-F7C2-D174-4EB171F70245}"/>
              </a:ext>
            </a:extLst>
          </p:cNvPr>
          <p:cNvSpPr>
            <a:spLocks/>
          </p:cNvSpPr>
          <p:nvPr/>
        </p:nvSpPr>
        <p:spPr bwMode="gray">
          <a:xfrm>
            <a:off x="8161665" y="1630214"/>
            <a:ext cx="689161" cy="4936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8CB78B01-46CE-5FF3-D4CF-30DCEFEC0C85}"/>
              </a:ext>
            </a:extLst>
          </p:cNvPr>
          <p:cNvSpPr>
            <a:spLocks/>
          </p:cNvSpPr>
          <p:nvPr/>
        </p:nvSpPr>
        <p:spPr bwMode="gray">
          <a:xfrm>
            <a:off x="9101104" y="1557338"/>
            <a:ext cx="2719948" cy="639362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72000" tIns="72000" rIns="72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spc="0" normalizeH="0" noProof="0">
                <a:ln>
                  <a:noFill/>
                </a:ln>
                <a:effectLst/>
                <a:uLnTx/>
                <a:uFillTx/>
                <a:ea typeface="+mn-ea"/>
              </a:rPr>
              <a:t>Highly Leveraged</a:t>
            </a:r>
          </a:p>
        </p:txBody>
      </p:sp>
      <p:sp>
        <p:nvSpPr>
          <p:cNvPr id="74" name="Rectangle 3">
            <a:extLst>
              <a:ext uri="{FF2B5EF4-FFF2-40B4-BE49-F238E27FC236}">
                <a16:creationId xmlns:a16="http://schemas.microsoft.com/office/drawing/2014/main" id="{D9B598A8-1F9B-F9C3-43C2-169EAE6ED46A}"/>
              </a:ext>
            </a:extLst>
          </p:cNvPr>
          <p:cNvSpPr>
            <a:spLocks/>
          </p:cNvSpPr>
          <p:nvPr/>
        </p:nvSpPr>
        <p:spPr bwMode="gray">
          <a:xfrm>
            <a:off x="11059015" y="1630214"/>
            <a:ext cx="689161" cy="4936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solidFill>
                  <a:schemeClr val="accent1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75" name="Textplatzhalter 9">
            <a:extLst>
              <a:ext uri="{FF2B5EF4-FFF2-40B4-BE49-F238E27FC236}">
                <a16:creationId xmlns:a16="http://schemas.microsoft.com/office/drawing/2014/main" id="{AA421620-13CE-0957-5F74-2E49521CA3F3}"/>
              </a:ext>
            </a:extLst>
          </p:cNvPr>
          <p:cNvSpPr txBox="1">
            <a:spLocks/>
          </p:cNvSpPr>
          <p:nvPr/>
        </p:nvSpPr>
        <p:spPr bwMode="gray">
          <a:xfrm>
            <a:off x="409052" y="2358220"/>
            <a:ext cx="2719948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i="1">
                <a:solidFill>
                  <a:schemeClr val="accent1"/>
                </a:solidFill>
              </a:rPr>
              <a:t>C for Logistic Regression: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i="1">
                <a:solidFill>
                  <a:schemeClr val="accent1"/>
                </a:solidFill>
              </a:rPr>
              <a:t>(0.001, 0.005, 0.0075, 0.015</a:t>
            </a:r>
            <a:r>
              <a:rPr lang="en-US" sz="1400" b="1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76" name="Textplatzhalter 9">
            <a:extLst>
              <a:ext uri="{FF2B5EF4-FFF2-40B4-BE49-F238E27FC236}">
                <a16:creationId xmlns:a16="http://schemas.microsoft.com/office/drawing/2014/main" id="{5AFB5A20-7020-62DD-486B-593D29CF2CA3}"/>
              </a:ext>
            </a:extLst>
          </p:cNvPr>
          <p:cNvSpPr txBox="1">
            <a:spLocks/>
          </p:cNvSpPr>
          <p:nvPr/>
        </p:nvSpPr>
        <p:spPr bwMode="gray">
          <a:xfrm>
            <a:off x="3306403" y="2358220"/>
            <a:ext cx="2719948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C Logistic Regression: 0.005</a:t>
            </a:r>
          </a:p>
        </p:txBody>
      </p:sp>
      <p:sp>
        <p:nvSpPr>
          <p:cNvPr id="77" name="Textplatzhalter 9">
            <a:extLst>
              <a:ext uri="{FF2B5EF4-FFF2-40B4-BE49-F238E27FC236}">
                <a16:creationId xmlns:a16="http://schemas.microsoft.com/office/drawing/2014/main" id="{0E050CF1-35A9-910C-E6FB-C00B03FBD7D0}"/>
              </a:ext>
            </a:extLst>
          </p:cNvPr>
          <p:cNvSpPr txBox="1">
            <a:spLocks/>
          </p:cNvSpPr>
          <p:nvPr/>
        </p:nvSpPr>
        <p:spPr bwMode="gray">
          <a:xfrm>
            <a:off x="6203754" y="2358220"/>
            <a:ext cx="2719948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C Logistic Regression: 0.001</a:t>
            </a:r>
          </a:p>
        </p:txBody>
      </p:sp>
      <p:sp>
        <p:nvSpPr>
          <p:cNvPr id="78" name="Textplatzhalter 9">
            <a:extLst>
              <a:ext uri="{FF2B5EF4-FFF2-40B4-BE49-F238E27FC236}">
                <a16:creationId xmlns:a16="http://schemas.microsoft.com/office/drawing/2014/main" id="{FF05D852-E34B-4B34-4538-6F221CFAAFED}"/>
              </a:ext>
            </a:extLst>
          </p:cNvPr>
          <p:cNvSpPr txBox="1">
            <a:spLocks/>
          </p:cNvSpPr>
          <p:nvPr/>
        </p:nvSpPr>
        <p:spPr bwMode="gray">
          <a:xfrm>
            <a:off x="9101104" y="2358220"/>
            <a:ext cx="2719948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C Logistic Regression: 0.0015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8D8192-D798-1603-F61D-9D2974D8F870}"/>
              </a:ext>
            </a:extLst>
          </p:cNvPr>
          <p:cNvCxnSpPr>
            <a:cxnSpLocks/>
          </p:cNvCxnSpPr>
          <p:nvPr/>
        </p:nvCxnSpPr>
        <p:spPr>
          <a:xfrm>
            <a:off x="409051" y="3012413"/>
            <a:ext cx="2721600" cy="0"/>
          </a:xfrm>
          <a:prstGeom prst="line">
            <a:avLst/>
          </a:prstGeom>
          <a:ln w="952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4FF92D7-D4BC-8017-DA3D-85A95AF511CE}"/>
              </a:ext>
            </a:extLst>
          </p:cNvPr>
          <p:cNvCxnSpPr>
            <a:cxnSpLocks/>
          </p:cNvCxnSpPr>
          <p:nvPr/>
        </p:nvCxnSpPr>
        <p:spPr>
          <a:xfrm>
            <a:off x="3305851" y="3012413"/>
            <a:ext cx="2721600" cy="0"/>
          </a:xfrm>
          <a:prstGeom prst="line">
            <a:avLst/>
          </a:prstGeom>
          <a:ln w="952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24642CD-C257-2D7F-2D70-EF0EEBD7F020}"/>
              </a:ext>
            </a:extLst>
          </p:cNvPr>
          <p:cNvCxnSpPr>
            <a:cxnSpLocks/>
          </p:cNvCxnSpPr>
          <p:nvPr/>
        </p:nvCxnSpPr>
        <p:spPr>
          <a:xfrm>
            <a:off x="6202651" y="3012413"/>
            <a:ext cx="2721600" cy="0"/>
          </a:xfrm>
          <a:prstGeom prst="line">
            <a:avLst/>
          </a:prstGeom>
          <a:ln w="952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6AF6329-B02A-738B-B976-B1143598CC97}"/>
              </a:ext>
            </a:extLst>
          </p:cNvPr>
          <p:cNvCxnSpPr>
            <a:cxnSpLocks/>
          </p:cNvCxnSpPr>
          <p:nvPr/>
        </p:nvCxnSpPr>
        <p:spPr>
          <a:xfrm>
            <a:off x="9099452" y="3012413"/>
            <a:ext cx="2721600" cy="0"/>
          </a:xfrm>
          <a:prstGeom prst="line">
            <a:avLst/>
          </a:prstGeom>
          <a:ln w="952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platzhalter 9">
            <a:extLst>
              <a:ext uri="{FF2B5EF4-FFF2-40B4-BE49-F238E27FC236}">
                <a16:creationId xmlns:a16="http://schemas.microsoft.com/office/drawing/2014/main" id="{18342A7C-5166-AD09-9A7A-279811EC2E3E}"/>
              </a:ext>
            </a:extLst>
          </p:cNvPr>
          <p:cNvSpPr txBox="1">
            <a:spLocks/>
          </p:cNvSpPr>
          <p:nvPr/>
        </p:nvSpPr>
        <p:spPr bwMode="gray">
          <a:xfrm>
            <a:off x="728172" y="3173932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Maximum Depth 2 to 5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Minimum Child Weight 10 to 100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Gamma 0.5 to 10</a:t>
            </a:r>
          </a:p>
        </p:txBody>
      </p:sp>
      <p:sp>
        <p:nvSpPr>
          <p:cNvPr id="92" name="Textplatzhalter 9">
            <a:extLst>
              <a:ext uri="{FF2B5EF4-FFF2-40B4-BE49-F238E27FC236}">
                <a16:creationId xmlns:a16="http://schemas.microsoft.com/office/drawing/2014/main" id="{63176D27-BFCB-9A95-1A0C-61CDDD01EABE}"/>
              </a:ext>
            </a:extLst>
          </p:cNvPr>
          <p:cNvSpPr txBox="1">
            <a:spLocks/>
          </p:cNvSpPr>
          <p:nvPr/>
        </p:nvSpPr>
        <p:spPr bwMode="gray">
          <a:xfrm>
            <a:off x="3625523" y="3173932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Moderate tree complexity (depth 4) with limited split friction (gamma ~0.9)</a:t>
            </a:r>
          </a:p>
        </p:txBody>
      </p:sp>
      <p:sp>
        <p:nvSpPr>
          <p:cNvPr id="93" name="Textplatzhalter 9">
            <a:extLst>
              <a:ext uri="{FF2B5EF4-FFF2-40B4-BE49-F238E27FC236}">
                <a16:creationId xmlns:a16="http://schemas.microsoft.com/office/drawing/2014/main" id="{2FBAC9F5-10C2-9C88-243B-F8441F5A277A}"/>
              </a:ext>
            </a:extLst>
          </p:cNvPr>
          <p:cNvSpPr txBox="1">
            <a:spLocks/>
          </p:cNvSpPr>
          <p:nvPr/>
        </p:nvSpPr>
        <p:spPr bwMode="gray">
          <a:xfrm>
            <a:off x="6522874" y="3173932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Deeper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(5) but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very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conservative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splits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(MCW 72, γ≈2.4)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94" name="Textplatzhalter 9">
            <a:extLst>
              <a:ext uri="{FF2B5EF4-FFF2-40B4-BE49-F238E27FC236}">
                <a16:creationId xmlns:a16="http://schemas.microsoft.com/office/drawing/2014/main" id="{CF75135B-4A71-479D-7826-0E87DAFDD028}"/>
              </a:ext>
            </a:extLst>
          </p:cNvPr>
          <p:cNvSpPr txBox="1">
            <a:spLocks/>
          </p:cNvSpPr>
          <p:nvPr/>
        </p:nvSpPr>
        <p:spPr bwMode="gray">
          <a:xfrm>
            <a:off x="9420224" y="3173932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Moderate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depth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(4)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with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extremely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selective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splits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(γ≈9.4)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CDF1C2F-BA17-23A2-BC77-D607B05AFBBA}"/>
              </a:ext>
            </a:extLst>
          </p:cNvPr>
          <p:cNvSpPr/>
          <p:nvPr/>
        </p:nvSpPr>
        <p:spPr>
          <a:xfrm>
            <a:off x="409052" y="3173932"/>
            <a:ext cx="195263" cy="19526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9DDD15E-20DA-53D7-D8CE-F31D1818ACC6}"/>
              </a:ext>
            </a:extLst>
          </p:cNvPr>
          <p:cNvSpPr/>
          <p:nvPr/>
        </p:nvSpPr>
        <p:spPr>
          <a:xfrm>
            <a:off x="3306403" y="3173932"/>
            <a:ext cx="195263" cy="19526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9F86636-B56B-8054-2EF4-C35E466F2B01}"/>
              </a:ext>
            </a:extLst>
          </p:cNvPr>
          <p:cNvSpPr/>
          <p:nvPr/>
        </p:nvSpPr>
        <p:spPr>
          <a:xfrm>
            <a:off x="6203754" y="3173932"/>
            <a:ext cx="195263" cy="19526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469D22E-324E-1F06-59A1-F8CCCF5DC759}"/>
              </a:ext>
            </a:extLst>
          </p:cNvPr>
          <p:cNvSpPr/>
          <p:nvPr/>
        </p:nvSpPr>
        <p:spPr>
          <a:xfrm>
            <a:off x="9101104" y="3173932"/>
            <a:ext cx="195263" cy="19526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7" name="Textplatzhalter 9">
            <a:extLst>
              <a:ext uri="{FF2B5EF4-FFF2-40B4-BE49-F238E27FC236}">
                <a16:creationId xmlns:a16="http://schemas.microsoft.com/office/drawing/2014/main" id="{1CEC1612-B848-5871-3310-9928DD4230A7}"/>
              </a:ext>
            </a:extLst>
          </p:cNvPr>
          <p:cNvSpPr txBox="1">
            <a:spLocks/>
          </p:cNvSpPr>
          <p:nvPr/>
        </p:nvSpPr>
        <p:spPr bwMode="gray">
          <a:xfrm>
            <a:off x="728172" y="4087443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 i="1">
                <a:solidFill>
                  <a:srgbClr val="000000"/>
                </a:solidFill>
                <a:latin typeface="Arial" panose="020B0604020202020204" pitchFamily="34" charset="0"/>
              </a:rPr>
              <a:t>Lambda 1 </a:t>
            </a:r>
            <a:r>
              <a:rPr lang="de-DE" altLang="de-DE" sz="1400" i="1" err="1">
                <a:solidFill>
                  <a:srgbClr val="000000"/>
                </a:solidFill>
                <a:latin typeface="Arial" panose="020B0604020202020204" pitchFamily="34" charset="0"/>
              </a:rPr>
              <a:t>to</a:t>
            </a:r>
            <a:r>
              <a:rPr lang="de-DE" altLang="de-DE" sz="1400" i="1">
                <a:solidFill>
                  <a:srgbClr val="000000"/>
                </a:solidFill>
                <a:latin typeface="Arial" panose="020B0604020202020204" pitchFamily="34" charset="0"/>
              </a:rPr>
              <a:t> 50 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 i="1">
                <a:solidFill>
                  <a:srgbClr val="000000"/>
                </a:solidFill>
                <a:latin typeface="Arial" panose="020B0604020202020204" pitchFamily="34" charset="0"/>
              </a:rPr>
              <a:t>Alpha 0 </a:t>
            </a:r>
            <a:r>
              <a:rPr lang="de-DE" altLang="de-DE" sz="1400" i="1" err="1">
                <a:solidFill>
                  <a:srgbClr val="000000"/>
                </a:solidFill>
                <a:latin typeface="Arial" panose="020B0604020202020204" pitchFamily="34" charset="0"/>
              </a:rPr>
              <a:t>to</a:t>
            </a:r>
            <a:r>
              <a:rPr lang="de-DE" altLang="de-DE" sz="1400" i="1">
                <a:solidFill>
                  <a:srgbClr val="000000"/>
                </a:solidFill>
                <a:latin typeface="Arial" panose="020B0604020202020204" pitchFamily="34" charset="0"/>
              </a:rPr>
              <a:t> 2</a:t>
            </a:r>
            <a:endParaRPr lang="de-DE" altLang="de-DE" sz="1400" i="1">
              <a:latin typeface="Arial" panose="020B0604020202020204" pitchFamily="34" charset="0"/>
            </a:endParaRPr>
          </a:p>
        </p:txBody>
      </p:sp>
      <p:sp>
        <p:nvSpPr>
          <p:cNvPr id="98" name="Textplatzhalter 9">
            <a:extLst>
              <a:ext uri="{FF2B5EF4-FFF2-40B4-BE49-F238E27FC236}">
                <a16:creationId xmlns:a16="http://schemas.microsoft.com/office/drawing/2014/main" id="{4A5D92CF-ACFE-F83B-7A44-E90868AB0DF5}"/>
              </a:ext>
            </a:extLst>
          </p:cNvPr>
          <p:cNvSpPr txBox="1">
            <a:spLocks/>
          </p:cNvSpPr>
          <p:nvPr/>
        </p:nvSpPr>
        <p:spPr bwMode="gray">
          <a:xfrm>
            <a:off x="3625523" y="4087443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Moderate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shrinkage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(λ≈2.8, α≈1.9)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99" name="Textplatzhalter 9">
            <a:extLst>
              <a:ext uri="{FF2B5EF4-FFF2-40B4-BE49-F238E27FC236}">
                <a16:creationId xmlns:a16="http://schemas.microsoft.com/office/drawing/2014/main" id="{564F9C04-8C1B-75F1-5D3C-3F3162B53D76}"/>
              </a:ext>
            </a:extLst>
          </p:cNvPr>
          <p:cNvSpPr txBox="1">
            <a:spLocks/>
          </p:cNvSpPr>
          <p:nvPr/>
        </p:nvSpPr>
        <p:spPr bwMode="gray">
          <a:xfrm>
            <a:off x="6522874" y="4087443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Very strong L2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shrinkage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dominates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(λ≈19.9, α≈0.5)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100" name="Textplatzhalter 9">
            <a:extLst>
              <a:ext uri="{FF2B5EF4-FFF2-40B4-BE49-F238E27FC236}">
                <a16:creationId xmlns:a16="http://schemas.microsoft.com/office/drawing/2014/main" id="{708E6D06-C8E4-1A6F-F238-F18CAC17EAA3}"/>
              </a:ext>
            </a:extLst>
          </p:cNvPr>
          <p:cNvSpPr txBox="1">
            <a:spLocks/>
          </p:cNvSpPr>
          <p:nvPr/>
        </p:nvSpPr>
        <p:spPr bwMode="gray">
          <a:xfrm>
            <a:off x="9420224" y="4087443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L1-heavy,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low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L2 (α≈1.8, λ≈1.2)</a:t>
            </a:r>
            <a:endParaRPr lang="en-US" sz="140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DD29ABE-18ED-8948-7220-B50298F069AE}"/>
              </a:ext>
            </a:extLst>
          </p:cNvPr>
          <p:cNvSpPr/>
          <p:nvPr/>
        </p:nvSpPr>
        <p:spPr>
          <a:xfrm>
            <a:off x="409052" y="4087443"/>
            <a:ext cx="195263" cy="195263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6E3E697-96E3-2D55-8818-6A8DFD46BDFE}"/>
              </a:ext>
            </a:extLst>
          </p:cNvPr>
          <p:cNvSpPr/>
          <p:nvPr/>
        </p:nvSpPr>
        <p:spPr>
          <a:xfrm>
            <a:off x="3306403" y="4087443"/>
            <a:ext cx="195263" cy="195263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2CBA6447-5EC8-99AE-C9A2-73701F461323}"/>
              </a:ext>
            </a:extLst>
          </p:cNvPr>
          <p:cNvSpPr/>
          <p:nvPr/>
        </p:nvSpPr>
        <p:spPr>
          <a:xfrm>
            <a:off x="6203754" y="4087443"/>
            <a:ext cx="195263" cy="195263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3A509240-927B-358F-59DB-9B9848BCDC1B}"/>
              </a:ext>
            </a:extLst>
          </p:cNvPr>
          <p:cNvSpPr/>
          <p:nvPr/>
        </p:nvSpPr>
        <p:spPr>
          <a:xfrm>
            <a:off x="9101104" y="4087443"/>
            <a:ext cx="195263" cy="195263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2" name="Textplatzhalter 9">
            <a:extLst>
              <a:ext uri="{FF2B5EF4-FFF2-40B4-BE49-F238E27FC236}">
                <a16:creationId xmlns:a16="http://schemas.microsoft.com/office/drawing/2014/main" id="{495FB011-98EB-DD12-8964-3962020E2554}"/>
              </a:ext>
            </a:extLst>
          </p:cNvPr>
          <p:cNvSpPr txBox="1">
            <a:spLocks/>
          </p:cNvSpPr>
          <p:nvPr/>
        </p:nvSpPr>
        <p:spPr bwMode="gray">
          <a:xfrm>
            <a:off x="728172" y="5000954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i="1"/>
              <a:t>Subsample 0.5 to 0.9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i="1"/>
              <a:t>Feature Subsampling 0.3 to 0.8</a:t>
            </a:r>
          </a:p>
        </p:txBody>
      </p:sp>
      <p:sp>
        <p:nvSpPr>
          <p:cNvPr id="103" name="Textplatzhalter 9">
            <a:extLst>
              <a:ext uri="{FF2B5EF4-FFF2-40B4-BE49-F238E27FC236}">
                <a16:creationId xmlns:a16="http://schemas.microsoft.com/office/drawing/2014/main" id="{83AB7710-B67B-D1DC-60EB-C841791B92CE}"/>
              </a:ext>
            </a:extLst>
          </p:cNvPr>
          <p:cNvSpPr txBox="1">
            <a:spLocks/>
          </p:cNvSpPr>
          <p:nvPr/>
        </p:nvSpPr>
        <p:spPr bwMode="gray">
          <a:xfrm>
            <a:off x="3625523" y="5000954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Mid-level subsampling (0.76) and feature sampling (0.63).</a:t>
            </a:r>
          </a:p>
        </p:txBody>
      </p:sp>
      <p:sp>
        <p:nvSpPr>
          <p:cNvPr id="104" name="Textplatzhalter 9">
            <a:extLst>
              <a:ext uri="{FF2B5EF4-FFF2-40B4-BE49-F238E27FC236}">
                <a16:creationId xmlns:a16="http://schemas.microsoft.com/office/drawing/2014/main" id="{DA896AC8-1EF0-C0EB-EDA2-EAF55041CB31}"/>
              </a:ext>
            </a:extLst>
          </p:cNvPr>
          <p:cNvSpPr txBox="1">
            <a:spLocks/>
          </p:cNvSpPr>
          <p:nvPr/>
        </p:nvSpPr>
        <p:spPr bwMode="gray">
          <a:xfrm>
            <a:off x="6522874" y="5000954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Aggressive row sampling (0.50) with low feature sampling (0.37)</a:t>
            </a:r>
          </a:p>
        </p:txBody>
      </p:sp>
      <p:sp>
        <p:nvSpPr>
          <p:cNvPr id="105" name="Textplatzhalter 9">
            <a:extLst>
              <a:ext uri="{FF2B5EF4-FFF2-40B4-BE49-F238E27FC236}">
                <a16:creationId xmlns:a16="http://schemas.microsoft.com/office/drawing/2014/main" id="{10586F44-A964-AD1F-4BB3-34060E2127B3}"/>
              </a:ext>
            </a:extLst>
          </p:cNvPr>
          <p:cNvSpPr txBox="1">
            <a:spLocks/>
          </p:cNvSpPr>
          <p:nvPr/>
        </p:nvSpPr>
        <p:spPr bwMode="gray">
          <a:xfrm>
            <a:off x="9420224" y="5000954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Moderate subsampling (0.77) and feature sampling (0.62)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4E1996B-1CB6-07CB-45D2-4ED401D6E176}"/>
              </a:ext>
            </a:extLst>
          </p:cNvPr>
          <p:cNvSpPr/>
          <p:nvPr/>
        </p:nvSpPr>
        <p:spPr>
          <a:xfrm>
            <a:off x="409052" y="5000954"/>
            <a:ext cx="195263" cy="195263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7D84F97C-C57B-712B-3238-134403D92A40}"/>
              </a:ext>
            </a:extLst>
          </p:cNvPr>
          <p:cNvSpPr/>
          <p:nvPr/>
        </p:nvSpPr>
        <p:spPr>
          <a:xfrm>
            <a:off x="3306403" y="5000954"/>
            <a:ext cx="195263" cy="195263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D396C6D3-EBB7-FB16-760E-A29F6E45BF6F}"/>
              </a:ext>
            </a:extLst>
          </p:cNvPr>
          <p:cNvSpPr/>
          <p:nvPr/>
        </p:nvSpPr>
        <p:spPr>
          <a:xfrm>
            <a:off x="6203754" y="5000954"/>
            <a:ext cx="195263" cy="195263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3867ED2-3AA2-F881-A304-D1822BFB5DD1}"/>
              </a:ext>
            </a:extLst>
          </p:cNvPr>
          <p:cNvSpPr/>
          <p:nvPr/>
        </p:nvSpPr>
        <p:spPr>
          <a:xfrm>
            <a:off x="9101104" y="5000954"/>
            <a:ext cx="195263" cy="195263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59905FC-1E7F-1E78-282B-0658990ADB92}"/>
              </a:ext>
            </a:extLst>
          </p:cNvPr>
          <p:cNvGrpSpPr/>
          <p:nvPr/>
        </p:nvGrpSpPr>
        <p:grpSpPr>
          <a:xfrm>
            <a:off x="409052" y="6433562"/>
            <a:ext cx="2235589" cy="143435"/>
            <a:chOff x="409052" y="6418959"/>
            <a:chExt cx="2235589" cy="14343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BBA817F-4744-C0E2-7999-2FCFE6977B4F}"/>
                </a:ext>
              </a:extLst>
            </p:cNvPr>
            <p:cNvSpPr/>
            <p:nvPr/>
          </p:nvSpPr>
          <p:spPr>
            <a:xfrm>
              <a:off x="613840" y="6418959"/>
              <a:ext cx="2030801" cy="143435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en-US" sz="1000">
                  <a:solidFill>
                    <a:schemeClr val="tx1"/>
                  </a:solidFill>
                </a:rPr>
                <a:t>Tree complexity &amp; Split Constrains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61886C7-B2D9-50CD-A248-8FD1FFA45687}"/>
                </a:ext>
              </a:extLst>
            </p:cNvPr>
            <p:cNvSpPr/>
            <p:nvPr/>
          </p:nvSpPr>
          <p:spPr>
            <a:xfrm>
              <a:off x="409052" y="6418959"/>
              <a:ext cx="143435" cy="14343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l"/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6DEAC7AF-382B-1886-EC02-CA035308EA09}"/>
              </a:ext>
            </a:extLst>
          </p:cNvPr>
          <p:cNvGrpSpPr/>
          <p:nvPr/>
        </p:nvGrpSpPr>
        <p:grpSpPr>
          <a:xfrm>
            <a:off x="2602817" y="6418959"/>
            <a:ext cx="1915083" cy="172641"/>
            <a:chOff x="2501206" y="6418959"/>
            <a:chExt cx="1915083" cy="1726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826F218-9B73-75B4-1123-03DC6E2BF2D6}"/>
                </a:ext>
              </a:extLst>
            </p:cNvPr>
            <p:cNvSpPr/>
            <p:nvPr/>
          </p:nvSpPr>
          <p:spPr>
            <a:xfrm>
              <a:off x="2705994" y="6418959"/>
              <a:ext cx="1710295" cy="17264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r>
                <a:rPr lang="en-US" sz="1000">
                  <a:solidFill>
                    <a:schemeClr val="tx1"/>
                  </a:solidFill>
                </a:rPr>
                <a:t>L1, L2 Regularization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BC9994B-8317-1E9D-CAEE-1E1C19625DDD}"/>
                </a:ext>
              </a:extLst>
            </p:cNvPr>
            <p:cNvSpPr/>
            <p:nvPr/>
          </p:nvSpPr>
          <p:spPr>
            <a:xfrm>
              <a:off x="2501206" y="6418959"/>
              <a:ext cx="143435" cy="143435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l"/>
              <a:endParaRPr lang="en-US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56FC345-3D0E-6E04-DE5C-3E891F0CE484}"/>
              </a:ext>
            </a:extLst>
          </p:cNvPr>
          <p:cNvGrpSpPr/>
          <p:nvPr/>
        </p:nvGrpSpPr>
        <p:grpSpPr>
          <a:xfrm>
            <a:off x="4476076" y="6433562"/>
            <a:ext cx="1759049" cy="143435"/>
            <a:chOff x="3970590" y="6418960"/>
            <a:chExt cx="1759049" cy="143435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F275F2D-9B24-2BF9-1A95-816D847B09F2}"/>
                </a:ext>
              </a:extLst>
            </p:cNvPr>
            <p:cNvSpPr/>
            <p:nvPr/>
          </p:nvSpPr>
          <p:spPr>
            <a:xfrm>
              <a:off x="4175379" y="6418960"/>
              <a:ext cx="1554260" cy="143435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en-US" sz="1000">
                  <a:solidFill>
                    <a:schemeClr val="tx1"/>
                  </a:solidFill>
                </a:rPr>
                <a:t>Variance Reduction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B6062D9-B1E0-A9BA-45B4-9CE99BE004AA}"/>
                </a:ext>
              </a:extLst>
            </p:cNvPr>
            <p:cNvSpPr/>
            <p:nvPr/>
          </p:nvSpPr>
          <p:spPr>
            <a:xfrm>
              <a:off x="3970590" y="6418960"/>
              <a:ext cx="143435" cy="143435"/>
            </a:xfrm>
            <a:prstGeom prst="ellipse">
              <a:avLst/>
            </a:prstGeom>
            <a:solidFill>
              <a:schemeClr val="accent3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l"/>
              <a:endParaRPr lang="en-US" sz="1400">
                <a:solidFill>
                  <a:schemeClr val="tx1"/>
                </a:solidFill>
              </a:endParaRPr>
            </a:p>
          </p:txBody>
        </p:sp>
      </p:grp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9F2971B7-63F7-1E16-BAC9-7F6A40936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2178" y="0"/>
            <a:ext cx="1849821" cy="596900"/>
          </a:xfrm>
          <a:prstGeom prst="rect">
            <a:avLst/>
          </a:prstGeom>
        </p:spPr>
      </p:pic>
      <p:sp>
        <p:nvSpPr>
          <p:cNvPr id="57" name="Title 56">
            <a:extLst>
              <a:ext uri="{FF2B5EF4-FFF2-40B4-BE49-F238E27FC236}">
                <a16:creationId xmlns:a16="http://schemas.microsoft.com/office/drawing/2014/main" id="{96F30D6E-3265-6FC6-7E81-811BB1DF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66400"/>
            <a:ext cx="11604176" cy="288000"/>
          </a:xfrm>
        </p:spPr>
        <p:txBody>
          <a:bodyPr vert="horz" rIns="0">
            <a:normAutofit/>
          </a:bodyPr>
          <a:lstStyle/>
          <a:p>
            <a:r>
              <a:rPr lang="en-US"/>
              <a:t>Hyperparameters C parameter and 100 Bayesian Optimization Trials based on weighted Brier Scores across folds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7330B9CD-3066-A7AC-0343-338E82766FE2}"/>
              </a:ext>
            </a:extLst>
          </p:cNvPr>
          <p:cNvSpPr txBox="1">
            <a:spLocks/>
          </p:cNvSpPr>
          <p:nvPr/>
        </p:nvSpPr>
        <p:spPr bwMode="gray">
          <a:xfrm>
            <a:off x="728171" y="5802859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i="1"/>
              <a:t>Learning Rate 0.01 to 0.05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i="1"/>
              <a:t>Maximum Delta Step 1 to 5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14492DEB-9685-C062-94F5-A8CE2E070DAD}"/>
              </a:ext>
            </a:extLst>
          </p:cNvPr>
          <p:cNvSpPr txBox="1">
            <a:spLocks/>
          </p:cNvSpPr>
          <p:nvPr/>
        </p:nvSpPr>
        <p:spPr bwMode="gray">
          <a:xfrm>
            <a:off x="3625522" y="5802859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Faster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learning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(η≈0.043)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with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stabilizing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max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delta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step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(5)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4BD9A15B-7A32-5C96-05AB-5A983BA2A96A}"/>
              </a:ext>
            </a:extLst>
          </p:cNvPr>
          <p:cNvSpPr txBox="1">
            <a:spLocks/>
          </p:cNvSpPr>
          <p:nvPr/>
        </p:nvSpPr>
        <p:spPr bwMode="gray">
          <a:xfrm>
            <a:off x="6522873" y="5802859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Fast η≈0.046 but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tighter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update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cap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(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max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sz="1400" err="1">
                <a:solidFill>
                  <a:srgbClr val="000000"/>
                </a:solidFill>
                <a:latin typeface="-webkit-standard"/>
              </a:rPr>
              <a:t>delta</a:t>
            </a:r>
            <a:r>
              <a:rPr lang="de-DE" altLang="de-DE" sz="1400">
                <a:solidFill>
                  <a:srgbClr val="000000"/>
                </a:solidFill>
                <a:latin typeface="-webkit-standard"/>
              </a:rPr>
              <a:t> 2)</a:t>
            </a:r>
            <a:endParaRPr lang="de-DE" altLang="de-DE" sz="1400">
              <a:latin typeface="Arial" panose="020B0604020202020204" pitchFamily="34" charset="0"/>
            </a:endParaRP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4DBA85F3-7BA6-E62C-80FF-E892AAB20548}"/>
              </a:ext>
            </a:extLst>
          </p:cNvPr>
          <p:cNvSpPr txBox="1">
            <a:spLocks/>
          </p:cNvSpPr>
          <p:nvPr/>
        </p:nvSpPr>
        <p:spPr bwMode="gray">
          <a:xfrm>
            <a:off x="9420223" y="5802859"/>
            <a:ext cx="2400827" cy="49267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de-DE" sz="1400" err="1"/>
              <a:t>Slower</a:t>
            </a:r>
            <a:r>
              <a:rPr lang="de-DE" sz="1400"/>
              <a:t> </a:t>
            </a:r>
            <a:r>
              <a:rPr lang="de-DE" sz="1400" err="1"/>
              <a:t>learning</a:t>
            </a:r>
            <a:r>
              <a:rPr lang="de-DE" sz="1400"/>
              <a:t> (</a:t>
            </a:r>
            <a:r>
              <a:rPr lang="el-GR" sz="1400"/>
              <a:t>η≈0.032) </a:t>
            </a:r>
            <a:r>
              <a:rPr lang="de-DE" sz="1400" err="1"/>
              <a:t>with</a:t>
            </a:r>
            <a:r>
              <a:rPr lang="de-DE" sz="1400"/>
              <a:t> moderate update </a:t>
            </a:r>
            <a:r>
              <a:rPr lang="de-DE" sz="1400" err="1"/>
              <a:t>cap</a:t>
            </a:r>
            <a:r>
              <a:rPr lang="de-DE" sz="1400"/>
              <a:t> (3)</a:t>
            </a:r>
            <a:endParaRPr lang="en-US" sz="1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47469C-8856-089E-7197-0055FAFF061C}"/>
              </a:ext>
            </a:extLst>
          </p:cNvPr>
          <p:cNvSpPr/>
          <p:nvPr/>
        </p:nvSpPr>
        <p:spPr>
          <a:xfrm>
            <a:off x="409051" y="5802859"/>
            <a:ext cx="195263" cy="195263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721056-B270-ECA0-A600-FB771D43DB2A}"/>
              </a:ext>
            </a:extLst>
          </p:cNvPr>
          <p:cNvSpPr/>
          <p:nvPr/>
        </p:nvSpPr>
        <p:spPr>
          <a:xfrm>
            <a:off x="3306402" y="5802859"/>
            <a:ext cx="195263" cy="195263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853195-2F07-C036-3961-69C2E058158E}"/>
              </a:ext>
            </a:extLst>
          </p:cNvPr>
          <p:cNvSpPr/>
          <p:nvPr/>
        </p:nvSpPr>
        <p:spPr>
          <a:xfrm>
            <a:off x="6203753" y="5802859"/>
            <a:ext cx="195263" cy="195263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1AF077-B1F3-6787-5C15-01E756CDE3D3}"/>
              </a:ext>
            </a:extLst>
          </p:cNvPr>
          <p:cNvSpPr/>
          <p:nvPr/>
        </p:nvSpPr>
        <p:spPr>
          <a:xfrm>
            <a:off x="9101103" y="5802859"/>
            <a:ext cx="195263" cy="195263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US" sz="1400">
              <a:solidFill>
                <a:schemeClr val="tx1"/>
              </a:solidFill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37FCFC3-7FE5-2543-F431-3A338A688327}"/>
              </a:ext>
            </a:extLst>
          </p:cNvPr>
          <p:cNvGrpSpPr/>
          <p:nvPr/>
        </p:nvGrpSpPr>
        <p:grpSpPr>
          <a:xfrm>
            <a:off x="6193300" y="6433562"/>
            <a:ext cx="1439476" cy="143436"/>
            <a:chOff x="6193300" y="6418959"/>
            <a:chExt cx="1439476" cy="14343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7FA09CE-C49F-4A30-66DE-5164E608331D}"/>
                </a:ext>
              </a:extLst>
            </p:cNvPr>
            <p:cNvSpPr/>
            <p:nvPr/>
          </p:nvSpPr>
          <p:spPr>
            <a:xfrm>
              <a:off x="6193300" y="6418959"/>
              <a:ext cx="143436" cy="143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5" name="Rectangle 140">
              <a:extLst>
                <a:ext uri="{FF2B5EF4-FFF2-40B4-BE49-F238E27FC236}">
                  <a16:creationId xmlns:a16="http://schemas.microsoft.com/office/drawing/2014/main" id="{5B7ADA07-5407-24A4-E724-E0C7D996B20F}"/>
                </a:ext>
              </a:extLst>
            </p:cNvPr>
            <p:cNvSpPr/>
            <p:nvPr/>
          </p:nvSpPr>
          <p:spPr>
            <a:xfrm>
              <a:off x="6399016" y="6418959"/>
              <a:ext cx="1233760" cy="143435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en-US" sz="1000">
                  <a:solidFill>
                    <a:schemeClr val="tx1"/>
                  </a:solidFill>
                </a:rPr>
                <a:t>Boosting Dynamics</a:t>
              </a:r>
            </a:p>
          </p:txBody>
        </p:sp>
      </p:grpSp>
      <p:graphicFrame>
        <p:nvGraphicFramePr>
          <p:cNvPr id="28" name="Tabelle 27">
            <a:extLst>
              <a:ext uri="{FF2B5EF4-FFF2-40B4-BE49-F238E27FC236}">
                <a16:creationId xmlns:a16="http://schemas.microsoft.com/office/drawing/2014/main" id="{C0C32D49-A5EB-741F-DD9C-C8056D390180}"/>
              </a:ext>
            </a:extLst>
          </p:cNvPr>
          <p:cNvGraphicFramePr>
            <a:graphicFrameLocks noGrp="1"/>
          </p:cNvGraphicFramePr>
          <p:nvPr/>
        </p:nvGraphicFramePr>
        <p:xfrm>
          <a:off x="190500" y="3244532"/>
          <a:ext cx="11807825" cy="365760"/>
        </p:xfrm>
        <a:graphic>
          <a:graphicData uri="http://schemas.openxmlformats.org/drawingml/2006/table">
            <a:tbl>
              <a:tblPr/>
              <a:tblGrid>
                <a:gridCol w="11807825">
                  <a:extLst>
                    <a:ext uri="{9D8B030D-6E8A-4147-A177-3AD203B41FA5}">
                      <a16:colId xmlns:a16="http://schemas.microsoft.com/office/drawing/2014/main" val="42799737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59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09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F215-DDA8-EAF9-1ABA-20236D79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2CF1CB-9284-6255-75B3-39A96E99707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2288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3" imgW="7772400" imgH="10058400" progId="TCLayout.ActiveDocument.1">
                  <p:embed/>
                </p:oleObj>
              </mc:Choice>
              <mc:Fallback>
                <p:oleObj name="think-cell Folie" r:id="rId6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2CF1CB-9284-6255-75B3-39A96E997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B357A216-378C-9FA1-E810-D195A6B54885}"/>
              </a:ext>
            </a:extLst>
          </p:cNvPr>
          <p:cNvPicPr>
            <a:picLocks noChangeAspect="1"/>
          </p:cNvPicPr>
          <p:nvPr/>
        </p:nvPicPr>
        <p:blipFill>
          <a:blip r:embed="rId65"/>
          <a:srcRect l="25848" r="12896"/>
          <a:stretch>
            <a:fillRect/>
          </a:stretch>
        </p:blipFill>
        <p:spPr>
          <a:xfrm>
            <a:off x="1623171" y="1270821"/>
            <a:ext cx="2461250" cy="489242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E72989-0816-4FEF-89C4-A489210E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Model Evaluation: </a:t>
            </a:r>
            <a:r>
              <a:rPr lang="de-DE" err="1"/>
              <a:t>Figures</a:t>
            </a:r>
            <a:r>
              <a:rPr lang="de-DE"/>
              <a:t> </a:t>
            </a:r>
          </a:p>
        </p:txBody>
      </p:sp>
      <p:pic>
        <p:nvPicPr>
          <p:cNvPr id="97" name="Grafik 96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A54B373A-E567-DB70-B659-0C696F6E7036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726674" y="1300626"/>
            <a:ext cx="622675" cy="596900"/>
          </a:xfrm>
          <a:prstGeom prst="rect">
            <a:avLst/>
          </a:prstGeom>
        </p:spPr>
      </p:pic>
      <p:pic>
        <p:nvPicPr>
          <p:cNvPr id="3" name="Grafik 2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E922F6C6-EE76-D66E-2089-C93AA926415A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440FEAB-B2AF-93AD-3324-1B7C9B292E78}"/>
              </a:ext>
            </a:extLst>
          </p:cNvPr>
          <p:cNvPicPr>
            <a:picLocks noChangeAspect="1"/>
          </p:cNvPicPr>
          <p:nvPr/>
        </p:nvPicPr>
        <p:blipFill>
          <a:blip r:embed="rId67"/>
          <a:srcRect l="25606" r="11034"/>
          <a:stretch>
            <a:fillRect/>
          </a:stretch>
        </p:blipFill>
        <p:spPr>
          <a:xfrm>
            <a:off x="5111064" y="1270821"/>
            <a:ext cx="2545838" cy="48924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2FFB874-5115-2ED6-DB33-1B872CDD9E24}"/>
              </a:ext>
            </a:extLst>
          </p:cNvPr>
          <p:cNvPicPr>
            <a:picLocks noChangeAspect="1"/>
          </p:cNvPicPr>
          <p:nvPr/>
        </p:nvPicPr>
        <p:blipFill>
          <a:blip r:embed="rId68"/>
          <a:srcRect l="25672"/>
          <a:stretch>
            <a:fillRect/>
          </a:stretch>
        </p:blipFill>
        <p:spPr>
          <a:xfrm>
            <a:off x="9093446" y="1270821"/>
            <a:ext cx="2978773" cy="4892421"/>
          </a:xfrm>
          <a:prstGeom prst="rect">
            <a:avLst/>
          </a:prstGeom>
        </p:spPr>
      </p:pic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CB0029FB-CC39-30FA-E1B6-EF025BCEFAE1}"/>
              </a:ext>
            </a:extLst>
          </p:cNvPr>
          <p:cNvGrpSpPr/>
          <p:nvPr/>
        </p:nvGrpSpPr>
        <p:grpSpPr>
          <a:xfrm>
            <a:off x="144000" y="1492316"/>
            <a:ext cx="2833372" cy="4263006"/>
            <a:chOff x="144000" y="1492316"/>
            <a:chExt cx="2833372" cy="4263006"/>
          </a:xfrm>
        </p:grpSpPr>
        <p:sp>
          <p:nvSpPr>
            <p:cNvPr id="10" name="Subtitle 2">
              <a:extLst>
                <a:ext uri="{FF2B5EF4-FFF2-40B4-BE49-F238E27FC236}">
                  <a16:creationId xmlns:a16="http://schemas.microsoft.com/office/drawing/2014/main" id="{D4E88D1D-4E7E-772C-544D-D5D6371990CA}"/>
                </a:ext>
              </a:extLst>
            </p:cNvPr>
            <p:cNvSpPr txBox="1">
              <a:spLocks/>
            </p:cNvSpPr>
            <p:nvPr>
              <p:custDataLst>
                <p:tags r:id="rId42"/>
              </p:custDataLst>
            </p:nvPr>
          </p:nvSpPr>
          <p:spPr>
            <a:xfrm>
              <a:off x="144000" y="149231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Liabilities / Assets </a:t>
              </a:r>
            </a:p>
          </p:txBody>
        </p:sp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79633953-38C1-FF51-F305-C5555F7A5310}"/>
                </a:ext>
              </a:extLst>
            </p:cNvPr>
            <p:cNvSpPr txBox="1">
              <a:spLocks/>
            </p:cNvSpPr>
            <p:nvPr>
              <p:custDataLst>
                <p:tags r:id="rId43"/>
              </p:custDataLst>
            </p:nvPr>
          </p:nvSpPr>
          <p:spPr>
            <a:xfrm>
              <a:off x="144000" y="1706965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EBIT  / Capital</a:t>
              </a:r>
            </a:p>
          </p:txBody>
        </p:sp>
        <p:sp>
          <p:nvSpPr>
            <p:cNvPr id="12" name="Subtitle 2">
              <a:extLst>
                <a:ext uri="{FF2B5EF4-FFF2-40B4-BE49-F238E27FC236}">
                  <a16:creationId xmlns:a16="http://schemas.microsoft.com/office/drawing/2014/main" id="{1CD3F196-4A15-A3CE-9DD8-61082ACAE6B1}"/>
                </a:ext>
              </a:extLst>
            </p:cNvPr>
            <p:cNvSpPr txBox="1">
              <a:spLocks/>
            </p:cNvSpPr>
            <p:nvPr>
              <p:custDataLst>
                <p:tags r:id="rId44"/>
              </p:custDataLst>
            </p:nvPr>
          </p:nvSpPr>
          <p:spPr>
            <a:xfrm>
              <a:off x="144000" y="1921614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EBITDA / Assets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7731DB72-82C7-0A12-2CEF-F61E01589829}"/>
                </a:ext>
              </a:extLst>
            </p:cNvPr>
            <p:cNvSpPr txBox="1">
              <a:spLocks/>
            </p:cNvSpPr>
            <p:nvPr>
              <p:custDataLst>
                <p:tags r:id="rId45"/>
              </p:custDataLst>
            </p:nvPr>
          </p:nvSpPr>
          <p:spPr>
            <a:xfrm>
              <a:off x="144000" y="2136263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Log of Assets</a:t>
              </a:r>
              <a:r>
                <a:rPr lang="de-DE" sz="1200">
                  <a:latin typeface="+mn-lt"/>
                  <a:cs typeface="Times New Roman" panose="02020603050405020304" pitchFamily="18" charset="0"/>
                </a:rPr>
                <a:t> </a:t>
              </a:r>
              <a:endPara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6B6BE3BE-316A-BD15-138B-09B23671B119}"/>
                </a:ext>
              </a:extLst>
            </p:cNvPr>
            <p:cNvSpPr txBox="1">
              <a:spLocks/>
            </p:cNvSpPr>
            <p:nvPr>
              <p:custDataLst>
                <p:tags r:id="rId46"/>
              </p:custDataLst>
            </p:nvPr>
          </p:nvSpPr>
          <p:spPr>
            <a:xfrm>
              <a:off x="144000" y="2350912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Interest Expense / Assets </a:t>
              </a:r>
            </a:p>
          </p:txBody>
        </p:sp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6B857549-6F2B-DCD9-FADB-09CE1EB7BD58}"/>
                </a:ext>
              </a:extLst>
            </p:cNvPr>
            <p:cNvSpPr txBox="1">
              <a:spLocks/>
            </p:cNvSpPr>
            <p:nvPr>
              <p:custDataLst>
                <p:tags r:id="rId47"/>
              </p:custDataLst>
            </p:nvPr>
          </p:nvSpPr>
          <p:spPr>
            <a:xfrm>
              <a:off x="144000" y="2565561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Interest Expense / EBITDA </a:t>
              </a: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A7013510-25FC-277D-6911-9BC242BB3BF0}"/>
                </a:ext>
              </a:extLst>
            </p:cNvPr>
            <p:cNvSpPr txBox="1">
              <a:spLocks/>
            </p:cNvSpPr>
            <p:nvPr>
              <p:custDataLst>
                <p:tags r:id="rId48"/>
              </p:custDataLst>
            </p:nvPr>
          </p:nvSpPr>
          <p:spPr>
            <a:xfrm>
              <a:off x="144000" y="2780210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Short-Term Debt / Assets</a:t>
              </a:r>
            </a:p>
          </p:txBody>
        </p:sp>
        <p:sp>
          <p:nvSpPr>
            <p:cNvPr id="17" name="Subtitle 2">
              <a:extLst>
                <a:ext uri="{FF2B5EF4-FFF2-40B4-BE49-F238E27FC236}">
                  <a16:creationId xmlns:a16="http://schemas.microsoft.com/office/drawing/2014/main" id="{2929B2CA-7836-9430-0990-733AC8CD27BD}"/>
                </a:ext>
              </a:extLst>
            </p:cNvPr>
            <p:cNvSpPr txBox="1">
              <a:spLocks/>
            </p:cNvSpPr>
            <p:nvPr>
              <p:custDataLst>
                <p:tags r:id="rId49"/>
              </p:custDataLst>
            </p:nvPr>
          </p:nvSpPr>
          <p:spPr>
            <a:xfrm>
              <a:off x="144000" y="2994859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Receivables / Current Assets 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981D6454-0A31-521A-85DF-4AE3F60F67E6}"/>
                </a:ext>
              </a:extLst>
            </p:cNvPr>
            <p:cNvSpPr txBox="1">
              <a:spLocks/>
            </p:cNvSpPr>
            <p:nvPr>
              <p:custDataLst>
                <p:tags r:id="rId50"/>
              </p:custDataLst>
            </p:nvPr>
          </p:nvSpPr>
          <p:spPr>
            <a:xfrm>
              <a:off x="144000" y="3209508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Log of Assets (t-1) </a:t>
              </a:r>
            </a:p>
          </p:txBody>
        </p:sp>
        <p:sp>
          <p:nvSpPr>
            <p:cNvPr id="19" name="Subtitle 2">
              <a:extLst>
                <a:ext uri="{FF2B5EF4-FFF2-40B4-BE49-F238E27FC236}">
                  <a16:creationId xmlns:a16="http://schemas.microsoft.com/office/drawing/2014/main" id="{441AED79-4F95-C83D-0A62-B61F0AFCDEFB}"/>
                </a:ext>
              </a:extLst>
            </p:cNvPr>
            <p:cNvSpPr txBox="1">
              <a:spLocks/>
            </p:cNvSpPr>
            <p:nvPr>
              <p:custDataLst>
                <p:tags r:id="rId51"/>
              </p:custDataLst>
            </p:nvPr>
          </p:nvSpPr>
          <p:spPr>
            <a:xfrm>
              <a:off x="144000" y="3424157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Current Ratio</a:t>
              </a:r>
              <a:r>
                <a:rPr lang="de-DE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 </a:t>
              </a:r>
              <a:endPara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877904D5-1A9F-8122-4F42-272967A7DBE9}"/>
                </a:ext>
              </a:extLst>
            </p:cNvPr>
            <p:cNvSpPr txBox="1">
              <a:spLocks/>
            </p:cNvSpPr>
            <p:nvPr>
              <p:custDataLst>
                <p:tags r:id="rId52"/>
              </p:custDataLst>
            </p:nvPr>
          </p:nvSpPr>
          <p:spPr>
            <a:xfrm>
              <a:off x="144000" y="363880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Current Ratio (t-1)</a:t>
              </a:r>
            </a:p>
          </p:txBody>
        </p:sp>
        <p:sp>
          <p:nvSpPr>
            <p:cNvPr id="21" name="Subtitle 2">
              <a:extLst>
                <a:ext uri="{FF2B5EF4-FFF2-40B4-BE49-F238E27FC236}">
                  <a16:creationId xmlns:a16="http://schemas.microsoft.com/office/drawing/2014/main" id="{67D0439A-92D3-0319-8EB5-A9957750F213}"/>
                </a:ext>
              </a:extLst>
            </p:cNvPr>
            <p:cNvSpPr txBox="1">
              <a:spLocks/>
            </p:cNvSpPr>
            <p:nvPr>
              <p:custDataLst>
                <p:tags r:id="rId53"/>
              </p:custDataLst>
            </p:nvPr>
          </p:nvSpPr>
          <p:spPr>
            <a:xfrm>
              <a:off x="144000" y="3853455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Free Cashflow / Total Debt</a:t>
              </a:r>
            </a:p>
          </p:txBody>
        </p:sp>
        <p:sp>
          <p:nvSpPr>
            <p:cNvPr id="22" name="Subtitle 2">
              <a:extLst>
                <a:ext uri="{FF2B5EF4-FFF2-40B4-BE49-F238E27FC236}">
                  <a16:creationId xmlns:a16="http://schemas.microsoft.com/office/drawing/2014/main" id="{49FF69B2-D263-A18A-9765-5708E5A17AB4}"/>
                </a:ext>
              </a:extLst>
            </p:cNvPr>
            <p:cNvSpPr txBox="1">
              <a:spLocks/>
            </p:cNvSpPr>
            <p:nvPr>
              <p:custDataLst>
                <p:tags r:id="rId54"/>
              </p:custDataLst>
            </p:nvPr>
          </p:nvSpPr>
          <p:spPr>
            <a:xfrm>
              <a:off x="144000" y="4068104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Cash /Assets</a:t>
              </a:r>
            </a:p>
          </p:txBody>
        </p:sp>
        <p:sp>
          <p:nvSpPr>
            <p:cNvPr id="23" name="Subtitle 2">
              <a:extLst>
                <a:ext uri="{FF2B5EF4-FFF2-40B4-BE49-F238E27FC236}">
                  <a16:creationId xmlns:a16="http://schemas.microsoft.com/office/drawing/2014/main" id="{678270BA-8481-9325-B533-4C1C8DE40142}"/>
                </a:ext>
              </a:extLst>
            </p:cNvPr>
            <p:cNvSpPr txBox="1">
              <a:spLocks/>
            </p:cNvSpPr>
            <p:nvPr>
              <p:custDataLst>
                <p:tags r:id="rId55"/>
              </p:custDataLst>
            </p:nvPr>
          </p:nvSpPr>
          <p:spPr>
            <a:xfrm>
              <a:off x="144000" y="4282753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Liabilities / Assets (t-1)</a:t>
              </a:r>
            </a:p>
          </p:txBody>
        </p:sp>
        <p:sp>
          <p:nvSpPr>
            <p:cNvPr id="24" name="Subtitle 2">
              <a:extLst>
                <a:ext uri="{FF2B5EF4-FFF2-40B4-BE49-F238E27FC236}">
                  <a16:creationId xmlns:a16="http://schemas.microsoft.com/office/drawing/2014/main" id="{C370906A-FC06-BFE7-4566-453C461CD67E}"/>
                </a:ext>
              </a:extLst>
            </p:cNvPr>
            <p:cNvSpPr txBox="1">
              <a:spLocks/>
            </p:cNvSpPr>
            <p:nvPr>
              <p:custDataLst>
                <p:tags r:id="rId56"/>
              </p:custDataLst>
            </p:nvPr>
          </p:nvSpPr>
          <p:spPr>
            <a:xfrm>
              <a:off x="144000" y="4497402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Net Working Capital / Assets</a:t>
              </a:r>
            </a:p>
          </p:txBody>
        </p:sp>
        <p:sp>
          <p:nvSpPr>
            <p:cNvPr id="25" name="Subtitle 2">
              <a:extLst>
                <a:ext uri="{FF2B5EF4-FFF2-40B4-BE49-F238E27FC236}">
                  <a16:creationId xmlns:a16="http://schemas.microsoft.com/office/drawing/2014/main" id="{9F55B419-78E5-05D9-3964-F8CEE3A1850B}"/>
                </a:ext>
              </a:extLst>
            </p:cNvPr>
            <p:cNvSpPr txBox="1">
              <a:spLocks/>
            </p:cNvSpPr>
            <p:nvPr>
              <p:custDataLst>
                <p:tags r:id="rId57"/>
              </p:custDataLst>
            </p:nvPr>
          </p:nvSpPr>
          <p:spPr>
            <a:xfrm>
              <a:off x="144000" y="4712051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Short-Term Debt / Total Debt</a:t>
              </a:r>
            </a:p>
          </p:txBody>
        </p:sp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3A380D06-39B0-7CA2-50E7-B370F74EBEC3}"/>
                </a:ext>
              </a:extLst>
            </p:cNvPr>
            <p:cNvSpPr txBox="1">
              <a:spLocks/>
            </p:cNvSpPr>
            <p:nvPr>
              <p:custDataLst>
                <p:tags r:id="rId58"/>
              </p:custDataLst>
            </p:nvPr>
          </p:nvSpPr>
          <p:spPr>
            <a:xfrm>
              <a:off x="144000" y="4926700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Debt / EBITDA</a:t>
              </a:r>
            </a:p>
          </p:txBody>
        </p:sp>
        <p:sp>
          <p:nvSpPr>
            <p:cNvPr id="27" name="Subtitle 2">
              <a:extLst>
                <a:ext uri="{FF2B5EF4-FFF2-40B4-BE49-F238E27FC236}">
                  <a16:creationId xmlns:a16="http://schemas.microsoft.com/office/drawing/2014/main" id="{F076443A-FD1B-43B4-9DA7-030AA62F3C75}"/>
                </a:ext>
              </a:extLst>
            </p:cNvPr>
            <p:cNvSpPr txBox="1">
              <a:spLocks/>
            </p:cNvSpPr>
            <p:nvPr>
              <p:custDataLst>
                <p:tags r:id="rId59"/>
              </p:custDataLst>
            </p:nvPr>
          </p:nvSpPr>
          <p:spPr>
            <a:xfrm>
              <a:off x="144000" y="5141349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Operating Cashflow / Total Debt</a:t>
              </a:r>
            </a:p>
          </p:txBody>
        </p:sp>
        <p:sp>
          <p:nvSpPr>
            <p:cNvPr id="28" name="Subtitle 2">
              <a:extLst>
                <a:ext uri="{FF2B5EF4-FFF2-40B4-BE49-F238E27FC236}">
                  <a16:creationId xmlns:a16="http://schemas.microsoft.com/office/drawing/2014/main" id="{A96669BF-15CC-72B8-2B40-3DA3B9CC1A68}"/>
                </a:ext>
              </a:extLst>
            </p:cNvPr>
            <p:cNvSpPr txBox="1">
              <a:spLocks/>
            </p:cNvSpPr>
            <p:nvPr>
              <p:custDataLst>
                <p:tags r:id="rId60"/>
              </p:custDataLst>
            </p:nvPr>
          </p:nvSpPr>
          <p:spPr>
            <a:xfrm>
              <a:off x="144000" y="5355998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Debt / EBITDA (t-1)</a:t>
              </a:r>
            </a:p>
          </p:txBody>
        </p:sp>
        <p:sp>
          <p:nvSpPr>
            <p:cNvPr id="29" name="Subtitle 2">
              <a:extLst>
                <a:ext uri="{FF2B5EF4-FFF2-40B4-BE49-F238E27FC236}">
                  <a16:creationId xmlns:a16="http://schemas.microsoft.com/office/drawing/2014/main" id="{7A6DF75D-85F5-6D47-763D-D0DE3AA7C4F3}"/>
                </a:ext>
              </a:extLst>
            </p:cNvPr>
            <p:cNvSpPr txBox="1">
              <a:spLocks/>
            </p:cNvSpPr>
            <p:nvPr>
              <p:custDataLst>
                <p:tags r:id="rId61"/>
              </p:custDataLst>
            </p:nvPr>
          </p:nvSpPr>
          <p:spPr>
            <a:xfrm>
              <a:off x="144000" y="557065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Inventories / Current Assets</a:t>
              </a:r>
            </a:p>
          </p:txBody>
        </p:sp>
      </p:grpSp>
      <p:sp>
        <p:nvSpPr>
          <p:cNvPr id="76" name="Textplatzhalter 9">
            <a:extLst>
              <a:ext uri="{FF2B5EF4-FFF2-40B4-BE49-F238E27FC236}">
                <a16:creationId xmlns:a16="http://schemas.microsoft.com/office/drawing/2014/main" id="{DD325158-689F-E844-AD0C-25A602151A6E}"/>
              </a:ext>
            </a:extLst>
          </p:cNvPr>
          <p:cNvSpPr txBox="1">
            <a:spLocks/>
          </p:cNvSpPr>
          <p:nvPr/>
        </p:nvSpPr>
        <p:spPr bwMode="gray">
          <a:xfrm>
            <a:off x="1696645" y="903917"/>
            <a:ext cx="2282676" cy="43088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Distress Proxy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Negative Book Equity</a:t>
            </a:r>
          </a:p>
        </p:txBody>
      </p:sp>
      <p:sp>
        <p:nvSpPr>
          <p:cNvPr id="77" name="Textplatzhalter 9">
            <a:extLst>
              <a:ext uri="{FF2B5EF4-FFF2-40B4-BE49-F238E27FC236}">
                <a16:creationId xmlns:a16="http://schemas.microsoft.com/office/drawing/2014/main" id="{568EC7C8-A9C8-316A-2803-ADA6F2046A7B}"/>
              </a:ext>
            </a:extLst>
          </p:cNvPr>
          <p:cNvSpPr txBox="1">
            <a:spLocks/>
          </p:cNvSpPr>
          <p:nvPr/>
        </p:nvSpPr>
        <p:spPr bwMode="gray">
          <a:xfrm>
            <a:off x="5364599" y="903916"/>
            <a:ext cx="2282676" cy="43088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Distress Proxy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Negative FCF and Net Income</a:t>
            </a:r>
          </a:p>
        </p:txBody>
      </p:sp>
      <p:sp>
        <p:nvSpPr>
          <p:cNvPr id="78" name="Textplatzhalter 9">
            <a:extLst>
              <a:ext uri="{FF2B5EF4-FFF2-40B4-BE49-F238E27FC236}">
                <a16:creationId xmlns:a16="http://schemas.microsoft.com/office/drawing/2014/main" id="{12C89767-5438-589E-4CE3-0D2775F9350A}"/>
              </a:ext>
            </a:extLst>
          </p:cNvPr>
          <p:cNvSpPr txBox="1">
            <a:spLocks/>
          </p:cNvSpPr>
          <p:nvPr/>
        </p:nvSpPr>
        <p:spPr bwMode="gray">
          <a:xfrm>
            <a:off x="9202412" y="903915"/>
            <a:ext cx="2282676" cy="43088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Distress Proxy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S&amp;P highly Leveraged 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E8E38630-7EE1-D54E-2540-AD2157780A1C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3736408" y="1492316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EBITDA / Assets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253250-E413-F792-B158-C9DFC72B1474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736408" y="2136263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Total Liabilities / Assets </a:t>
            </a:r>
          </a:p>
        </p:txBody>
      </p:sp>
      <p:sp>
        <p:nvSpPr>
          <p:cNvPr id="92" name="Subtitle 2">
            <a:extLst>
              <a:ext uri="{FF2B5EF4-FFF2-40B4-BE49-F238E27FC236}">
                <a16:creationId xmlns:a16="http://schemas.microsoft.com/office/drawing/2014/main" id="{32786785-F8F3-D5EE-0612-EEF3B64D15C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736408" y="1706965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Retained Earnings / Assets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DE925324-1E61-E244-0F28-F205CF1BF38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736408" y="1921614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Log of Assets</a:t>
            </a:r>
            <a:r>
              <a:rPr lang="de-DE" sz="1200">
                <a:latin typeface="+mn-lt"/>
                <a:cs typeface="Times New Roman" panose="02020603050405020304" pitchFamily="18" charset="0"/>
              </a:rPr>
              <a:t> </a:t>
            </a:r>
            <a:endParaRPr lang="en-US" sz="120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2" name="Subtitle 2">
            <a:extLst>
              <a:ext uri="{FF2B5EF4-FFF2-40B4-BE49-F238E27FC236}">
                <a16:creationId xmlns:a16="http://schemas.microsoft.com/office/drawing/2014/main" id="{F0F8EFEB-6A3A-007B-9DB8-3198E3E9285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736408" y="2565561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Receivables / Current Assets </a:t>
            </a:r>
          </a:p>
        </p:txBody>
      </p:sp>
      <p:sp>
        <p:nvSpPr>
          <p:cNvPr id="80" name="Subtitle 2">
            <a:extLst>
              <a:ext uri="{FF2B5EF4-FFF2-40B4-BE49-F238E27FC236}">
                <a16:creationId xmlns:a16="http://schemas.microsoft.com/office/drawing/2014/main" id="{CC4D358E-1CD7-6EA6-DAC0-B127E238AF8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736408" y="2780210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Interest Expense / EBITDA 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C0AE9B45-EDCA-A626-C108-21616626354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736408" y="2350912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EBIT  / Capital</a:t>
            </a:r>
          </a:p>
        </p:txBody>
      </p:sp>
      <p:sp>
        <p:nvSpPr>
          <p:cNvPr id="89" name="Subtitle 2">
            <a:extLst>
              <a:ext uri="{FF2B5EF4-FFF2-40B4-BE49-F238E27FC236}">
                <a16:creationId xmlns:a16="http://schemas.microsoft.com/office/drawing/2014/main" id="{321CA925-0D21-BAE3-8B42-CACAC0F06DF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736408" y="3209508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Net Working Capital / Assets</a:t>
            </a:r>
          </a:p>
        </p:txBody>
      </p:sp>
      <p:sp>
        <p:nvSpPr>
          <p:cNvPr id="91" name="Subtitle 2">
            <a:extLst>
              <a:ext uri="{FF2B5EF4-FFF2-40B4-BE49-F238E27FC236}">
                <a16:creationId xmlns:a16="http://schemas.microsoft.com/office/drawing/2014/main" id="{2C881144-CDF4-7815-21F6-5B1AD66C8BE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3736408" y="3424157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Total Debt / EBITDA</a:t>
            </a:r>
          </a:p>
        </p:txBody>
      </p:sp>
      <p:sp>
        <p:nvSpPr>
          <p:cNvPr id="90" name="Subtitle 2">
            <a:extLst>
              <a:ext uri="{FF2B5EF4-FFF2-40B4-BE49-F238E27FC236}">
                <a16:creationId xmlns:a16="http://schemas.microsoft.com/office/drawing/2014/main" id="{5E3D7B3E-4A0C-1D43-74EB-2C58891A6AE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3736408" y="3638806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Short-Term Debt / Total Debt</a:t>
            </a:r>
          </a:p>
        </p:txBody>
      </p:sp>
      <p:sp>
        <p:nvSpPr>
          <p:cNvPr id="86" name="Subtitle 2">
            <a:extLst>
              <a:ext uri="{FF2B5EF4-FFF2-40B4-BE49-F238E27FC236}">
                <a16:creationId xmlns:a16="http://schemas.microsoft.com/office/drawing/2014/main" id="{FD819B37-4DE4-31EE-AEB5-083F53E4A00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736408" y="2994859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Repurchases / Assets</a:t>
            </a:r>
          </a:p>
        </p:txBody>
      </p:sp>
      <p:sp>
        <p:nvSpPr>
          <p:cNvPr id="79" name="Subtitle 2">
            <a:extLst>
              <a:ext uri="{FF2B5EF4-FFF2-40B4-BE49-F238E27FC236}">
                <a16:creationId xmlns:a16="http://schemas.microsoft.com/office/drawing/2014/main" id="{5F692F52-E247-F76E-E239-4023373AA257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3736408" y="3853455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Interest Expense / Assets </a:t>
            </a:r>
          </a:p>
        </p:txBody>
      </p:sp>
      <p:sp>
        <p:nvSpPr>
          <p:cNvPr id="87" name="Subtitle 2">
            <a:extLst>
              <a:ext uri="{FF2B5EF4-FFF2-40B4-BE49-F238E27FC236}">
                <a16:creationId xmlns:a16="http://schemas.microsoft.com/office/drawing/2014/main" id="{95E3794B-7518-55BB-0258-600C315A867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3736408" y="4068104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Net Working Capital / Asset (t-1)</a:t>
            </a:r>
          </a:p>
        </p:txBody>
      </p:sp>
      <p:sp>
        <p:nvSpPr>
          <p:cNvPr id="88" name="Subtitle 2">
            <a:extLst>
              <a:ext uri="{FF2B5EF4-FFF2-40B4-BE49-F238E27FC236}">
                <a16:creationId xmlns:a16="http://schemas.microsoft.com/office/drawing/2014/main" id="{899A6B11-5630-0FEA-656B-E574AC81B37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736408" y="4282753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EBITDA/ Assets (t-1)</a:t>
            </a:r>
          </a:p>
        </p:txBody>
      </p:sp>
      <p:sp>
        <p:nvSpPr>
          <p:cNvPr id="83" name="Subtitle 2">
            <a:extLst>
              <a:ext uri="{FF2B5EF4-FFF2-40B4-BE49-F238E27FC236}">
                <a16:creationId xmlns:a16="http://schemas.microsoft.com/office/drawing/2014/main" id="{D7526F31-FBD6-5CF3-D883-2B03B3C3777A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736408" y="4497402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Log of Assets (t-1) </a:t>
            </a:r>
          </a:p>
        </p:txBody>
      </p:sp>
      <p:sp>
        <p:nvSpPr>
          <p:cNvPr id="85" name="Subtitle 2">
            <a:extLst>
              <a:ext uri="{FF2B5EF4-FFF2-40B4-BE49-F238E27FC236}">
                <a16:creationId xmlns:a16="http://schemas.microsoft.com/office/drawing/2014/main" id="{B9F22F13-C7B9-F238-CC99-502D919FEF8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3736408" y="4712051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Total Liabilities / Assets</a:t>
            </a:r>
          </a:p>
        </p:txBody>
      </p:sp>
      <p:sp>
        <p:nvSpPr>
          <p:cNvPr id="84" name="Subtitle 2">
            <a:extLst>
              <a:ext uri="{FF2B5EF4-FFF2-40B4-BE49-F238E27FC236}">
                <a16:creationId xmlns:a16="http://schemas.microsoft.com/office/drawing/2014/main" id="{71DDA4F9-DE0F-DC1A-3EFC-38F3551F349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3736408" y="4926700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Repurchases / Assets (t-1)</a:t>
            </a:r>
          </a:p>
        </p:txBody>
      </p:sp>
      <p:sp>
        <p:nvSpPr>
          <p:cNvPr id="93" name="Subtitle 2">
            <a:extLst>
              <a:ext uri="{FF2B5EF4-FFF2-40B4-BE49-F238E27FC236}">
                <a16:creationId xmlns:a16="http://schemas.microsoft.com/office/drawing/2014/main" id="{D0223AD2-BFD6-585C-3D9F-49E2AD24EAE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3736408" y="5355998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Common Equity / Assets</a:t>
            </a:r>
          </a:p>
        </p:txBody>
      </p:sp>
      <p:sp>
        <p:nvSpPr>
          <p:cNvPr id="94" name="Subtitle 2">
            <a:extLst>
              <a:ext uri="{FF2B5EF4-FFF2-40B4-BE49-F238E27FC236}">
                <a16:creationId xmlns:a16="http://schemas.microsoft.com/office/drawing/2014/main" id="{B706846E-5544-D16A-03DA-8EBC6D48CB76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3736408" y="5570656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Cash / Assets (t-1)</a:t>
            </a:r>
          </a:p>
        </p:txBody>
      </p:sp>
      <p:sp>
        <p:nvSpPr>
          <p:cNvPr id="81" name="Subtitle 2">
            <a:extLst>
              <a:ext uri="{FF2B5EF4-FFF2-40B4-BE49-F238E27FC236}">
                <a16:creationId xmlns:a16="http://schemas.microsoft.com/office/drawing/2014/main" id="{DD845F8D-90D2-1B62-E2AD-C4C0111527DA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3736408" y="5141349"/>
            <a:ext cx="3221456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Interest Expense / Assets (t-1)</a:t>
            </a:r>
          </a:p>
        </p:txBody>
      </p: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2EC05A94-C289-7451-A505-D65C6C812965}"/>
              </a:ext>
            </a:extLst>
          </p:cNvPr>
          <p:cNvGrpSpPr/>
          <p:nvPr/>
        </p:nvGrpSpPr>
        <p:grpSpPr>
          <a:xfrm>
            <a:off x="7536552" y="1492316"/>
            <a:ext cx="4403199" cy="4263006"/>
            <a:chOff x="296399" y="1644716"/>
            <a:chExt cx="3872752" cy="4263006"/>
          </a:xfrm>
        </p:grpSpPr>
        <p:sp>
          <p:nvSpPr>
            <p:cNvPr id="99" name="Subtitle 2">
              <a:extLst>
                <a:ext uri="{FF2B5EF4-FFF2-40B4-BE49-F238E27FC236}">
                  <a16:creationId xmlns:a16="http://schemas.microsoft.com/office/drawing/2014/main" id="{C71C7870-8164-1F1A-CEC7-FD75A93C2B4B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96400" y="164471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Liabilities / Assets </a:t>
              </a:r>
            </a:p>
          </p:txBody>
        </p:sp>
        <p:sp>
          <p:nvSpPr>
            <p:cNvPr id="100" name="Subtitle 2">
              <a:extLst>
                <a:ext uri="{FF2B5EF4-FFF2-40B4-BE49-F238E27FC236}">
                  <a16:creationId xmlns:a16="http://schemas.microsoft.com/office/drawing/2014/main" id="{4C24DD9C-BC22-649D-0886-4DF5D75F9330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296400" y="1859365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Common Equity / Assets</a:t>
              </a:r>
            </a:p>
          </p:txBody>
        </p:sp>
        <p:sp>
          <p:nvSpPr>
            <p:cNvPr id="101" name="Subtitle 2">
              <a:extLst>
                <a:ext uri="{FF2B5EF4-FFF2-40B4-BE49-F238E27FC236}">
                  <a16:creationId xmlns:a16="http://schemas.microsoft.com/office/drawing/2014/main" id="{7D7EEFD8-C363-17C5-F04D-9707A61F86D0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296400" y="2074014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EBIT  / Capital</a:t>
              </a:r>
            </a:p>
          </p:txBody>
        </p:sp>
        <p:sp>
          <p:nvSpPr>
            <p:cNvPr id="102" name="Subtitle 2">
              <a:extLst>
                <a:ext uri="{FF2B5EF4-FFF2-40B4-BE49-F238E27FC236}">
                  <a16:creationId xmlns:a16="http://schemas.microsoft.com/office/drawing/2014/main" id="{5F36654C-506A-8CBF-66E6-FE1A489123F4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296400" y="2288663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Interest Expense / Assets </a:t>
              </a:r>
            </a:p>
          </p:txBody>
        </p:sp>
        <p:sp>
          <p:nvSpPr>
            <p:cNvPr id="103" name="Subtitle 2">
              <a:extLst>
                <a:ext uri="{FF2B5EF4-FFF2-40B4-BE49-F238E27FC236}">
                  <a16:creationId xmlns:a16="http://schemas.microsoft.com/office/drawing/2014/main" id="{738ACA05-7AC3-5F18-F9F9-A2C58D6C1462}"/>
                </a:ext>
              </a:extLst>
            </p:cNvPr>
            <p:cNvSpPr txBox="1">
              <a:spLocks/>
            </p:cNvSpPr>
            <p:nvPr>
              <p:custDataLst>
                <p:tags r:id="rId26"/>
              </p:custDataLst>
            </p:nvPr>
          </p:nvSpPr>
          <p:spPr>
            <a:xfrm>
              <a:off x="296400" y="2503312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Net Income / Assets </a:t>
              </a:r>
            </a:p>
          </p:txBody>
        </p:sp>
        <p:sp>
          <p:nvSpPr>
            <p:cNvPr id="104" name="Subtitle 2">
              <a:extLst>
                <a:ext uri="{FF2B5EF4-FFF2-40B4-BE49-F238E27FC236}">
                  <a16:creationId xmlns:a16="http://schemas.microsoft.com/office/drawing/2014/main" id="{2DEAB394-CAE1-2AF7-9C14-E14F376D7CE9}"/>
                </a:ext>
              </a:extLst>
            </p:cNvPr>
            <p:cNvSpPr txBox="1">
              <a:spLocks/>
            </p:cNvSpPr>
            <p:nvPr>
              <p:custDataLst>
                <p:tags r:id="rId27"/>
              </p:custDataLst>
            </p:nvPr>
          </p:nvSpPr>
          <p:spPr>
            <a:xfrm>
              <a:off x="296400" y="2717961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Retained Earnings / Assets</a:t>
              </a:r>
            </a:p>
          </p:txBody>
        </p:sp>
        <p:sp>
          <p:nvSpPr>
            <p:cNvPr id="105" name="Subtitle 2">
              <a:extLst>
                <a:ext uri="{FF2B5EF4-FFF2-40B4-BE49-F238E27FC236}">
                  <a16:creationId xmlns:a16="http://schemas.microsoft.com/office/drawing/2014/main" id="{7D5F8FC3-9381-9617-70CA-DCF15EB16B8F}"/>
                </a:ext>
              </a:extLst>
            </p:cNvPr>
            <p:cNvSpPr txBox="1">
              <a:spLocks/>
            </p:cNvSpPr>
            <p:nvPr>
              <p:custDataLst>
                <p:tags r:id="rId28"/>
              </p:custDataLst>
            </p:nvPr>
          </p:nvSpPr>
          <p:spPr>
            <a:xfrm>
              <a:off x="296400" y="2932610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Total Liabilities / Assets (t-1)</a:t>
              </a:r>
            </a:p>
          </p:txBody>
        </p:sp>
        <p:sp>
          <p:nvSpPr>
            <p:cNvPr id="106" name="Subtitle 2">
              <a:extLst>
                <a:ext uri="{FF2B5EF4-FFF2-40B4-BE49-F238E27FC236}">
                  <a16:creationId xmlns:a16="http://schemas.microsoft.com/office/drawing/2014/main" id="{AECA4DFC-1B44-A5CF-A151-F799B61919C9}"/>
                </a:ext>
              </a:extLst>
            </p:cNvPr>
            <p:cNvSpPr txBox="1">
              <a:spLocks/>
            </p:cNvSpPr>
            <p:nvPr>
              <p:custDataLst>
                <p:tags r:id="rId29"/>
              </p:custDataLst>
            </p:nvPr>
          </p:nvSpPr>
          <p:spPr>
            <a:xfrm>
              <a:off x="296400" y="3147259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Log of Assets</a:t>
              </a:r>
            </a:p>
          </p:txBody>
        </p:sp>
        <p:sp>
          <p:nvSpPr>
            <p:cNvPr id="107" name="Subtitle 2">
              <a:extLst>
                <a:ext uri="{FF2B5EF4-FFF2-40B4-BE49-F238E27FC236}">
                  <a16:creationId xmlns:a16="http://schemas.microsoft.com/office/drawing/2014/main" id="{3FB076E5-7983-B6C6-113B-5DBBB87FBDCB}"/>
                </a:ext>
              </a:extLst>
            </p:cNvPr>
            <p:cNvSpPr txBox="1">
              <a:spLocks/>
            </p:cNvSpPr>
            <p:nvPr>
              <p:custDataLst>
                <p:tags r:id="rId30"/>
              </p:custDataLst>
            </p:nvPr>
          </p:nvSpPr>
          <p:spPr>
            <a:xfrm>
              <a:off x="296400" y="3361908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Interest Expense / Assets (t-1)</a:t>
              </a:r>
            </a:p>
          </p:txBody>
        </p:sp>
        <p:sp>
          <p:nvSpPr>
            <p:cNvPr id="108" name="Subtitle 2">
              <a:extLst>
                <a:ext uri="{FF2B5EF4-FFF2-40B4-BE49-F238E27FC236}">
                  <a16:creationId xmlns:a16="http://schemas.microsoft.com/office/drawing/2014/main" id="{89841605-94CC-14C6-3AA8-A273E3A4D222}"/>
                </a:ext>
              </a:extLst>
            </p:cNvPr>
            <p:cNvSpPr txBox="1">
              <a:spLocks/>
            </p:cNvSpPr>
            <p:nvPr>
              <p:custDataLst>
                <p:tags r:id="rId31"/>
              </p:custDataLst>
            </p:nvPr>
          </p:nvSpPr>
          <p:spPr>
            <a:xfrm>
              <a:off x="296400" y="3576557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Inventories / Current Assets</a:t>
              </a:r>
              <a:r>
                <a:rPr lang="de-DE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 </a:t>
              </a:r>
              <a:endParaRPr lang="en-US" sz="120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109" name="Subtitle 2">
              <a:extLst>
                <a:ext uri="{FF2B5EF4-FFF2-40B4-BE49-F238E27FC236}">
                  <a16:creationId xmlns:a16="http://schemas.microsoft.com/office/drawing/2014/main" id="{0C2182CB-31FD-9ECC-E2DB-C7D478985B09}"/>
                </a:ext>
              </a:extLst>
            </p:cNvPr>
            <p:cNvSpPr txBox="1">
              <a:spLocks/>
            </p:cNvSpPr>
            <p:nvPr>
              <p:custDataLst>
                <p:tags r:id="rId32"/>
              </p:custDataLst>
            </p:nvPr>
          </p:nvSpPr>
          <p:spPr>
            <a:xfrm>
              <a:off x="296400" y="379120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EBIT  / Capital (t-1)</a:t>
              </a:r>
            </a:p>
          </p:txBody>
        </p:sp>
        <p:sp>
          <p:nvSpPr>
            <p:cNvPr id="110" name="Subtitle 2">
              <a:extLst>
                <a:ext uri="{FF2B5EF4-FFF2-40B4-BE49-F238E27FC236}">
                  <a16:creationId xmlns:a16="http://schemas.microsoft.com/office/drawing/2014/main" id="{FB376EFB-DFC1-07B7-86D2-5C2F8A5E5506}"/>
                </a:ext>
              </a:extLst>
            </p:cNvPr>
            <p:cNvSpPr txBox="1">
              <a:spLocks/>
            </p:cNvSpPr>
            <p:nvPr>
              <p:custDataLst>
                <p:tags r:id="rId33"/>
              </p:custDataLst>
            </p:nvPr>
          </p:nvSpPr>
          <p:spPr>
            <a:xfrm>
              <a:off x="296400" y="4005855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Log of Assets</a:t>
              </a:r>
            </a:p>
          </p:txBody>
        </p:sp>
        <p:sp>
          <p:nvSpPr>
            <p:cNvPr id="111" name="Subtitle 2">
              <a:extLst>
                <a:ext uri="{FF2B5EF4-FFF2-40B4-BE49-F238E27FC236}">
                  <a16:creationId xmlns:a16="http://schemas.microsoft.com/office/drawing/2014/main" id="{2CE96330-672E-4A72-2328-3D5AF630867E}"/>
                </a:ext>
              </a:extLst>
            </p:cNvPr>
            <p:cNvSpPr txBox="1">
              <a:spLocks/>
            </p:cNvSpPr>
            <p:nvPr>
              <p:custDataLst>
                <p:tags r:id="rId34"/>
              </p:custDataLst>
            </p:nvPr>
          </p:nvSpPr>
          <p:spPr>
            <a:xfrm>
              <a:off x="296400" y="4220504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Intangibles /Assets (t-1)</a:t>
              </a:r>
            </a:p>
          </p:txBody>
        </p:sp>
        <p:sp>
          <p:nvSpPr>
            <p:cNvPr id="112" name="Subtitle 2">
              <a:extLst>
                <a:ext uri="{FF2B5EF4-FFF2-40B4-BE49-F238E27FC236}">
                  <a16:creationId xmlns:a16="http://schemas.microsoft.com/office/drawing/2014/main" id="{D5714CA3-E6C7-A304-3512-4EFC857C2ABE}"/>
                </a:ext>
              </a:extLst>
            </p:cNvPr>
            <p:cNvSpPr txBox="1">
              <a:spLocks/>
            </p:cNvSpPr>
            <p:nvPr>
              <p:custDataLst>
                <p:tags r:id="rId35"/>
              </p:custDataLst>
            </p:nvPr>
          </p:nvSpPr>
          <p:spPr>
            <a:xfrm>
              <a:off x="296399" y="4435153"/>
              <a:ext cx="387275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Common Equity / Assets (t-1)</a:t>
              </a:r>
            </a:p>
          </p:txBody>
        </p:sp>
        <p:sp>
          <p:nvSpPr>
            <p:cNvPr id="113" name="Subtitle 2">
              <a:extLst>
                <a:ext uri="{FF2B5EF4-FFF2-40B4-BE49-F238E27FC236}">
                  <a16:creationId xmlns:a16="http://schemas.microsoft.com/office/drawing/2014/main" id="{11E65BE2-28CC-1B38-F513-4A70A776018E}"/>
                </a:ext>
              </a:extLst>
            </p:cNvPr>
            <p:cNvSpPr txBox="1">
              <a:spLocks/>
            </p:cNvSpPr>
            <p:nvPr>
              <p:custDataLst>
                <p:tags r:id="rId36"/>
              </p:custDataLst>
            </p:nvPr>
          </p:nvSpPr>
          <p:spPr>
            <a:xfrm>
              <a:off x="296400" y="4649802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Cash / Assets</a:t>
              </a:r>
            </a:p>
          </p:txBody>
        </p:sp>
        <p:sp>
          <p:nvSpPr>
            <p:cNvPr id="114" name="Subtitle 2">
              <a:extLst>
                <a:ext uri="{FF2B5EF4-FFF2-40B4-BE49-F238E27FC236}">
                  <a16:creationId xmlns:a16="http://schemas.microsoft.com/office/drawing/2014/main" id="{4267C7EC-ABAC-D9EE-9901-63EBF38FED0E}"/>
                </a:ext>
              </a:extLst>
            </p:cNvPr>
            <p:cNvSpPr txBox="1">
              <a:spLocks/>
            </p:cNvSpPr>
            <p:nvPr>
              <p:custDataLst>
                <p:tags r:id="rId37"/>
              </p:custDataLst>
            </p:nvPr>
          </p:nvSpPr>
          <p:spPr>
            <a:xfrm>
              <a:off x="296400" y="4864451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Intangibles /Assets</a:t>
              </a:r>
            </a:p>
          </p:txBody>
        </p:sp>
        <p:sp>
          <p:nvSpPr>
            <p:cNvPr id="115" name="Subtitle 2">
              <a:extLst>
                <a:ext uri="{FF2B5EF4-FFF2-40B4-BE49-F238E27FC236}">
                  <a16:creationId xmlns:a16="http://schemas.microsoft.com/office/drawing/2014/main" id="{A201BD65-0B73-7745-081C-C861C823A60A}"/>
                </a:ext>
              </a:extLst>
            </p:cNvPr>
            <p:cNvSpPr txBox="1">
              <a:spLocks/>
            </p:cNvSpPr>
            <p:nvPr>
              <p:custDataLst>
                <p:tags r:id="rId38"/>
              </p:custDataLst>
            </p:nvPr>
          </p:nvSpPr>
          <p:spPr>
            <a:xfrm>
              <a:off x="296400" y="5079100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Net Income / Assets (t-1)</a:t>
              </a:r>
            </a:p>
          </p:txBody>
        </p:sp>
        <p:sp>
          <p:nvSpPr>
            <p:cNvPr id="116" name="Subtitle 2">
              <a:extLst>
                <a:ext uri="{FF2B5EF4-FFF2-40B4-BE49-F238E27FC236}">
                  <a16:creationId xmlns:a16="http://schemas.microsoft.com/office/drawing/2014/main" id="{F9586EB4-608C-B3B5-F452-D74C1EA04384}"/>
                </a:ext>
              </a:extLst>
            </p:cNvPr>
            <p:cNvSpPr txBox="1">
              <a:spLocks/>
            </p:cNvSpPr>
            <p:nvPr>
              <p:custDataLst>
                <p:tags r:id="rId39"/>
              </p:custDataLst>
            </p:nvPr>
          </p:nvSpPr>
          <p:spPr>
            <a:xfrm>
              <a:off x="296400" y="5293749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Retained Earnings / Assets (t-1)</a:t>
              </a:r>
            </a:p>
          </p:txBody>
        </p:sp>
        <p:sp>
          <p:nvSpPr>
            <p:cNvPr id="117" name="Subtitle 2">
              <a:extLst>
                <a:ext uri="{FF2B5EF4-FFF2-40B4-BE49-F238E27FC236}">
                  <a16:creationId xmlns:a16="http://schemas.microsoft.com/office/drawing/2014/main" id="{85AC9003-49A8-273C-627E-965A2F89017D}"/>
                </a:ext>
              </a:extLst>
            </p:cNvPr>
            <p:cNvSpPr txBox="1">
              <a:spLocks/>
            </p:cNvSpPr>
            <p:nvPr>
              <p:custDataLst>
                <p:tags r:id="rId40"/>
              </p:custDataLst>
            </p:nvPr>
          </p:nvSpPr>
          <p:spPr>
            <a:xfrm>
              <a:off x="296400" y="5508398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Net Working Capital / Asset</a:t>
              </a:r>
            </a:p>
          </p:txBody>
        </p:sp>
        <p:sp>
          <p:nvSpPr>
            <p:cNvPr id="118" name="Subtitle 2">
              <a:extLst>
                <a:ext uri="{FF2B5EF4-FFF2-40B4-BE49-F238E27FC236}">
                  <a16:creationId xmlns:a16="http://schemas.microsoft.com/office/drawing/2014/main" id="{187279FC-3AAA-1E22-8B84-1FE2D10EC910}"/>
                </a:ext>
              </a:extLst>
            </p:cNvPr>
            <p:cNvSpPr txBox="1">
              <a:spLocks/>
            </p:cNvSpPr>
            <p:nvPr>
              <p:custDataLst>
                <p:tags r:id="rId41"/>
              </p:custDataLst>
            </p:nvPr>
          </p:nvSpPr>
          <p:spPr>
            <a:xfrm>
              <a:off x="296400" y="5723056"/>
              <a:ext cx="283337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+mn-lt"/>
                  <a:cs typeface="Times New Roman" panose="02020603050405020304" pitchFamily="18" charset="0"/>
                </a:rPr>
                <a:t>Receivables / Current Assets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45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9" imgH="350" progId="TCLayout.ActiveDocument.1">
                  <p:embed/>
                </p:oleObj>
              </mc:Choice>
              <mc:Fallback>
                <p:oleObj name="think-cell Foli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Capacity Threshold</a:t>
            </a:r>
          </a:p>
        </p:txBody>
      </p:sp>
      <p:cxnSp>
        <p:nvCxnSpPr>
          <p:cNvPr id="20" name="Gerader Verbinder 25">
            <a:extLst>
              <a:ext uri="{FF2B5EF4-FFF2-40B4-BE49-F238E27FC236}">
                <a16:creationId xmlns:a16="http://schemas.microsoft.com/office/drawing/2014/main" id="{1E0F9B1A-13DD-A3CE-65B0-0AEA8CC9A598}"/>
              </a:ext>
            </a:extLst>
          </p:cNvPr>
          <p:cNvCxnSpPr>
            <a:cxnSpLocks/>
          </p:cNvCxnSpPr>
          <p:nvPr/>
        </p:nvCxnSpPr>
        <p:spPr bwMode="gray">
          <a:xfrm>
            <a:off x="6096000" y="3656890"/>
            <a:ext cx="5823858" cy="0"/>
          </a:xfrm>
          <a:prstGeom prst="line">
            <a:avLst/>
          </a:prstGeom>
          <a:ln w="381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26">
            <a:extLst>
              <a:ext uri="{FF2B5EF4-FFF2-40B4-BE49-F238E27FC236}">
                <a16:creationId xmlns:a16="http://schemas.microsoft.com/office/drawing/2014/main" id="{6421D1BB-7AAC-C0A5-5AF1-09171F6AF90D}"/>
              </a:ext>
            </a:extLst>
          </p:cNvPr>
          <p:cNvCxnSpPr>
            <a:cxnSpLocks/>
          </p:cNvCxnSpPr>
          <p:nvPr/>
        </p:nvCxnSpPr>
        <p:spPr bwMode="gray">
          <a:xfrm>
            <a:off x="403200" y="3656890"/>
            <a:ext cx="56928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6">
            <a:extLst>
              <a:ext uri="{FF2B5EF4-FFF2-40B4-BE49-F238E27FC236}">
                <a16:creationId xmlns:a16="http://schemas.microsoft.com/office/drawing/2014/main" id="{960208EE-72F9-FC69-1EA2-4020494F047A}"/>
              </a:ext>
            </a:extLst>
          </p:cNvPr>
          <p:cNvSpPr>
            <a:spLocks/>
          </p:cNvSpPr>
          <p:nvPr/>
        </p:nvSpPr>
        <p:spPr bwMode="gray">
          <a:xfrm>
            <a:off x="5466169" y="2164212"/>
            <a:ext cx="1202768" cy="120276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8" name="Textfeld 22">
            <a:extLst>
              <a:ext uri="{FF2B5EF4-FFF2-40B4-BE49-F238E27FC236}">
                <a16:creationId xmlns:a16="http://schemas.microsoft.com/office/drawing/2014/main" id="{FA32CE79-F330-FFE2-D36C-3D21B846EFC1}"/>
              </a:ext>
            </a:extLst>
          </p:cNvPr>
          <p:cNvSpPr txBox="1">
            <a:spLocks/>
          </p:cNvSpPr>
          <p:nvPr/>
        </p:nvSpPr>
        <p:spPr bwMode="gray">
          <a:xfrm>
            <a:off x="5165356" y="2311626"/>
            <a:ext cx="1804394" cy="9079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ct val="0"/>
              </a:spcBef>
              <a:spcAft>
                <a:spcPts val="300"/>
              </a:spcAft>
              <a:defRPr/>
            </a:pPr>
            <a:r>
              <a:rPr lang="en-US" b="1"/>
              <a:t>Capacity </a:t>
            </a:r>
          </a:p>
          <a:p>
            <a:pPr algn="ctr">
              <a:spcBef>
                <a:spcPct val="0"/>
              </a:spcBef>
              <a:spcAft>
                <a:spcPts val="300"/>
              </a:spcAft>
              <a:defRPr/>
            </a:pPr>
            <a:r>
              <a:rPr lang="en-US" b="1"/>
              <a:t>20% of </a:t>
            </a:r>
          </a:p>
          <a:p>
            <a:pPr algn="ctr">
              <a:spcBef>
                <a:spcPct val="0"/>
              </a:spcBef>
              <a:spcAft>
                <a:spcPts val="300"/>
              </a:spcAft>
              <a:defRPr/>
            </a:pPr>
            <a:r>
              <a:rPr lang="en-US" b="1"/>
              <a:t>Firms</a:t>
            </a:r>
          </a:p>
        </p:txBody>
      </p:sp>
      <p:pic>
        <p:nvPicPr>
          <p:cNvPr id="24" name="Grafik 23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80DD1D22-3AE0-C3BC-C141-29AED40519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28" name="Textfeld 22">
            <a:extLst>
              <a:ext uri="{FF2B5EF4-FFF2-40B4-BE49-F238E27FC236}">
                <a16:creationId xmlns:a16="http://schemas.microsoft.com/office/drawing/2014/main" id="{FFC4BF49-7D55-36CD-8D17-D8250B44A284}"/>
              </a:ext>
            </a:extLst>
          </p:cNvPr>
          <p:cNvSpPr txBox="1">
            <a:spLocks/>
          </p:cNvSpPr>
          <p:nvPr/>
        </p:nvSpPr>
        <p:spPr bwMode="gray">
          <a:xfrm>
            <a:off x="403200" y="1610551"/>
            <a:ext cx="1804394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en-US" sz="2400" b="1">
                <a:solidFill>
                  <a:srgbClr val="029AC6"/>
                </a:solidFill>
              </a:rPr>
              <a:t>Predicted Probability of Distress</a:t>
            </a:r>
            <a:endParaRPr lang="en-US" sz="1600" b="1">
              <a:solidFill>
                <a:srgbClr val="029AC6"/>
              </a:solidFill>
            </a:endParaRPr>
          </a:p>
        </p:txBody>
      </p:sp>
      <p:sp>
        <p:nvSpPr>
          <p:cNvPr id="29" name="Textfeld 22">
            <a:extLst>
              <a:ext uri="{FF2B5EF4-FFF2-40B4-BE49-F238E27FC236}">
                <a16:creationId xmlns:a16="http://schemas.microsoft.com/office/drawing/2014/main" id="{48328818-5C82-B8EC-FF35-603A01870E2D}"/>
              </a:ext>
            </a:extLst>
          </p:cNvPr>
          <p:cNvSpPr txBox="1">
            <a:spLocks/>
          </p:cNvSpPr>
          <p:nvPr/>
        </p:nvSpPr>
        <p:spPr bwMode="gray">
          <a:xfrm>
            <a:off x="403200" y="3870297"/>
            <a:ext cx="18043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en-US" sz="3600" b="1">
                <a:solidFill>
                  <a:srgbClr val="029AC6"/>
                </a:solidFill>
              </a:rPr>
              <a:t>0%</a:t>
            </a:r>
            <a:endParaRPr lang="en-US" sz="2400" b="1">
              <a:solidFill>
                <a:srgbClr val="029AC6"/>
              </a:solidFill>
            </a:endParaRPr>
          </a:p>
        </p:txBody>
      </p:sp>
      <p:sp>
        <p:nvSpPr>
          <p:cNvPr id="30" name="Textfeld 22">
            <a:extLst>
              <a:ext uri="{FF2B5EF4-FFF2-40B4-BE49-F238E27FC236}">
                <a16:creationId xmlns:a16="http://schemas.microsoft.com/office/drawing/2014/main" id="{72A33ABC-50BF-6ACA-6BC4-BA0DC000BCAE}"/>
              </a:ext>
            </a:extLst>
          </p:cNvPr>
          <p:cNvSpPr txBox="1">
            <a:spLocks/>
          </p:cNvSpPr>
          <p:nvPr/>
        </p:nvSpPr>
        <p:spPr bwMode="gray">
          <a:xfrm>
            <a:off x="5766740" y="3870297"/>
            <a:ext cx="18043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en-US" sz="3600" b="1">
                <a:solidFill>
                  <a:srgbClr val="029AC6"/>
                </a:solidFill>
              </a:rPr>
              <a:t>&gt; 3.47%</a:t>
            </a:r>
            <a:endParaRPr lang="en-US" sz="2400" b="1">
              <a:solidFill>
                <a:srgbClr val="029AC6"/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7A837BF-577A-11F3-3104-9BF4F6AFB8A9}"/>
              </a:ext>
            </a:extLst>
          </p:cNvPr>
          <p:cNvSpPr txBox="1"/>
          <p:nvPr/>
        </p:nvSpPr>
        <p:spPr>
          <a:xfrm>
            <a:off x="8899991" y="1564385"/>
            <a:ext cx="3019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3"/>
                </a:solidFill>
              </a:rPr>
              <a:t>Expected Cost </a:t>
            </a:r>
          </a:p>
          <a:p>
            <a:r>
              <a:rPr lang="en-US" sz="2400" b="1">
                <a:solidFill>
                  <a:schemeClr val="accent3"/>
                </a:solidFill>
              </a:rPr>
              <a:t>per observation 0.18</a:t>
            </a:r>
          </a:p>
          <a:p>
            <a:r>
              <a:rPr lang="en-US" sz="2400" b="1">
                <a:solidFill>
                  <a:schemeClr val="accent3"/>
                </a:solidFill>
              </a:rPr>
              <a:t>(1 for FP 3 for FN)</a:t>
            </a:r>
          </a:p>
        </p:txBody>
      </p:sp>
      <p:sp>
        <p:nvSpPr>
          <p:cNvPr id="36" name="Minus 35">
            <a:extLst>
              <a:ext uri="{FF2B5EF4-FFF2-40B4-BE49-F238E27FC236}">
                <a16:creationId xmlns:a16="http://schemas.microsoft.com/office/drawing/2014/main" id="{F2CCA1CA-1B8C-0EE1-8DA2-8E9B0A5D4AE8}"/>
              </a:ext>
            </a:extLst>
          </p:cNvPr>
          <p:cNvSpPr/>
          <p:nvPr/>
        </p:nvSpPr>
        <p:spPr>
          <a:xfrm rot="5400000">
            <a:off x="5844685" y="3402247"/>
            <a:ext cx="502630" cy="509286"/>
          </a:xfrm>
          <a:prstGeom prst="mathMinus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DD45BD2E-018B-0492-E26E-F4CA6C25CF02}"/>
              </a:ext>
            </a:extLst>
          </p:cNvPr>
          <p:cNvSpPr/>
          <p:nvPr/>
        </p:nvSpPr>
        <p:spPr>
          <a:xfrm>
            <a:off x="6063952" y="4831271"/>
            <a:ext cx="6128048" cy="77959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06289" tIns="203145" rIns="406289" bIns="203145" rtlCol="0" anchor="t">
            <a:spAutoFit/>
          </a:bodyPr>
          <a:lstStyle/>
          <a:p>
            <a:pPr algn="ctr">
              <a:spcAft>
                <a:spcPts val="621"/>
              </a:spcAft>
            </a:pPr>
            <a:r>
              <a:rPr lang="en-US" sz="2400" b="1">
                <a:solidFill>
                  <a:srgbClr val="FF0000"/>
                </a:solidFill>
              </a:rPr>
              <a:t>Firms to check</a:t>
            </a:r>
          </a:p>
        </p:txBody>
      </p:sp>
      <p:sp>
        <p:nvSpPr>
          <p:cNvPr id="41" name="Textfeld 22">
            <a:extLst>
              <a:ext uri="{FF2B5EF4-FFF2-40B4-BE49-F238E27FC236}">
                <a16:creationId xmlns:a16="http://schemas.microsoft.com/office/drawing/2014/main" id="{49C52367-DB0E-2861-2C02-7A8BABF92D10}"/>
              </a:ext>
            </a:extLst>
          </p:cNvPr>
          <p:cNvSpPr txBox="1">
            <a:spLocks/>
          </p:cNvSpPr>
          <p:nvPr/>
        </p:nvSpPr>
        <p:spPr bwMode="gray">
          <a:xfrm>
            <a:off x="11017661" y="3870297"/>
            <a:ext cx="180439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  <a:defRPr/>
            </a:pPr>
            <a:r>
              <a:rPr lang="en-US" sz="3600" b="1">
                <a:solidFill>
                  <a:srgbClr val="029AC6"/>
                </a:solidFill>
              </a:rPr>
              <a:t>100%</a:t>
            </a:r>
            <a:endParaRPr lang="en-US" sz="2400" b="1">
              <a:solidFill>
                <a:srgbClr val="029A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3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387F5E1-ABBD-1241-DD24-CEB5F399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B0D346D-E318-2C99-A4DF-B35E8610C19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46164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0D346D-E318-2C99-A4DF-B35E8610C1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907A562-20E2-A884-7695-7EEA8C2C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1"/>
              <a:t>Model evaluation through empirical results: our three takeaways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B3F0D5D3-11F2-BAB5-3CE1-142D255F53B2}"/>
              </a:ext>
            </a:extLst>
          </p:cNvPr>
          <p:cNvSpPr txBox="1">
            <a:spLocks/>
          </p:cNvSpPr>
          <p:nvPr/>
        </p:nvSpPr>
        <p:spPr bwMode="gray">
          <a:xfrm>
            <a:off x="407987" y="1557900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/>
              <a:t>Model performance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 err="1">
                <a:solidFill>
                  <a:schemeClr val="accent1"/>
                </a:solidFill>
              </a:rPr>
              <a:t>XGBoost</a:t>
            </a:r>
            <a:r>
              <a:rPr lang="en-US" sz="1400" b="1">
                <a:solidFill>
                  <a:schemeClr val="accent1"/>
                </a:solidFill>
              </a:rPr>
              <a:t> vs. logistic</a:t>
            </a: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A8531F4C-4CC5-F04B-8536-F3C556F255F1}"/>
              </a:ext>
            </a:extLst>
          </p:cNvPr>
          <p:cNvSpPr txBox="1">
            <a:spLocks/>
          </p:cNvSpPr>
          <p:nvPr/>
        </p:nvSpPr>
        <p:spPr bwMode="gray">
          <a:xfrm>
            <a:off x="407987" y="4805640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/>
              <a:t>Calibration matters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de-DE" sz="1400" b="1">
                <a:solidFill>
                  <a:schemeClr val="accent1"/>
                </a:solidFill>
              </a:rPr>
              <a:t>Ranking vs. “</a:t>
            </a:r>
            <a:r>
              <a:rPr lang="de-DE" sz="1400" b="1" err="1">
                <a:solidFill>
                  <a:schemeClr val="accent1"/>
                </a:solidFill>
              </a:rPr>
              <a:t>true</a:t>
            </a:r>
            <a:r>
              <a:rPr lang="de-DE" sz="1400" b="1">
                <a:solidFill>
                  <a:schemeClr val="accent1"/>
                </a:solidFill>
              </a:rPr>
              <a:t> PDs”</a:t>
            </a:r>
            <a:endParaRPr lang="en-US" sz="1400" b="1">
              <a:solidFill>
                <a:schemeClr val="accent1"/>
              </a:solidFill>
            </a:endParaRPr>
          </a:p>
        </p:txBody>
      </p:sp>
      <p:cxnSp>
        <p:nvCxnSpPr>
          <p:cNvPr id="17" name="Gerader Verbinder 23">
            <a:extLst>
              <a:ext uri="{FF2B5EF4-FFF2-40B4-BE49-F238E27FC236}">
                <a16:creationId xmlns:a16="http://schemas.microsoft.com/office/drawing/2014/main" id="{6A2960C4-A070-7A3B-F85E-2350B6AB78A4}"/>
              </a:ext>
            </a:extLst>
          </p:cNvPr>
          <p:cNvCxnSpPr>
            <a:cxnSpLocks/>
          </p:cNvCxnSpPr>
          <p:nvPr/>
        </p:nvCxnSpPr>
        <p:spPr>
          <a:xfrm>
            <a:off x="407988" y="2995896"/>
            <a:ext cx="1140142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24">
            <a:extLst>
              <a:ext uri="{FF2B5EF4-FFF2-40B4-BE49-F238E27FC236}">
                <a16:creationId xmlns:a16="http://schemas.microsoft.com/office/drawing/2014/main" id="{477448B0-AD82-2FE3-A642-5000F4881B08}"/>
              </a:ext>
            </a:extLst>
          </p:cNvPr>
          <p:cNvCxnSpPr>
            <a:cxnSpLocks/>
          </p:cNvCxnSpPr>
          <p:nvPr/>
        </p:nvCxnSpPr>
        <p:spPr>
          <a:xfrm>
            <a:off x="407988" y="4619906"/>
            <a:ext cx="1140142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4331838C-8A20-135D-4B8D-6F0846EECB40}"/>
              </a:ext>
            </a:extLst>
          </p:cNvPr>
          <p:cNvSpPr txBox="1">
            <a:spLocks/>
          </p:cNvSpPr>
          <p:nvPr/>
        </p:nvSpPr>
        <p:spPr>
          <a:xfrm>
            <a:off x="9189029" y="1557900"/>
            <a:ext cx="2630958" cy="125253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b="1" err="1">
                <a:solidFill>
                  <a:schemeClr val="accent1"/>
                </a:solidFill>
              </a:rPr>
              <a:t>Nonlinear</a:t>
            </a:r>
            <a:r>
              <a:rPr lang="de-DE" b="1">
                <a:solidFill>
                  <a:schemeClr val="accent1"/>
                </a:solidFill>
              </a:rPr>
              <a:t> </a:t>
            </a:r>
            <a:r>
              <a:rPr lang="de-DE" b="1" err="1">
                <a:solidFill>
                  <a:schemeClr val="accent1"/>
                </a:solidFill>
              </a:rPr>
              <a:t>models</a:t>
            </a:r>
            <a:r>
              <a:rPr lang="de-DE" b="1">
                <a:solidFill>
                  <a:schemeClr val="accent1"/>
                </a:solidFill>
              </a:rPr>
              <a:t> </a:t>
            </a:r>
            <a:r>
              <a:rPr lang="de-DE" b="1" err="1">
                <a:solidFill>
                  <a:schemeClr val="accent1"/>
                </a:solidFill>
              </a:rPr>
              <a:t>win</a:t>
            </a:r>
            <a:r>
              <a:rPr lang="de-DE" b="1">
                <a:solidFill>
                  <a:schemeClr val="accent1"/>
                </a:solidFill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400" b="1">
                <a:solidFill>
                  <a:schemeClr val="accent1"/>
                </a:solidFill>
              </a:rPr>
              <a:t>(</a:t>
            </a:r>
            <a:r>
              <a:rPr lang="de-DE" sz="1400" b="1" err="1">
                <a:solidFill>
                  <a:schemeClr val="accent1"/>
                </a:solidFill>
              </a:rPr>
              <a:t>even</a:t>
            </a:r>
            <a:r>
              <a:rPr lang="de-DE" sz="1400" b="1">
                <a:solidFill>
                  <a:schemeClr val="accent1"/>
                </a:solidFill>
              </a:rPr>
              <a:t> </a:t>
            </a:r>
            <a:r>
              <a:rPr lang="de-DE" sz="1400" b="1" err="1">
                <a:solidFill>
                  <a:schemeClr val="accent1"/>
                </a:solidFill>
              </a:rPr>
              <a:t>against</a:t>
            </a:r>
            <a:r>
              <a:rPr lang="de-DE" sz="1400" b="1">
                <a:solidFill>
                  <a:schemeClr val="accent1"/>
                </a:solidFill>
              </a:rPr>
              <a:t> </a:t>
            </a:r>
            <a:r>
              <a:rPr lang="de-DE" sz="1400" b="1" err="1">
                <a:solidFill>
                  <a:schemeClr val="accent1"/>
                </a:solidFill>
              </a:rPr>
              <a:t>persistence</a:t>
            </a:r>
            <a:r>
              <a:rPr lang="de-DE" sz="1400" b="1">
                <a:solidFill>
                  <a:schemeClr val="accent1"/>
                </a:solidFill>
              </a:rPr>
              <a:t> +0.12 ROC-AUC, +0.16 PR-AUC)</a:t>
            </a:r>
            <a:endParaRPr lang="en-US" b="1">
              <a:solidFill>
                <a:schemeClr val="accent1"/>
              </a:solidFill>
              <a:sym typeface="Futura"/>
            </a:endParaRP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C78273DC-9892-B504-B2A4-D0C16EC30FF3}"/>
              </a:ext>
            </a:extLst>
          </p:cNvPr>
          <p:cNvSpPr txBox="1">
            <a:spLocks/>
          </p:cNvSpPr>
          <p:nvPr/>
        </p:nvSpPr>
        <p:spPr bwMode="gray">
          <a:xfrm>
            <a:off x="407987" y="3181632"/>
            <a:ext cx="2426361" cy="12522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txBody>
          <a:bodyPr vert="horz" wrap="square" lIns="180000" tIns="144000" rIns="180000" bIns="14400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2400"/>
              <a:t>Operational screening</a:t>
            </a:r>
          </a:p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</a:rPr>
              <a:t>Capacity-constrained triage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C0B091C-D324-1F58-7C18-DB1EE4CC0070}"/>
              </a:ext>
            </a:extLst>
          </p:cNvPr>
          <p:cNvSpPr txBox="1">
            <a:spLocks/>
          </p:cNvSpPr>
          <p:nvPr/>
        </p:nvSpPr>
        <p:spPr>
          <a:xfrm>
            <a:off x="3148770" y="1557900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/>
              <a:t>Out-of-time, the calibrated gradient-boosted tree clearly dominates the logistic benchmark across discrimination and probability accuracy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/>
              <a:t>ROC-AUC: 0.728 → 0.923; PR-AUC: 0.124 → 0.302</a:t>
            </a:r>
          </a:p>
          <a:p>
            <a:pPr marL="140400" indent="-140400">
              <a:spcBef>
                <a:spcPts val="600"/>
              </a:spcBef>
            </a:pPr>
            <a:r>
              <a:rPr lang="de-DE" sz="1400" err="1"/>
              <a:t>Brier</a:t>
            </a:r>
            <a:r>
              <a:rPr lang="de-DE" sz="1400"/>
              <a:t> score </a:t>
            </a:r>
            <a:r>
              <a:rPr lang="de-DE" sz="1400" err="1"/>
              <a:t>improves</a:t>
            </a:r>
            <a:r>
              <a:rPr lang="de-DE" sz="1400"/>
              <a:t>: 0.0349 → 0.0307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100"/>
              <a:t>(</a:t>
            </a:r>
            <a:r>
              <a:rPr lang="de-DE" sz="1100" err="1"/>
              <a:t>Uncertainty</a:t>
            </a:r>
            <a:r>
              <a:rPr lang="de-DE" sz="1100"/>
              <a:t> via firm-cluster </a:t>
            </a:r>
            <a:r>
              <a:rPr lang="de-DE" sz="1100" err="1"/>
              <a:t>bootstrap</a:t>
            </a:r>
            <a:r>
              <a:rPr lang="de-DE" sz="1100"/>
              <a:t> (</a:t>
            </a:r>
            <a:r>
              <a:rPr lang="de-DE" sz="1100" err="1"/>
              <a:t>resample</a:t>
            </a:r>
            <a:r>
              <a:rPr lang="de-DE" sz="1100"/>
              <a:t> </a:t>
            </a:r>
            <a:r>
              <a:rPr lang="de-DE" sz="1100" err="1"/>
              <a:t>firms</a:t>
            </a:r>
            <a:r>
              <a:rPr lang="de-DE" sz="1100"/>
              <a:t>, </a:t>
            </a:r>
            <a:r>
              <a:rPr lang="de-DE" sz="1100" err="1"/>
              <a:t>keep</a:t>
            </a:r>
            <a:r>
              <a:rPr lang="de-DE" sz="1100"/>
              <a:t> time </a:t>
            </a:r>
            <a:r>
              <a:rPr lang="de-DE" sz="1100" err="1"/>
              <a:t>series</a:t>
            </a:r>
            <a:r>
              <a:rPr lang="de-DE" sz="1100"/>
              <a:t>, p-</a:t>
            </a:r>
            <a:r>
              <a:rPr lang="de-DE" sz="1100" err="1"/>
              <a:t>values</a:t>
            </a:r>
            <a:r>
              <a:rPr lang="de-DE" sz="1100"/>
              <a:t> &lt;0.01)</a:t>
            </a:r>
            <a:endParaRPr lang="en-US" sz="140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991EBAB4-E323-2F8F-3315-EB86214CF170}"/>
              </a:ext>
            </a:extLst>
          </p:cNvPr>
          <p:cNvSpPr txBox="1">
            <a:spLocks/>
          </p:cNvSpPr>
          <p:nvPr/>
        </p:nvSpPr>
        <p:spPr>
          <a:xfrm>
            <a:off x="3148770" y="4805362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noProof="1"/>
              <a:t>Strong ranking does not automatically mean reliable probabilities. Even after prior correction + isotonic calibration, tail miscalibration and coarse risk tiers remain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/>
              <a:t>Use the output primarily as risk tiers / triage, not as “precise PDs”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/>
              <a:t>Keep calibration strictly out-of-sample and monitor drift in deployment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E59F7FF-BEFF-5B69-8680-6FF2B332F911}"/>
              </a:ext>
            </a:extLst>
          </p:cNvPr>
          <p:cNvSpPr txBox="1">
            <a:spLocks/>
          </p:cNvSpPr>
          <p:nvPr/>
        </p:nvSpPr>
        <p:spPr>
          <a:xfrm>
            <a:off x="3148770" y="3181632"/>
            <a:ext cx="5263052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/>
              <a:t>Under a realistic review budget, the model’s ranking is economically useful: most transition events sit in a manageable risk tail.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/>
              <a:t>Top 20% risk bucket captures 87.9% of transition events</a:t>
            </a:r>
          </a:p>
          <a:p>
            <a:pPr marL="140400" indent="-140400">
              <a:spcBef>
                <a:spcPts val="600"/>
              </a:spcBef>
            </a:pPr>
            <a:r>
              <a:rPr lang="en-US" sz="1400"/>
              <a:t>Cost-sensitive training reflects asymmetric losses (missing events &gt; extra reviews)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81880F6C-2FFC-2C34-A13E-39FE23472FD5}"/>
              </a:ext>
            </a:extLst>
          </p:cNvPr>
          <p:cNvSpPr txBox="1">
            <a:spLocks/>
          </p:cNvSpPr>
          <p:nvPr/>
        </p:nvSpPr>
        <p:spPr>
          <a:xfrm>
            <a:off x="9189029" y="3181632"/>
            <a:ext cx="2630958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>
                <a:solidFill>
                  <a:schemeClr val="accent1"/>
                </a:solidFill>
                <a:sym typeface="Futura"/>
              </a:rPr>
              <a:t>High PR-AUC at fixed capacity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4A28F203-90B2-7BE9-ECCD-4620A4AC4623}"/>
              </a:ext>
            </a:extLst>
          </p:cNvPr>
          <p:cNvSpPr txBox="1">
            <a:spLocks/>
          </p:cNvSpPr>
          <p:nvPr/>
        </p:nvSpPr>
        <p:spPr>
          <a:xfrm>
            <a:off x="9189029" y="4805362"/>
            <a:ext cx="2630958" cy="1252538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>
                <a:solidFill>
                  <a:schemeClr val="accent1"/>
                </a:solidFill>
                <a:sym typeface="Futura"/>
              </a:rPr>
              <a:t>Rank-and-triage beats false precision</a:t>
            </a:r>
          </a:p>
        </p:txBody>
      </p:sp>
      <p:sp>
        <p:nvSpPr>
          <p:cNvPr id="26" name="Gleichschenkliges Dreieck 15">
            <a:extLst>
              <a:ext uri="{FF2B5EF4-FFF2-40B4-BE49-F238E27FC236}">
                <a16:creationId xmlns:a16="http://schemas.microsoft.com/office/drawing/2014/main" id="{6B280A5F-B7CC-C41A-F26A-E7082A7B71F9}"/>
              </a:ext>
            </a:extLst>
          </p:cNvPr>
          <p:cNvSpPr>
            <a:spLocks/>
          </p:cNvSpPr>
          <p:nvPr/>
        </p:nvSpPr>
        <p:spPr>
          <a:xfrm rot="5400000">
            <a:off x="8662295" y="2109987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Gleichschenkliges Dreieck 15">
            <a:extLst>
              <a:ext uri="{FF2B5EF4-FFF2-40B4-BE49-F238E27FC236}">
                <a16:creationId xmlns:a16="http://schemas.microsoft.com/office/drawing/2014/main" id="{B47CD8E8-39BA-9751-70BD-D45675D17AFC}"/>
              </a:ext>
            </a:extLst>
          </p:cNvPr>
          <p:cNvSpPr>
            <a:spLocks/>
          </p:cNvSpPr>
          <p:nvPr/>
        </p:nvSpPr>
        <p:spPr>
          <a:xfrm rot="5400000">
            <a:off x="8662295" y="3733718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Gleichschenkliges Dreieck 15">
            <a:extLst>
              <a:ext uri="{FF2B5EF4-FFF2-40B4-BE49-F238E27FC236}">
                <a16:creationId xmlns:a16="http://schemas.microsoft.com/office/drawing/2014/main" id="{0A475957-D9FB-D3BC-4661-4A1ACF0C50BA}"/>
              </a:ext>
            </a:extLst>
          </p:cNvPr>
          <p:cNvSpPr>
            <a:spLocks/>
          </p:cNvSpPr>
          <p:nvPr/>
        </p:nvSpPr>
        <p:spPr>
          <a:xfrm rot="5400000">
            <a:off x="8662295" y="5357449"/>
            <a:ext cx="276262" cy="148364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Grafik 1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D984AE4-AA7B-E018-E089-C2BDA9505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3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9D82A84-53BD-B189-9C7B-9674B6EE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ED1BB6F9-DCD1-58E6-C675-B5EEF3A8668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09881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1BB6F9-DCD1-58E6-C675-B5EEF3A866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08F1F6D5-11BD-A395-ABED-DCB7BE79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Discussion</a:t>
            </a:r>
          </a:p>
        </p:txBody>
      </p:sp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00FCC241-E0EE-CA2B-56DE-37CB1CF60A7F}"/>
              </a:ext>
            </a:extLst>
          </p:cNvPr>
          <p:cNvSpPr txBox="1">
            <a:spLocks/>
          </p:cNvSpPr>
          <p:nvPr/>
        </p:nvSpPr>
        <p:spPr bwMode="gray">
          <a:xfrm>
            <a:off x="9356291" y="1027440"/>
            <a:ext cx="2620494" cy="420204"/>
          </a:xfrm>
          <a:prstGeom prst="rect">
            <a:avLst/>
          </a:prstGeom>
        </p:spPr>
        <p:txBody>
          <a:bodyPr vert="horz" wrap="square" lIns="0" tIns="0" rIns="0" bIns="50380" rtlCol="0" anchor="b">
            <a:spAutoFit/>
          </a:bodyPr>
          <a:lstStyle>
            <a:defPPr>
              <a:defRPr lang="de-DE"/>
            </a:defPPr>
            <a:lvl1pPr marL="0" indent="0">
              <a:lnSpc>
                <a:spcPct val="100000"/>
              </a:lnSpc>
              <a:spcBef>
                <a:spcPts val="400"/>
              </a:spcBef>
              <a:buFont typeface="Arial" pitchFamily="34" charset="0"/>
              <a:buNone/>
              <a:defRPr sz="1300" cap="all">
                <a:solidFill>
                  <a:schemeClr val="tx2"/>
                </a:solidFill>
                <a:latin typeface="+mn-lt"/>
                <a:ea typeface="Verdana" pitchFamily="34" charset="0"/>
                <a:cs typeface="Verdana" pitchFamily="34" charset="0"/>
              </a:defRPr>
            </a:lvl1pPr>
            <a:lvl2pPr marL="180975" indent="-180975">
              <a:lnSpc>
                <a:spcPct val="95000"/>
              </a:lnSpc>
              <a:spcBef>
                <a:spcPts val="400"/>
              </a:spcBef>
              <a:buFont typeface="Wingdings" pitchFamily="2" charset="2"/>
              <a:buChar char="§"/>
              <a:defRPr sz="1300">
                <a:latin typeface="+mn-lt"/>
                <a:ea typeface="Verdana" pitchFamily="34" charset="0"/>
                <a:cs typeface="Verdana" pitchFamily="34" charset="0"/>
              </a:defRPr>
            </a:lvl2pPr>
            <a:lvl3pPr marL="361950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3pPr>
            <a:lvl4pPr marL="534988" indent="-173038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4pPr>
            <a:lvl5pPr marL="715963" indent="-180975">
              <a:lnSpc>
                <a:spcPct val="95000"/>
              </a:lnSpc>
              <a:spcBef>
                <a:spcPts val="400"/>
              </a:spcBef>
              <a:buFont typeface="Arial" pitchFamily="34" charset="0"/>
              <a:buChar char="̵"/>
              <a:defRPr sz="1300">
                <a:latin typeface="+mn-lt"/>
                <a:ea typeface="Verdana" pitchFamily="34" charset="0"/>
                <a:cs typeface="Verdana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pPr fontAlgn="base">
              <a:spcBef>
                <a:spcPts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de-DE" sz="2400" b="1" cap="none">
                <a:solidFill>
                  <a:srgbClr val="029AC6"/>
                </a:solidFill>
              </a:rPr>
              <a:t>Key </a:t>
            </a:r>
            <a:r>
              <a:rPr lang="de-DE" sz="2400" b="1" cap="none" err="1">
                <a:solidFill>
                  <a:srgbClr val="029AC6"/>
                </a:solidFill>
              </a:rPr>
              <a:t>Limitations</a:t>
            </a:r>
            <a:endParaRPr lang="en-US" sz="2400" b="1" cap="none">
              <a:solidFill>
                <a:srgbClr val="029AC6"/>
              </a:solidFill>
              <a:ea typeface="+mn-ea"/>
              <a:cs typeface="+mn-cs"/>
              <a:sym typeface="Futura"/>
            </a:endParaRP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7436BC0F-27D5-87D0-9CE7-0C595977CA76}"/>
              </a:ext>
            </a:extLst>
          </p:cNvPr>
          <p:cNvSpPr>
            <a:spLocks/>
          </p:cNvSpPr>
          <p:nvPr/>
        </p:nvSpPr>
        <p:spPr>
          <a:xfrm>
            <a:off x="9356291" y="1775505"/>
            <a:ext cx="2620800" cy="1215684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  <a:sym typeface="Futura"/>
              </a:rPr>
              <a:t>Annual panel conditions on firm continuation</a:t>
            </a:r>
            <a:endParaRPr lang="en-US" sz="1400">
              <a:solidFill>
                <a:schemeClr val="tx1"/>
              </a:solidFill>
              <a:sym typeface="Futura"/>
            </a:endParaRPr>
          </a:p>
          <a:p>
            <a:pPr marL="285750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sym typeface="Futura"/>
              </a:rPr>
              <a:t>Transition needs adjacent</a:t>
            </a:r>
          </a:p>
          <a:p>
            <a:pPr>
              <a:spcAft>
                <a:spcPts val="600"/>
              </a:spcAft>
              <a:buClr>
                <a:srgbClr val="000000"/>
              </a:buClr>
              <a:tabLst>
                <a:tab pos="307975" algn="l"/>
              </a:tabLst>
            </a:pPr>
            <a:r>
              <a:rPr lang="en-US" sz="1200">
                <a:solidFill>
                  <a:schemeClr val="tx1"/>
                </a:solidFill>
                <a:sym typeface="Futura"/>
              </a:rPr>
              <a:t> 	data and continuity </a:t>
            </a:r>
          </a:p>
        </p:txBody>
      </p:sp>
      <p:sp>
        <p:nvSpPr>
          <p:cNvPr id="35" name="Textfeld 27">
            <a:extLst>
              <a:ext uri="{FF2B5EF4-FFF2-40B4-BE49-F238E27FC236}">
                <a16:creationId xmlns:a16="http://schemas.microsoft.com/office/drawing/2014/main" id="{D3AB7166-79E9-A8B7-2E79-DF20AA315577}"/>
              </a:ext>
            </a:extLst>
          </p:cNvPr>
          <p:cNvSpPr txBox="1">
            <a:spLocks/>
          </p:cNvSpPr>
          <p:nvPr/>
        </p:nvSpPr>
        <p:spPr>
          <a:xfrm>
            <a:off x="11449447" y="2557205"/>
            <a:ext cx="609149" cy="503434"/>
          </a:xfrm>
          <a:prstGeom prst="rect">
            <a:avLst/>
          </a:prstGeom>
          <a:noFill/>
        </p:spPr>
        <p:txBody>
          <a:bodyPr wrap="none" lIns="0" tIns="0" rIns="107958" bIns="71972" rtlCol="0" anchor="b">
            <a:spAutoFit/>
          </a:bodyPr>
          <a:lstStyle/>
          <a:p>
            <a:pPr algn="r" defTabSz="914034" fontAlgn="base">
              <a:spcBef>
                <a:spcPts val="400"/>
              </a:spcBef>
              <a:spcAft>
                <a:spcPct val="0"/>
              </a:spcAft>
              <a:buClr>
                <a:srgbClr val="7D8482"/>
              </a:buClr>
              <a:buSzPct val="80000"/>
            </a:pPr>
            <a:r>
              <a:rPr lang="en-US" sz="2799" b="1">
                <a:solidFill>
                  <a:schemeClr val="accent1"/>
                </a:solidFill>
                <a:ea typeface="Verdana" pitchFamily="34" charset="0"/>
                <a:cs typeface="Verdana" pitchFamily="34" charset="0"/>
              </a:rPr>
              <a:t>01.</a:t>
            </a:r>
          </a:p>
        </p:txBody>
      </p:sp>
      <p:sp>
        <p:nvSpPr>
          <p:cNvPr id="14" name="Rechteck 22">
            <a:extLst>
              <a:ext uri="{FF2B5EF4-FFF2-40B4-BE49-F238E27FC236}">
                <a16:creationId xmlns:a16="http://schemas.microsoft.com/office/drawing/2014/main" id="{948EE44A-7866-CC85-ECC2-97E021BBDE34}"/>
              </a:ext>
            </a:extLst>
          </p:cNvPr>
          <p:cNvSpPr>
            <a:spLocks/>
          </p:cNvSpPr>
          <p:nvPr/>
        </p:nvSpPr>
        <p:spPr>
          <a:xfrm>
            <a:off x="9356291" y="4865364"/>
            <a:ext cx="2620800" cy="1215684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  <a:sym typeface="Futura"/>
              </a:rPr>
              <a:t>Missingness Not at Random</a:t>
            </a:r>
            <a:endParaRPr lang="en-US" sz="1400">
              <a:solidFill>
                <a:schemeClr val="tx1"/>
              </a:solidFill>
              <a:sym typeface="Futura"/>
            </a:endParaRPr>
          </a:p>
          <a:p>
            <a:pPr marL="285750" lvl="1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tx1"/>
                </a:solidFill>
                <a:sym typeface="Futura"/>
              </a:rPr>
              <a:t>As Missingness Flags</a:t>
            </a:r>
          </a:p>
          <a:p>
            <a:pPr marL="0" lvl="1">
              <a:spcAft>
                <a:spcPts val="600"/>
              </a:spcAft>
              <a:tabLst>
                <a:tab pos="307975" algn="l"/>
              </a:tabLst>
              <a:defRPr/>
            </a:pPr>
            <a:r>
              <a:rPr lang="en-US" sz="1200">
                <a:solidFill>
                  <a:schemeClr val="tx1"/>
                </a:solidFill>
                <a:sym typeface="Futura"/>
              </a:rPr>
              <a:t> 	for LCT, ACT provide insights</a:t>
            </a:r>
            <a:endParaRPr lang="en-US" sz="1400">
              <a:solidFill>
                <a:schemeClr val="tx1"/>
              </a:solidFill>
              <a:sym typeface="Futura"/>
            </a:endParaRPr>
          </a:p>
        </p:txBody>
      </p:sp>
      <p:sp>
        <p:nvSpPr>
          <p:cNvPr id="37" name="Textfeld 27">
            <a:extLst>
              <a:ext uri="{FF2B5EF4-FFF2-40B4-BE49-F238E27FC236}">
                <a16:creationId xmlns:a16="http://schemas.microsoft.com/office/drawing/2014/main" id="{AB98919D-01FF-89E2-D652-3662A0371A08}"/>
              </a:ext>
            </a:extLst>
          </p:cNvPr>
          <p:cNvSpPr txBox="1">
            <a:spLocks/>
          </p:cNvSpPr>
          <p:nvPr/>
        </p:nvSpPr>
        <p:spPr>
          <a:xfrm>
            <a:off x="11449447" y="5647064"/>
            <a:ext cx="609149" cy="503434"/>
          </a:xfrm>
          <a:prstGeom prst="rect">
            <a:avLst/>
          </a:prstGeom>
          <a:noFill/>
        </p:spPr>
        <p:txBody>
          <a:bodyPr wrap="none" lIns="0" tIns="0" rIns="107958" bIns="71972" rtlCol="0" anchor="b">
            <a:spAutoFit/>
          </a:bodyPr>
          <a:lstStyle/>
          <a:p>
            <a:pPr algn="r" defTabSz="914034" fontAlgn="base">
              <a:spcBef>
                <a:spcPts val="400"/>
              </a:spcBef>
              <a:spcAft>
                <a:spcPct val="0"/>
              </a:spcAft>
              <a:buClr>
                <a:srgbClr val="7D8482"/>
              </a:buClr>
              <a:buSzPct val="80000"/>
            </a:pPr>
            <a:r>
              <a:rPr lang="en-US" sz="2799" b="1">
                <a:solidFill>
                  <a:schemeClr val="accent1"/>
                </a:solidFill>
                <a:ea typeface="Verdana" pitchFamily="34" charset="0"/>
                <a:cs typeface="Verdana" pitchFamily="34" charset="0"/>
              </a:rPr>
              <a:t>03.</a:t>
            </a:r>
          </a:p>
        </p:txBody>
      </p:sp>
      <p:pic>
        <p:nvPicPr>
          <p:cNvPr id="4" name="Grafik 3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BBEB5B3F-A37B-5DC2-F803-8F239B95C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36" name="Textfeld 27">
            <a:extLst>
              <a:ext uri="{FF2B5EF4-FFF2-40B4-BE49-F238E27FC236}">
                <a16:creationId xmlns:a16="http://schemas.microsoft.com/office/drawing/2014/main" id="{E9D6483D-0C01-A7E0-BA2C-6EFDBA1E6BEC}"/>
              </a:ext>
            </a:extLst>
          </p:cNvPr>
          <p:cNvSpPr txBox="1">
            <a:spLocks/>
          </p:cNvSpPr>
          <p:nvPr/>
        </p:nvSpPr>
        <p:spPr>
          <a:xfrm>
            <a:off x="11367942" y="3967732"/>
            <a:ext cx="609149" cy="503434"/>
          </a:xfrm>
          <a:prstGeom prst="rect">
            <a:avLst/>
          </a:prstGeom>
          <a:noFill/>
        </p:spPr>
        <p:txBody>
          <a:bodyPr wrap="none" lIns="0" tIns="0" rIns="107958" bIns="71972" rtlCol="0" anchor="b">
            <a:spAutoFit/>
          </a:bodyPr>
          <a:lstStyle/>
          <a:p>
            <a:pPr algn="r" defTabSz="914034" fontAlgn="base">
              <a:spcBef>
                <a:spcPts val="400"/>
              </a:spcBef>
              <a:spcAft>
                <a:spcPct val="0"/>
              </a:spcAft>
              <a:buClr>
                <a:srgbClr val="7D8482"/>
              </a:buClr>
              <a:buSzPct val="80000"/>
            </a:pPr>
            <a:r>
              <a:rPr lang="en-US" sz="2799" b="1">
                <a:solidFill>
                  <a:schemeClr val="accent1"/>
                </a:solidFill>
                <a:ea typeface="Verdana" pitchFamily="34" charset="0"/>
                <a:cs typeface="Verdana" pitchFamily="34" charset="0"/>
              </a:rPr>
              <a:t>02.</a:t>
            </a:r>
          </a:p>
        </p:txBody>
      </p:sp>
      <p:sp>
        <p:nvSpPr>
          <p:cNvPr id="9" name="Rechteck 23">
            <a:extLst>
              <a:ext uri="{FF2B5EF4-FFF2-40B4-BE49-F238E27FC236}">
                <a16:creationId xmlns:a16="http://schemas.microsoft.com/office/drawing/2014/main" id="{450786C1-EC9A-CA9C-D9EE-3345174BAD72}"/>
              </a:ext>
            </a:extLst>
          </p:cNvPr>
          <p:cNvSpPr>
            <a:spLocks/>
          </p:cNvSpPr>
          <p:nvPr/>
        </p:nvSpPr>
        <p:spPr>
          <a:xfrm>
            <a:off x="9356291" y="3319050"/>
            <a:ext cx="2620800" cy="1215684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>
                <a:solidFill>
                  <a:schemeClr val="accent1"/>
                </a:solidFill>
                <a:sym typeface="Futura"/>
              </a:rPr>
              <a:t>No Legal Default/Bankruptcy</a:t>
            </a:r>
            <a:endParaRPr lang="en-US" sz="1400">
              <a:solidFill>
                <a:schemeClr val="tx1"/>
              </a:solidFill>
              <a:sym typeface="Futura"/>
            </a:endParaRPr>
          </a:p>
          <a:p>
            <a:pPr marL="285750" indent="-285750"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sym typeface="Futura"/>
              </a:rPr>
              <a:t>No Default data or Chapter 11</a:t>
            </a:r>
          </a:p>
          <a:p>
            <a:pPr>
              <a:spcAft>
                <a:spcPts val="600"/>
              </a:spcAft>
              <a:buClr>
                <a:srgbClr val="000000"/>
              </a:buClr>
              <a:tabLst>
                <a:tab pos="307975" algn="l"/>
              </a:tabLst>
            </a:pPr>
            <a:r>
              <a:rPr lang="en-US" sz="1200">
                <a:solidFill>
                  <a:schemeClr val="tx1"/>
                </a:solidFill>
                <a:sym typeface="Futura"/>
              </a:rPr>
              <a:t>	Insolvency filings</a:t>
            </a:r>
          </a:p>
        </p:txBody>
      </p:sp>
      <p:sp>
        <p:nvSpPr>
          <p:cNvPr id="12" name="Textfeld 27">
            <a:extLst>
              <a:ext uri="{FF2B5EF4-FFF2-40B4-BE49-F238E27FC236}">
                <a16:creationId xmlns:a16="http://schemas.microsoft.com/office/drawing/2014/main" id="{6CF84ADA-4681-38B2-A0A4-FEB77D88316C}"/>
              </a:ext>
            </a:extLst>
          </p:cNvPr>
          <p:cNvSpPr txBox="1">
            <a:spLocks/>
          </p:cNvSpPr>
          <p:nvPr/>
        </p:nvSpPr>
        <p:spPr>
          <a:xfrm>
            <a:off x="11449447" y="4103519"/>
            <a:ext cx="609149" cy="503434"/>
          </a:xfrm>
          <a:prstGeom prst="rect">
            <a:avLst/>
          </a:prstGeom>
          <a:noFill/>
        </p:spPr>
        <p:txBody>
          <a:bodyPr wrap="none" lIns="0" tIns="0" rIns="107958" bIns="71972" rtlCol="0" anchor="b">
            <a:spAutoFit/>
          </a:bodyPr>
          <a:lstStyle/>
          <a:p>
            <a:pPr algn="r" defTabSz="914034" fontAlgn="base">
              <a:spcBef>
                <a:spcPts val="400"/>
              </a:spcBef>
              <a:spcAft>
                <a:spcPct val="0"/>
              </a:spcAft>
              <a:buClr>
                <a:srgbClr val="7D8482"/>
              </a:buClr>
              <a:buSzPct val="80000"/>
            </a:pPr>
            <a:r>
              <a:rPr lang="en-US" sz="2799" b="1">
                <a:solidFill>
                  <a:schemeClr val="accent1"/>
                </a:solidFill>
                <a:ea typeface="Verdana" pitchFamily="34" charset="0"/>
                <a:cs typeface="Verdana" pitchFamily="34" charset="0"/>
              </a:rPr>
              <a:t>02.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B7CA2C7F-50AE-E897-C0AF-0683DC8F2542}"/>
              </a:ext>
            </a:extLst>
          </p:cNvPr>
          <p:cNvSpPr txBox="1">
            <a:spLocks/>
          </p:cNvSpPr>
          <p:nvPr/>
        </p:nvSpPr>
        <p:spPr>
          <a:xfrm>
            <a:off x="607091" y="1027440"/>
            <a:ext cx="8416909" cy="1216800"/>
          </a:xfrm>
          <a:prstGeom prst="rect">
            <a:avLst/>
          </a:prstGeom>
        </p:spPr>
        <p:txBody>
          <a:bodyPr wrap="square" lIns="0" tIns="144000" rIns="0" bIns="144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The performance gap is most plausibly driven by nonlinear, state-contingent interactions: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Leverage and liquidity become sharply informative only when profitability and debt service capacity are jointly constrained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241A1D3-F2E0-DA67-5029-8CF34B452BDB}"/>
              </a:ext>
            </a:extLst>
          </p:cNvPr>
          <p:cNvSpPr txBox="1">
            <a:spLocks/>
          </p:cNvSpPr>
          <p:nvPr/>
        </p:nvSpPr>
        <p:spPr>
          <a:xfrm>
            <a:off x="607091" y="2362078"/>
            <a:ext cx="8416909" cy="1216800"/>
          </a:xfrm>
          <a:prstGeom prst="rect">
            <a:avLst/>
          </a:prstGeom>
        </p:spPr>
        <p:txBody>
          <a:bodyPr wrap="square" lIns="0" tIns="144000" rIns="0" bIns="144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noProof="1"/>
              <a:t>Managerial Implications: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Liquidity stress flags, specifically current ratio (&lt; 1.0), quick ratio (&lt; 0.8) breaches, positive relationship to near-term distress, accompanying approximately 58% of all large probability of distress risk-tier jumps.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Payout-policy events like dividend cuts show evidence for decreasing probability of distress. </a:t>
            </a:r>
          </a:p>
        </p:txBody>
      </p:sp>
      <p:cxnSp>
        <p:nvCxnSpPr>
          <p:cNvPr id="8" name="Gerade Verbindung 30">
            <a:extLst>
              <a:ext uri="{FF2B5EF4-FFF2-40B4-BE49-F238E27FC236}">
                <a16:creationId xmlns:a16="http://schemas.microsoft.com/office/drawing/2014/main" id="{419018BC-8ABC-8B3A-D593-FAB7745A67CE}"/>
              </a:ext>
            </a:extLst>
          </p:cNvPr>
          <p:cNvCxnSpPr>
            <a:cxnSpLocks/>
          </p:cNvCxnSpPr>
          <p:nvPr/>
        </p:nvCxnSpPr>
        <p:spPr bwMode="gray">
          <a:xfrm>
            <a:off x="607090" y="3637797"/>
            <a:ext cx="8416909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30">
            <a:extLst>
              <a:ext uri="{FF2B5EF4-FFF2-40B4-BE49-F238E27FC236}">
                <a16:creationId xmlns:a16="http://schemas.microsoft.com/office/drawing/2014/main" id="{A80F109A-6B56-EABA-DEB7-DA3DF6838D46}"/>
              </a:ext>
            </a:extLst>
          </p:cNvPr>
          <p:cNvCxnSpPr>
            <a:cxnSpLocks/>
          </p:cNvCxnSpPr>
          <p:nvPr/>
        </p:nvCxnSpPr>
        <p:spPr bwMode="gray">
          <a:xfrm>
            <a:off x="607090" y="2303159"/>
            <a:ext cx="8416909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66C6D979-4BC7-253C-3048-EA15C94A31E5}"/>
              </a:ext>
            </a:extLst>
          </p:cNvPr>
          <p:cNvSpPr txBox="1">
            <a:spLocks/>
          </p:cNvSpPr>
          <p:nvPr/>
        </p:nvSpPr>
        <p:spPr>
          <a:xfrm>
            <a:off x="607091" y="3696716"/>
            <a:ext cx="8416909" cy="1216800"/>
          </a:xfrm>
          <a:prstGeom prst="rect">
            <a:avLst/>
          </a:prstGeom>
        </p:spPr>
        <p:txBody>
          <a:bodyPr wrap="square" lIns="0" tIns="144000" rIns="0" bIns="144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Interpretation is constrained by the label: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Tail miscalibration and coarse risk-tier patterns can persist even after calibration (No real PDs)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Negative equity can mix genuinely constrained firms with high-intangible / aggressive capital structure cases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Models can learn the accounting defined definition</a:t>
            </a:r>
          </a:p>
        </p:txBody>
      </p: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B061E010-09D9-38CF-0E0E-E87BB2C2BE74}"/>
              </a:ext>
            </a:extLst>
          </p:cNvPr>
          <p:cNvCxnSpPr>
            <a:cxnSpLocks/>
          </p:cNvCxnSpPr>
          <p:nvPr/>
        </p:nvCxnSpPr>
        <p:spPr bwMode="gray">
          <a:xfrm>
            <a:off x="607090" y="4972435"/>
            <a:ext cx="8416909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5EF97082-B945-E9D4-8A03-11FDE48986A2}"/>
              </a:ext>
            </a:extLst>
          </p:cNvPr>
          <p:cNvSpPr txBox="1">
            <a:spLocks/>
          </p:cNvSpPr>
          <p:nvPr/>
        </p:nvSpPr>
        <p:spPr>
          <a:xfrm>
            <a:off x="607091" y="5031353"/>
            <a:ext cx="8416909" cy="1216800"/>
          </a:xfrm>
          <a:prstGeom prst="rect">
            <a:avLst/>
          </a:prstGeom>
        </p:spPr>
        <p:txBody>
          <a:bodyPr wrap="square" lIns="0" tIns="144000" rIns="0" bIns="1440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noProof="1"/>
              <a:t>Deployability is robust to capacity tightening: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/>
              <a:t>Deployed as decision support, not as an automated decision maker</a:t>
            </a:r>
            <a:r>
              <a:rPr lang="de-DE" sz="1400"/>
              <a:t> (Early </a:t>
            </a:r>
            <a:r>
              <a:rPr lang="de-DE" sz="1400" err="1"/>
              <a:t>Warning</a:t>
            </a:r>
            <a:r>
              <a:rPr lang="de-DE" sz="1400"/>
              <a:t> Screening Tool)</a:t>
            </a:r>
            <a:endParaRPr lang="en-US" sz="1400" noProof="1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400" noProof="1"/>
              <a:t>Stricter capacity mainly trades recall vs precision while ranking quality stays stable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400" noProof="1"/>
          </a:p>
        </p:txBody>
      </p:sp>
    </p:spTree>
    <p:extLst>
      <p:ext uri="{BB962C8B-B14F-4D97-AF65-F5344CB8AC3E}">
        <p14:creationId xmlns:p14="http://schemas.microsoft.com/office/powerpoint/2010/main" val="3259389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ED1BE1-8C7D-855F-3F81-29A5196C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2D02780-95FE-34FB-1D9C-9B1801808E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115961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D02780-95FE-34FB-1D9C-9B1801808E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1F1AFB2-D706-D497-60C8-30C3011B4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noProof="0">
                <a:sym typeface="Futura"/>
              </a:rPr>
              <a:t>Conclusion</a:t>
            </a:r>
            <a:endParaRPr lang="en-US"/>
          </a:p>
        </p:txBody>
      </p:sp>
      <p:sp>
        <p:nvSpPr>
          <p:cNvPr id="27" name="Rechteck 29">
            <a:extLst>
              <a:ext uri="{FF2B5EF4-FFF2-40B4-BE49-F238E27FC236}">
                <a16:creationId xmlns:a16="http://schemas.microsoft.com/office/drawing/2014/main" id="{D16E1F9F-4015-1BB0-F8D4-BD12E2B19489}"/>
              </a:ext>
            </a:extLst>
          </p:cNvPr>
          <p:cNvSpPr>
            <a:spLocks/>
          </p:cNvSpPr>
          <p:nvPr/>
        </p:nvSpPr>
        <p:spPr bwMode="gray">
          <a:xfrm>
            <a:off x="8200351" y="1557338"/>
            <a:ext cx="140367" cy="4500563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rgbClr val="3C464B"/>
              </a:solidFill>
            </a:endParaRPr>
          </a:p>
        </p:txBody>
      </p:sp>
      <p:sp>
        <p:nvSpPr>
          <p:cNvPr id="28" name="Rectangle 666">
            <a:extLst>
              <a:ext uri="{FF2B5EF4-FFF2-40B4-BE49-F238E27FC236}">
                <a16:creationId xmlns:a16="http://schemas.microsoft.com/office/drawing/2014/main" id="{E67F152A-08A6-A9E1-78C8-E166E1DA6101}"/>
              </a:ext>
            </a:extLst>
          </p:cNvPr>
          <p:cNvSpPr>
            <a:spLocks/>
          </p:cNvSpPr>
          <p:nvPr/>
        </p:nvSpPr>
        <p:spPr bwMode="gray">
          <a:xfrm>
            <a:off x="8599487" y="5037916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9" name="Rectangle 666">
            <a:extLst>
              <a:ext uri="{FF2B5EF4-FFF2-40B4-BE49-F238E27FC236}">
                <a16:creationId xmlns:a16="http://schemas.microsoft.com/office/drawing/2014/main" id="{C3F279ED-1050-50FE-2FB7-33CF1B7E0670}"/>
              </a:ext>
            </a:extLst>
          </p:cNvPr>
          <p:cNvSpPr>
            <a:spLocks/>
          </p:cNvSpPr>
          <p:nvPr/>
        </p:nvSpPr>
        <p:spPr bwMode="gray">
          <a:xfrm>
            <a:off x="8599487" y="4363266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Rectangle 666">
            <a:extLst>
              <a:ext uri="{FF2B5EF4-FFF2-40B4-BE49-F238E27FC236}">
                <a16:creationId xmlns:a16="http://schemas.microsoft.com/office/drawing/2014/main" id="{0910B5FF-A147-028D-3EB8-618E6164AF06}"/>
              </a:ext>
            </a:extLst>
          </p:cNvPr>
          <p:cNvSpPr>
            <a:spLocks/>
          </p:cNvSpPr>
          <p:nvPr/>
        </p:nvSpPr>
        <p:spPr bwMode="gray">
          <a:xfrm>
            <a:off x="8599487" y="3688617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1" name="Rechteck 33">
            <a:extLst>
              <a:ext uri="{FF2B5EF4-FFF2-40B4-BE49-F238E27FC236}">
                <a16:creationId xmlns:a16="http://schemas.microsoft.com/office/drawing/2014/main" id="{B7C5930E-94C5-6086-238B-52B8C8687607}"/>
              </a:ext>
            </a:extLst>
          </p:cNvPr>
          <p:cNvSpPr>
            <a:spLocks/>
          </p:cNvSpPr>
          <p:nvPr/>
        </p:nvSpPr>
        <p:spPr bwMode="gray">
          <a:xfrm>
            <a:off x="8598938" y="3504421"/>
            <a:ext cx="3221587" cy="17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>
                <a:solidFill>
                  <a:schemeClr val="accent1"/>
                </a:solidFill>
                <a:ea typeface="Arial Unicode MS"/>
              </a:rPr>
              <a:t>Next steps:</a:t>
            </a:r>
            <a:endParaRPr lang="en-US" sz="1100">
              <a:solidFill>
                <a:schemeClr val="accent1"/>
              </a:solidFill>
              <a:ea typeface="Arial Unicode MS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182A64C3-7B4F-42F6-7173-42300F33180B}"/>
              </a:ext>
            </a:extLst>
          </p:cNvPr>
          <p:cNvSpPr txBox="1">
            <a:spLocks/>
          </p:cNvSpPr>
          <p:nvPr/>
        </p:nvSpPr>
        <p:spPr bwMode="gray">
          <a:xfrm>
            <a:off x="8598823" y="3955827"/>
            <a:ext cx="1594732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noProof="1"/>
              <a:t>Vary FN/FP cost ratios</a:t>
            </a:r>
            <a:endParaRPr lang="en-US" sz="1400">
              <a:ea typeface="Open Sans" charset="0"/>
              <a:cs typeface="Open Sans" charset="0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FF1F272A-FFE6-42A7-706E-0E67D67D4565}"/>
              </a:ext>
            </a:extLst>
          </p:cNvPr>
          <p:cNvSpPr txBox="1">
            <a:spLocks/>
          </p:cNvSpPr>
          <p:nvPr/>
        </p:nvSpPr>
        <p:spPr bwMode="gray">
          <a:xfrm>
            <a:off x="8598823" y="5305125"/>
            <a:ext cx="2763642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noProof="1"/>
              <a:t>Add higher-frequency / market signals</a:t>
            </a:r>
            <a:endParaRPr lang="en-US" sz="1400">
              <a:ea typeface="Open Sans" charset="0"/>
              <a:cs typeface="Open Sans" charset="0"/>
            </a:endParaRP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EF04070C-5F5C-989B-9764-CC4297841097}"/>
              </a:ext>
            </a:extLst>
          </p:cNvPr>
          <p:cNvSpPr txBox="1">
            <a:spLocks/>
          </p:cNvSpPr>
          <p:nvPr/>
        </p:nvSpPr>
        <p:spPr bwMode="gray">
          <a:xfrm>
            <a:off x="8598823" y="4537240"/>
            <a:ext cx="1161403" cy="37114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noProof="1"/>
              <a:t>Test stability across macro cycles</a:t>
            </a:r>
            <a:endParaRPr lang="en-US" sz="1400">
              <a:ea typeface="Open Sans" charset="0"/>
              <a:cs typeface="Open Sans" charset="0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EBF79A28-4DAF-56B5-43C8-7A0CF113F927}"/>
              </a:ext>
            </a:extLst>
          </p:cNvPr>
          <p:cNvSpPr>
            <a:spLocks/>
          </p:cNvSpPr>
          <p:nvPr/>
        </p:nvSpPr>
        <p:spPr bwMode="gray">
          <a:xfrm>
            <a:off x="4018507" y="2568574"/>
            <a:ext cx="3923075" cy="154463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288000" tIns="216000" rIns="288000" bIns="216000" rtlCol="0" anchor="ctr"/>
          <a:lstStyle/>
          <a:p>
            <a:pPr>
              <a:defRPr/>
            </a:pPr>
            <a:r>
              <a:rPr lang="en-US" sz="4800" noProof="1"/>
              <a:t>75,005 </a:t>
            </a:r>
          </a:p>
          <a:p>
            <a:pPr>
              <a:defRPr/>
            </a:pPr>
            <a:r>
              <a:rPr lang="de-DE" sz="2400"/>
              <a:t>Total </a:t>
            </a:r>
            <a:r>
              <a:rPr lang="de-DE" sz="2400" err="1"/>
              <a:t>Observations</a:t>
            </a:r>
            <a:endParaRPr lang="en-US" sz="2400">
              <a:ea typeface="Open Sans" charset="0"/>
              <a:cs typeface="Open Sans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6CAE4-BC5D-5E17-F0AF-581C40153636}"/>
              </a:ext>
            </a:extLst>
          </p:cNvPr>
          <p:cNvSpPr txBox="1">
            <a:spLocks/>
          </p:cNvSpPr>
          <p:nvPr/>
        </p:nvSpPr>
        <p:spPr bwMode="gray">
          <a:xfrm>
            <a:off x="4018507" y="1557338"/>
            <a:ext cx="5383910" cy="914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>
                <a:solidFill>
                  <a:schemeClr val="accent1"/>
                </a:solidFill>
                <a:ea typeface="Open Sans" charset="0"/>
                <a:cs typeface="Open Sans" charset="0"/>
              </a:rPr>
              <a:t>Screening the top 20% captures 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accent1"/>
                </a:solidFill>
                <a:ea typeface="Open Sans" charset="0"/>
                <a:cs typeface="Open Sans" charset="0"/>
              </a:rPr>
              <a:t>87.9% of transition events (XGB)</a:t>
            </a:r>
            <a:endParaRPr lang="en-US">
              <a:ea typeface="Open Sans" charset="0"/>
              <a:cs typeface="Open Sans" charset="0"/>
            </a:endParaRPr>
          </a:p>
        </p:txBody>
      </p:sp>
      <p:sp>
        <p:nvSpPr>
          <p:cNvPr id="15" name="Rectangle 511">
            <a:extLst>
              <a:ext uri="{FF2B5EF4-FFF2-40B4-BE49-F238E27FC236}">
                <a16:creationId xmlns:a16="http://schemas.microsoft.com/office/drawing/2014/main" id="{76E9C1C2-4E61-3BE9-C85C-D7B0C4A646B7}"/>
              </a:ext>
            </a:extLst>
          </p:cNvPr>
          <p:cNvSpPr>
            <a:spLocks/>
          </p:cNvSpPr>
          <p:nvPr/>
        </p:nvSpPr>
        <p:spPr bwMode="gray">
          <a:xfrm>
            <a:off x="4018507" y="5534119"/>
            <a:ext cx="3923075" cy="52322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72000" tIns="36000" rIns="72000" bIns="3600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chemeClr val="tx1"/>
                </a:solidFill>
                <a:ea typeface="Open Sans" charset="0"/>
                <a:cs typeface="Open Sans" charset="0"/>
              </a:rPr>
              <a:t>Capital structure, Profitability, and Debt-service pressure as the main drivers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0239D0C1-6032-C9CC-F8D2-93644E3E77BE}"/>
              </a:ext>
            </a:extLst>
          </p:cNvPr>
          <p:cNvSpPr txBox="1">
            <a:spLocks/>
          </p:cNvSpPr>
          <p:nvPr/>
        </p:nvSpPr>
        <p:spPr bwMode="gray">
          <a:xfrm>
            <a:off x="4018507" y="4350548"/>
            <a:ext cx="3922713" cy="3711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>
                <a:ea typeface="Open Sans" charset="0"/>
                <a:cs typeface="Open Sans" charset="0"/>
              </a:rPr>
              <a:t>Firms</a:t>
            </a:r>
          </a:p>
        </p:txBody>
      </p:sp>
      <p:sp>
        <p:nvSpPr>
          <p:cNvPr id="12" name="Rectangle 462">
            <a:extLst>
              <a:ext uri="{FF2B5EF4-FFF2-40B4-BE49-F238E27FC236}">
                <a16:creationId xmlns:a16="http://schemas.microsoft.com/office/drawing/2014/main" id="{A4CE33DD-53D1-89C7-23AE-07D1F359E76C}"/>
              </a:ext>
            </a:extLst>
          </p:cNvPr>
          <p:cNvSpPr>
            <a:spLocks/>
          </p:cNvSpPr>
          <p:nvPr/>
        </p:nvSpPr>
        <p:spPr bwMode="gray">
          <a:xfrm>
            <a:off x="4018507" y="4799650"/>
            <a:ext cx="1431482" cy="61555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4000" b="1">
                <a:ea typeface="Chronicle Display Roman" charset="0"/>
                <a:cs typeface="Chronicle Display Roman" charset="0"/>
              </a:rPr>
              <a:t>11,403</a:t>
            </a:r>
          </a:p>
        </p:txBody>
      </p:sp>
      <p:grpSp>
        <p:nvGrpSpPr>
          <p:cNvPr id="40" name="Gruppieren 42">
            <a:extLst>
              <a:ext uri="{FF2B5EF4-FFF2-40B4-BE49-F238E27FC236}">
                <a16:creationId xmlns:a16="http://schemas.microsoft.com/office/drawing/2014/main" id="{9B4572E0-D0C2-F917-B04E-5176A7DCBCF5}"/>
              </a:ext>
            </a:extLst>
          </p:cNvPr>
          <p:cNvGrpSpPr>
            <a:grpSpLocks/>
          </p:cNvGrpSpPr>
          <p:nvPr/>
        </p:nvGrpSpPr>
        <p:grpSpPr bwMode="gray">
          <a:xfrm>
            <a:off x="5642186" y="4933409"/>
            <a:ext cx="2299034" cy="348040"/>
            <a:chOff x="6044620" y="5125883"/>
            <a:chExt cx="1865980" cy="282482"/>
          </a:xfrm>
          <a:solidFill>
            <a:schemeClr val="accent6"/>
          </a:solidFill>
        </p:grpSpPr>
        <p:grpSp>
          <p:nvGrpSpPr>
            <p:cNvPr id="41" name="Gruppieren 43">
              <a:extLst>
                <a:ext uri="{FF2B5EF4-FFF2-40B4-BE49-F238E27FC236}">
                  <a16:creationId xmlns:a16="http://schemas.microsoft.com/office/drawing/2014/main" id="{E4D94B3F-39C5-24EE-E37D-6592CB43B2FF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044620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63" name="Freeform 301">
                <a:extLst>
                  <a:ext uri="{FF2B5EF4-FFF2-40B4-BE49-F238E27FC236}">
                    <a16:creationId xmlns:a16="http://schemas.microsoft.com/office/drawing/2014/main" id="{755E0509-A83A-80F8-07EB-F6C9F405B35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302">
                <a:extLst>
                  <a:ext uri="{FF2B5EF4-FFF2-40B4-BE49-F238E27FC236}">
                    <a16:creationId xmlns:a16="http://schemas.microsoft.com/office/drawing/2014/main" id="{69E94DF8-A6EA-8F4E-8993-FEF75677EA5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303">
                <a:extLst>
                  <a:ext uri="{FF2B5EF4-FFF2-40B4-BE49-F238E27FC236}">
                    <a16:creationId xmlns:a16="http://schemas.microsoft.com/office/drawing/2014/main" id="{3FE78A4C-DE48-A3B5-33B8-8E461711597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2" name="Gruppieren 44">
              <a:extLst>
                <a:ext uri="{FF2B5EF4-FFF2-40B4-BE49-F238E27FC236}">
                  <a16:creationId xmlns:a16="http://schemas.microsoft.com/office/drawing/2014/main" id="{218EBF38-21DA-430B-F46A-83EB6886D221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365428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60" name="Freeform 301">
                <a:extLst>
                  <a:ext uri="{FF2B5EF4-FFF2-40B4-BE49-F238E27FC236}">
                    <a16:creationId xmlns:a16="http://schemas.microsoft.com/office/drawing/2014/main" id="{026799E6-A344-2B2B-69DB-20CD4927F79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302">
                <a:extLst>
                  <a:ext uri="{FF2B5EF4-FFF2-40B4-BE49-F238E27FC236}">
                    <a16:creationId xmlns:a16="http://schemas.microsoft.com/office/drawing/2014/main" id="{63CBC367-F38A-55D6-68B4-B768AF527CE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303">
                <a:extLst>
                  <a:ext uri="{FF2B5EF4-FFF2-40B4-BE49-F238E27FC236}">
                    <a16:creationId xmlns:a16="http://schemas.microsoft.com/office/drawing/2014/main" id="{531698B0-5C66-FA8E-0ED9-9267573BC39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3" name="Gruppieren 45">
              <a:extLst>
                <a:ext uri="{FF2B5EF4-FFF2-40B4-BE49-F238E27FC236}">
                  <a16:creationId xmlns:a16="http://schemas.microsoft.com/office/drawing/2014/main" id="{FD277D54-D3B9-F843-8752-384C2F2CB620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6686236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7" name="Freeform 301">
                <a:extLst>
                  <a:ext uri="{FF2B5EF4-FFF2-40B4-BE49-F238E27FC236}">
                    <a16:creationId xmlns:a16="http://schemas.microsoft.com/office/drawing/2014/main" id="{6262B89F-50B9-D55F-CE57-4C73EC9C16C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302">
                <a:extLst>
                  <a:ext uri="{FF2B5EF4-FFF2-40B4-BE49-F238E27FC236}">
                    <a16:creationId xmlns:a16="http://schemas.microsoft.com/office/drawing/2014/main" id="{5034BDE9-687F-99A4-DBC7-EBE57C98A3D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303">
                <a:extLst>
                  <a:ext uri="{FF2B5EF4-FFF2-40B4-BE49-F238E27FC236}">
                    <a16:creationId xmlns:a16="http://schemas.microsoft.com/office/drawing/2014/main" id="{82689FA5-1679-9E5E-A05B-D6DA8DC3EA8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uppieren 46">
              <a:extLst>
                <a:ext uri="{FF2B5EF4-FFF2-40B4-BE49-F238E27FC236}">
                  <a16:creationId xmlns:a16="http://schemas.microsoft.com/office/drawing/2014/main" id="{0E2C1208-6BD6-E878-F17A-22C6A297FFCE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07044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4" name="Freeform 301">
                <a:extLst>
                  <a:ext uri="{FF2B5EF4-FFF2-40B4-BE49-F238E27FC236}">
                    <a16:creationId xmlns:a16="http://schemas.microsoft.com/office/drawing/2014/main" id="{D61D2847-DC10-A513-915D-0DE6F2864C1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302">
                <a:extLst>
                  <a:ext uri="{FF2B5EF4-FFF2-40B4-BE49-F238E27FC236}">
                    <a16:creationId xmlns:a16="http://schemas.microsoft.com/office/drawing/2014/main" id="{C59675CB-61A1-9E39-1116-0061D51E02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303">
                <a:extLst>
                  <a:ext uri="{FF2B5EF4-FFF2-40B4-BE49-F238E27FC236}">
                    <a16:creationId xmlns:a16="http://schemas.microsoft.com/office/drawing/2014/main" id="{8309ABA4-E779-C0FF-B3E9-135425C6423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6" name="Gruppieren 47">
              <a:extLst>
                <a:ext uri="{FF2B5EF4-FFF2-40B4-BE49-F238E27FC236}">
                  <a16:creationId xmlns:a16="http://schemas.microsoft.com/office/drawing/2014/main" id="{468765E8-D410-A479-D83A-BE217323C78E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27852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51" name="Freeform 301">
                <a:extLst>
                  <a:ext uri="{FF2B5EF4-FFF2-40B4-BE49-F238E27FC236}">
                    <a16:creationId xmlns:a16="http://schemas.microsoft.com/office/drawing/2014/main" id="{FBDA3136-B236-2244-1FAA-28F2F1C3D50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302">
                <a:extLst>
                  <a:ext uri="{FF2B5EF4-FFF2-40B4-BE49-F238E27FC236}">
                    <a16:creationId xmlns:a16="http://schemas.microsoft.com/office/drawing/2014/main" id="{CE0B995E-5825-5621-7D6C-AD02F3A7F9C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303">
                <a:extLst>
                  <a:ext uri="{FF2B5EF4-FFF2-40B4-BE49-F238E27FC236}">
                    <a16:creationId xmlns:a16="http://schemas.microsoft.com/office/drawing/2014/main" id="{A2EA583A-C887-57E0-1C03-A0EAD422184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7" name="Gruppieren 48">
              <a:extLst>
                <a:ext uri="{FF2B5EF4-FFF2-40B4-BE49-F238E27FC236}">
                  <a16:creationId xmlns:a16="http://schemas.microsoft.com/office/drawing/2014/main" id="{D74A3A00-3D21-221B-A458-83C1E9A77FF2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648662" y="5125883"/>
              <a:ext cx="261938" cy="282482"/>
              <a:chOff x="6927851" y="6351"/>
              <a:chExt cx="323850" cy="349250"/>
            </a:xfrm>
            <a:grpFill/>
          </p:grpSpPr>
          <p:sp>
            <p:nvSpPr>
              <p:cNvPr id="48" name="Freeform 301">
                <a:extLst>
                  <a:ext uri="{FF2B5EF4-FFF2-40B4-BE49-F238E27FC236}">
                    <a16:creationId xmlns:a16="http://schemas.microsoft.com/office/drawing/2014/main" id="{75273DF4-5744-8409-7811-FCA52516BD8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27851" y="30163"/>
                <a:ext cx="323850" cy="325438"/>
              </a:xfrm>
              <a:custGeom>
                <a:avLst/>
                <a:gdLst>
                  <a:gd name="T0" fmla="*/ 108 w 216"/>
                  <a:gd name="T1" fmla="*/ 216 h 216"/>
                  <a:gd name="T2" fmla="*/ 107 w 216"/>
                  <a:gd name="T3" fmla="*/ 216 h 216"/>
                  <a:gd name="T4" fmla="*/ 3 w 216"/>
                  <a:gd name="T5" fmla="*/ 164 h 216"/>
                  <a:gd name="T6" fmla="*/ 0 w 216"/>
                  <a:gd name="T7" fmla="*/ 160 h 216"/>
                  <a:gd name="T8" fmla="*/ 0 w 216"/>
                  <a:gd name="T9" fmla="*/ 4 h 216"/>
                  <a:gd name="T10" fmla="*/ 2 w 216"/>
                  <a:gd name="T11" fmla="*/ 1 h 216"/>
                  <a:gd name="T12" fmla="*/ 6 w 216"/>
                  <a:gd name="T13" fmla="*/ 1 h 216"/>
                  <a:gd name="T14" fmla="*/ 108 w 216"/>
                  <a:gd name="T15" fmla="*/ 48 h 216"/>
                  <a:gd name="T16" fmla="*/ 211 w 216"/>
                  <a:gd name="T17" fmla="*/ 1 h 216"/>
                  <a:gd name="T18" fmla="*/ 214 w 216"/>
                  <a:gd name="T19" fmla="*/ 1 h 216"/>
                  <a:gd name="T20" fmla="*/ 216 w 216"/>
                  <a:gd name="T21" fmla="*/ 4 h 216"/>
                  <a:gd name="T22" fmla="*/ 216 w 216"/>
                  <a:gd name="T23" fmla="*/ 160 h 216"/>
                  <a:gd name="T24" fmla="*/ 214 w 216"/>
                  <a:gd name="T25" fmla="*/ 164 h 216"/>
                  <a:gd name="T26" fmla="*/ 110 w 216"/>
                  <a:gd name="T27" fmla="*/ 216 h 216"/>
                  <a:gd name="T28" fmla="*/ 108 w 216"/>
                  <a:gd name="T29" fmla="*/ 216 h 216"/>
                  <a:gd name="T30" fmla="*/ 8 w 216"/>
                  <a:gd name="T31" fmla="*/ 158 h 216"/>
                  <a:gd name="T32" fmla="*/ 108 w 216"/>
                  <a:gd name="T33" fmla="*/ 208 h 216"/>
                  <a:gd name="T34" fmla="*/ 208 w 216"/>
                  <a:gd name="T35" fmla="*/ 158 h 216"/>
                  <a:gd name="T36" fmla="*/ 208 w 216"/>
                  <a:gd name="T37" fmla="*/ 11 h 216"/>
                  <a:gd name="T38" fmla="*/ 110 w 216"/>
                  <a:gd name="T39" fmla="*/ 56 h 216"/>
                  <a:gd name="T40" fmla="*/ 107 w 216"/>
                  <a:gd name="T41" fmla="*/ 56 h 216"/>
                  <a:gd name="T42" fmla="*/ 8 w 216"/>
                  <a:gd name="T43" fmla="*/ 11 h 216"/>
                  <a:gd name="T44" fmla="*/ 8 w 216"/>
                  <a:gd name="T45" fmla="*/ 15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6" h="216">
                    <a:moveTo>
                      <a:pt x="108" y="216"/>
                    </a:moveTo>
                    <a:cubicBezTo>
                      <a:pt x="108" y="216"/>
                      <a:pt x="107" y="216"/>
                      <a:pt x="107" y="216"/>
                    </a:cubicBezTo>
                    <a:cubicBezTo>
                      <a:pt x="3" y="164"/>
                      <a:pt x="3" y="164"/>
                      <a:pt x="3" y="164"/>
                    </a:cubicBezTo>
                    <a:cubicBezTo>
                      <a:pt x="1" y="163"/>
                      <a:pt x="0" y="162"/>
                      <a:pt x="0" y="16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6" y="1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2" y="0"/>
                      <a:pt x="213" y="0"/>
                      <a:pt x="214" y="1"/>
                    </a:cubicBezTo>
                    <a:cubicBezTo>
                      <a:pt x="216" y="2"/>
                      <a:pt x="216" y="3"/>
                      <a:pt x="216" y="4"/>
                    </a:cubicBezTo>
                    <a:cubicBezTo>
                      <a:pt x="216" y="160"/>
                      <a:pt x="216" y="160"/>
                      <a:pt x="216" y="160"/>
                    </a:cubicBezTo>
                    <a:cubicBezTo>
                      <a:pt x="216" y="162"/>
                      <a:pt x="215" y="163"/>
                      <a:pt x="214" y="164"/>
                    </a:cubicBezTo>
                    <a:cubicBezTo>
                      <a:pt x="110" y="216"/>
                      <a:pt x="110" y="216"/>
                      <a:pt x="110" y="216"/>
                    </a:cubicBezTo>
                    <a:cubicBezTo>
                      <a:pt x="110" y="216"/>
                      <a:pt x="109" y="216"/>
                      <a:pt x="108" y="216"/>
                    </a:cubicBezTo>
                    <a:close/>
                    <a:moveTo>
                      <a:pt x="8" y="158"/>
                    </a:moveTo>
                    <a:cubicBezTo>
                      <a:pt x="108" y="208"/>
                      <a:pt x="108" y="208"/>
                      <a:pt x="108" y="208"/>
                    </a:cubicBezTo>
                    <a:cubicBezTo>
                      <a:pt x="208" y="158"/>
                      <a:pt x="208" y="158"/>
                      <a:pt x="208" y="158"/>
                    </a:cubicBezTo>
                    <a:cubicBezTo>
                      <a:pt x="208" y="11"/>
                      <a:pt x="208" y="11"/>
                      <a:pt x="208" y="11"/>
                    </a:cubicBezTo>
                    <a:cubicBezTo>
                      <a:pt x="110" y="56"/>
                      <a:pt x="110" y="56"/>
                      <a:pt x="110" y="56"/>
                    </a:cubicBezTo>
                    <a:cubicBezTo>
                      <a:pt x="109" y="56"/>
                      <a:pt x="108" y="56"/>
                      <a:pt x="107" y="56"/>
                    </a:cubicBezTo>
                    <a:cubicBezTo>
                      <a:pt x="8" y="11"/>
                      <a:pt x="8" y="11"/>
                      <a:pt x="8" y="11"/>
                    </a:cubicBezTo>
                    <a:lnTo>
                      <a:pt x="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302">
                <a:extLst>
                  <a:ext uri="{FF2B5EF4-FFF2-40B4-BE49-F238E27FC236}">
                    <a16:creationId xmlns:a16="http://schemas.microsoft.com/office/drawing/2014/main" id="{FC3B3401-FCC6-5215-BBB1-3D6CFF85C73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964364" y="6351"/>
                <a:ext cx="254000" cy="71438"/>
              </a:xfrm>
              <a:custGeom>
                <a:avLst/>
                <a:gdLst>
                  <a:gd name="T0" fmla="*/ 84 w 169"/>
                  <a:gd name="T1" fmla="*/ 48 h 48"/>
                  <a:gd name="T2" fmla="*/ 83 w 169"/>
                  <a:gd name="T3" fmla="*/ 48 h 48"/>
                  <a:gd name="T4" fmla="*/ 3 w 169"/>
                  <a:gd name="T5" fmla="*/ 8 h 48"/>
                  <a:gd name="T6" fmla="*/ 1 w 169"/>
                  <a:gd name="T7" fmla="*/ 3 h 48"/>
                  <a:gd name="T8" fmla="*/ 6 w 169"/>
                  <a:gd name="T9" fmla="*/ 1 h 48"/>
                  <a:gd name="T10" fmla="*/ 84 w 169"/>
                  <a:gd name="T11" fmla="*/ 40 h 48"/>
                  <a:gd name="T12" fmla="*/ 163 w 169"/>
                  <a:gd name="T13" fmla="*/ 1 h 48"/>
                  <a:gd name="T14" fmla="*/ 168 w 169"/>
                  <a:gd name="T15" fmla="*/ 3 h 48"/>
                  <a:gd name="T16" fmla="*/ 166 w 169"/>
                  <a:gd name="T17" fmla="*/ 8 h 48"/>
                  <a:gd name="T18" fmla="*/ 86 w 169"/>
                  <a:gd name="T19" fmla="*/ 48 h 48"/>
                  <a:gd name="T20" fmla="*/ 84 w 169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9" h="48">
                    <a:moveTo>
                      <a:pt x="84" y="48"/>
                    </a:moveTo>
                    <a:cubicBezTo>
                      <a:pt x="84" y="48"/>
                      <a:pt x="83" y="48"/>
                      <a:pt x="83" y="4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163" y="1"/>
                      <a:pt x="163" y="1"/>
                      <a:pt x="163" y="1"/>
                    </a:cubicBezTo>
                    <a:cubicBezTo>
                      <a:pt x="165" y="0"/>
                      <a:pt x="167" y="1"/>
                      <a:pt x="168" y="3"/>
                    </a:cubicBezTo>
                    <a:cubicBezTo>
                      <a:pt x="169" y="5"/>
                      <a:pt x="168" y="7"/>
                      <a:pt x="166" y="8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8"/>
                      <a:pt x="85" y="48"/>
                      <a:pt x="84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303">
                <a:extLst>
                  <a:ext uri="{FF2B5EF4-FFF2-40B4-BE49-F238E27FC236}">
                    <a16:creationId xmlns:a16="http://schemas.microsoft.com/office/drawing/2014/main" id="{F563FE89-BDA7-96AC-53EB-F87BF7B7102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083426" y="101601"/>
                <a:ext cx="12700" cy="254000"/>
              </a:xfrm>
              <a:custGeom>
                <a:avLst/>
                <a:gdLst>
                  <a:gd name="T0" fmla="*/ 4 w 8"/>
                  <a:gd name="T1" fmla="*/ 168 h 168"/>
                  <a:gd name="T2" fmla="*/ 0 w 8"/>
                  <a:gd name="T3" fmla="*/ 164 h 168"/>
                  <a:gd name="T4" fmla="*/ 0 w 8"/>
                  <a:gd name="T5" fmla="*/ 4 h 168"/>
                  <a:gd name="T6" fmla="*/ 4 w 8"/>
                  <a:gd name="T7" fmla="*/ 0 h 168"/>
                  <a:gd name="T8" fmla="*/ 8 w 8"/>
                  <a:gd name="T9" fmla="*/ 4 h 168"/>
                  <a:gd name="T10" fmla="*/ 8 w 8"/>
                  <a:gd name="T11" fmla="*/ 164 h 168"/>
                  <a:gd name="T12" fmla="*/ 4 w 8"/>
                  <a:gd name="T13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8">
                    <a:moveTo>
                      <a:pt x="4" y="168"/>
                    </a:moveTo>
                    <a:cubicBezTo>
                      <a:pt x="2" y="168"/>
                      <a:pt x="0" y="167"/>
                      <a:pt x="0" y="16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164"/>
                      <a:pt x="8" y="164"/>
                      <a:pt x="8" y="164"/>
                    </a:cubicBezTo>
                    <a:cubicBezTo>
                      <a:pt x="8" y="167"/>
                      <a:pt x="7" y="168"/>
                      <a:pt x="4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66" name="Gruppieren 67">
            <a:extLst>
              <a:ext uri="{FF2B5EF4-FFF2-40B4-BE49-F238E27FC236}">
                <a16:creationId xmlns:a16="http://schemas.microsoft.com/office/drawing/2014/main" id="{4E0AF99C-B4B0-3FC1-969B-8357389DA119}"/>
              </a:ext>
            </a:extLst>
          </p:cNvPr>
          <p:cNvGrpSpPr>
            <a:grpSpLocks/>
          </p:cNvGrpSpPr>
          <p:nvPr/>
        </p:nvGrpSpPr>
        <p:grpSpPr bwMode="gray">
          <a:xfrm>
            <a:off x="6954028" y="2801410"/>
            <a:ext cx="218785" cy="1078966"/>
            <a:chOff x="7048561" y="3160877"/>
            <a:chExt cx="204116" cy="1006626"/>
          </a:xfrm>
          <a:solidFill>
            <a:schemeClr val="accent6"/>
          </a:solidFill>
        </p:grpSpPr>
        <p:grpSp>
          <p:nvGrpSpPr>
            <p:cNvPr id="67" name="Gruppieren 68">
              <a:extLst>
                <a:ext uri="{FF2B5EF4-FFF2-40B4-BE49-F238E27FC236}">
                  <a16:creationId xmlns:a16="http://schemas.microsoft.com/office/drawing/2014/main" id="{4A4509C1-A17B-75F0-B59C-FA4982C69987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80" name="Freeform 579">
                <a:extLst>
                  <a:ext uri="{FF2B5EF4-FFF2-40B4-BE49-F238E27FC236}">
                    <a16:creationId xmlns:a16="http://schemas.microsoft.com/office/drawing/2014/main" id="{E3B68B23-9686-88B5-059E-0ADCF4D80D8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Freeform 580">
                <a:extLst>
                  <a:ext uri="{FF2B5EF4-FFF2-40B4-BE49-F238E27FC236}">
                    <a16:creationId xmlns:a16="http://schemas.microsoft.com/office/drawing/2014/main" id="{B3904CDC-4BFA-6433-A803-48FD2538017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Freeform 581">
                <a:extLst>
                  <a:ext uri="{FF2B5EF4-FFF2-40B4-BE49-F238E27FC236}">
                    <a16:creationId xmlns:a16="http://schemas.microsoft.com/office/drawing/2014/main" id="{24DCC731-9779-3B07-5C29-23FB03FA8AC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8" name="Gruppieren 69">
              <a:extLst>
                <a:ext uri="{FF2B5EF4-FFF2-40B4-BE49-F238E27FC236}">
                  <a16:creationId xmlns:a16="http://schemas.microsoft.com/office/drawing/2014/main" id="{28E44F77-C50A-62D8-7F85-76350F3E695B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7" name="Freeform 579">
                <a:extLst>
                  <a:ext uri="{FF2B5EF4-FFF2-40B4-BE49-F238E27FC236}">
                    <a16:creationId xmlns:a16="http://schemas.microsoft.com/office/drawing/2014/main" id="{A1620B97-3CBE-0F01-83E5-63ED3A6FED3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Freeform 580">
                <a:extLst>
                  <a:ext uri="{FF2B5EF4-FFF2-40B4-BE49-F238E27FC236}">
                    <a16:creationId xmlns:a16="http://schemas.microsoft.com/office/drawing/2014/main" id="{B444A524-952C-20DB-BCD2-506C81DB4C0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Freeform 581">
                <a:extLst>
                  <a:ext uri="{FF2B5EF4-FFF2-40B4-BE49-F238E27FC236}">
                    <a16:creationId xmlns:a16="http://schemas.microsoft.com/office/drawing/2014/main" id="{E99A077D-0A09-169A-A1EF-A8CF0662E6D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9" name="Gruppieren 70">
              <a:extLst>
                <a:ext uri="{FF2B5EF4-FFF2-40B4-BE49-F238E27FC236}">
                  <a16:creationId xmlns:a16="http://schemas.microsoft.com/office/drawing/2014/main" id="{A0A619C3-D3A4-9D8B-5306-A4E4BD597D7F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4" name="Freeform 579">
                <a:extLst>
                  <a:ext uri="{FF2B5EF4-FFF2-40B4-BE49-F238E27FC236}">
                    <a16:creationId xmlns:a16="http://schemas.microsoft.com/office/drawing/2014/main" id="{8AE788BD-5030-BEB5-E648-2D537BC11DE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580">
                <a:extLst>
                  <a:ext uri="{FF2B5EF4-FFF2-40B4-BE49-F238E27FC236}">
                    <a16:creationId xmlns:a16="http://schemas.microsoft.com/office/drawing/2014/main" id="{4CC42F41-2FE3-2101-42E0-0C621DCB0A1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Freeform 581">
                <a:extLst>
                  <a:ext uri="{FF2B5EF4-FFF2-40B4-BE49-F238E27FC236}">
                    <a16:creationId xmlns:a16="http://schemas.microsoft.com/office/drawing/2014/main" id="{F717791E-3850-C5BD-8642-723A0B68F4C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0" name="Gruppieren 71">
              <a:extLst>
                <a:ext uri="{FF2B5EF4-FFF2-40B4-BE49-F238E27FC236}">
                  <a16:creationId xmlns:a16="http://schemas.microsoft.com/office/drawing/2014/main" id="{204694E0-548E-54A7-A2EE-3D2E7FD74C7D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048561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71" name="Freeform 579">
                <a:extLst>
                  <a:ext uri="{FF2B5EF4-FFF2-40B4-BE49-F238E27FC236}">
                    <a16:creationId xmlns:a16="http://schemas.microsoft.com/office/drawing/2014/main" id="{43A25BA7-273F-EB21-640E-6031B350EBE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580">
                <a:extLst>
                  <a:ext uri="{FF2B5EF4-FFF2-40B4-BE49-F238E27FC236}">
                    <a16:creationId xmlns:a16="http://schemas.microsoft.com/office/drawing/2014/main" id="{E790644E-E104-E58E-D1FE-54AF0D6C376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581">
                <a:extLst>
                  <a:ext uri="{FF2B5EF4-FFF2-40B4-BE49-F238E27FC236}">
                    <a16:creationId xmlns:a16="http://schemas.microsoft.com/office/drawing/2014/main" id="{652A146F-32EB-6E7B-7443-52721DDC856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83" name="Gruppieren 84">
            <a:extLst>
              <a:ext uri="{FF2B5EF4-FFF2-40B4-BE49-F238E27FC236}">
                <a16:creationId xmlns:a16="http://schemas.microsoft.com/office/drawing/2014/main" id="{81D585A2-5AAB-A1E2-1DA9-51032754F688}"/>
              </a:ext>
            </a:extLst>
          </p:cNvPr>
          <p:cNvGrpSpPr>
            <a:grpSpLocks/>
          </p:cNvGrpSpPr>
          <p:nvPr/>
        </p:nvGrpSpPr>
        <p:grpSpPr bwMode="gray">
          <a:xfrm>
            <a:off x="7221220" y="2801410"/>
            <a:ext cx="218785" cy="1078966"/>
            <a:chOff x="7301379" y="3160877"/>
            <a:chExt cx="204116" cy="1006626"/>
          </a:xfrm>
          <a:solidFill>
            <a:schemeClr val="accent6"/>
          </a:solidFill>
        </p:grpSpPr>
        <p:grpSp>
          <p:nvGrpSpPr>
            <p:cNvPr id="84" name="Gruppieren 85">
              <a:extLst>
                <a:ext uri="{FF2B5EF4-FFF2-40B4-BE49-F238E27FC236}">
                  <a16:creationId xmlns:a16="http://schemas.microsoft.com/office/drawing/2014/main" id="{AF074487-8792-8C75-A9A4-3C55AD319D47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7" name="Freeform 579">
                <a:extLst>
                  <a:ext uri="{FF2B5EF4-FFF2-40B4-BE49-F238E27FC236}">
                    <a16:creationId xmlns:a16="http://schemas.microsoft.com/office/drawing/2014/main" id="{6E19470D-30A2-DAD2-0124-75035AC290E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8" name="Freeform 580">
                <a:extLst>
                  <a:ext uri="{FF2B5EF4-FFF2-40B4-BE49-F238E27FC236}">
                    <a16:creationId xmlns:a16="http://schemas.microsoft.com/office/drawing/2014/main" id="{692BF953-2449-AA5F-C4F4-E256DA2374F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9" name="Freeform 581">
                <a:extLst>
                  <a:ext uri="{FF2B5EF4-FFF2-40B4-BE49-F238E27FC236}">
                    <a16:creationId xmlns:a16="http://schemas.microsoft.com/office/drawing/2014/main" id="{3A3D7709-C422-F517-7F76-401BF00E7E1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5" name="Gruppieren 86">
              <a:extLst>
                <a:ext uri="{FF2B5EF4-FFF2-40B4-BE49-F238E27FC236}">
                  <a16:creationId xmlns:a16="http://schemas.microsoft.com/office/drawing/2014/main" id="{6150EB8C-8D33-F35B-BED4-8327668A36D9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4" name="Freeform 579">
                <a:extLst>
                  <a:ext uri="{FF2B5EF4-FFF2-40B4-BE49-F238E27FC236}">
                    <a16:creationId xmlns:a16="http://schemas.microsoft.com/office/drawing/2014/main" id="{D4C2EDDC-9486-C343-2B8C-E6F71067172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5" name="Freeform 580">
                <a:extLst>
                  <a:ext uri="{FF2B5EF4-FFF2-40B4-BE49-F238E27FC236}">
                    <a16:creationId xmlns:a16="http://schemas.microsoft.com/office/drawing/2014/main" id="{C4526E30-F750-2A14-C251-89EF2364B04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6" name="Freeform 581">
                <a:extLst>
                  <a:ext uri="{FF2B5EF4-FFF2-40B4-BE49-F238E27FC236}">
                    <a16:creationId xmlns:a16="http://schemas.microsoft.com/office/drawing/2014/main" id="{51137A19-6915-396E-7A1C-07ED874DB0E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6" name="Gruppieren 87">
              <a:extLst>
                <a:ext uri="{FF2B5EF4-FFF2-40B4-BE49-F238E27FC236}">
                  <a16:creationId xmlns:a16="http://schemas.microsoft.com/office/drawing/2014/main" id="{DC1A7A21-11A3-74D9-2967-6AB78C8EE5B4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91" name="Freeform 579">
                <a:extLst>
                  <a:ext uri="{FF2B5EF4-FFF2-40B4-BE49-F238E27FC236}">
                    <a16:creationId xmlns:a16="http://schemas.microsoft.com/office/drawing/2014/main" id="{FA45C62E-C0FA-BFFE-1533-311E03154D9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Freeform 580">
                <a:extLst>
                  <a:ext uri="{FF2B5EF4-FFF2-40B4-BE49-F238E27FC236}">
                    <a16:creationId xmlns:a16="http://schemas.microsoft.com/office/drawing/2014/main" id="{29CC8712-BB2F-09AA-936F-149F67679F4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3" name="Freeform 581">
                <a:extLst>
                  <a:ext uri="{FF2B5EF4-FFF2-40B4-BE49-F238E27FC236}">
                    <a16:creationId xmlns:a16="http://schemas.microsoft.com/office/drawing/2014/main" id="{A90008FE-EBC6-136E-3671-BEB1EF3504F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7" name="Gruppieren 88">
              <a:extLst>
                <a:ext uri="{FF2B5EF4-FFF2-40B4-BE49-F238E27FC236}">
                  <a16:creationId xmlns:a16="http://schemas.microsoft.com/office/drawing/2014/main" id="{E8EE96F8-40D1-83A5-05AC-5E8558328A1A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301379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88" name="Freeform 579">
                <a:extLst>
                  <a:ext uri="{FF2B5EF4-FFF2-40B4-BE49-F238E27FC236}">
                    <a16:creationId xmlns:a16="http://schemas.microsoft.com/office/drawing/2014/main" id="{1BEE977D-4346-C2FB-B54D-8352629B869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Freeform 580">
                <a:extLst>
                  <a:ext uri="{FF2B5EF4-FFF2-40B4-BE49-F238E27FC236}">
                    <a16:creationId xmlns:a16="http://schemas.microsoft.com/office/drawing/2014/main" id="{76DC6471-B992-75A5-8DD1-D81F03C5CD5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Freeform 581">
                <a:extLst>
                  <a:ext uri="{FF2B5EF4-FFF2-40B4-BE49-F238E27FC236}">
                    <a16:creationId xmlns:a16="http://schemas.microsoft.com/office/drawing/2014/main" id="{3D9C8067-3B97-9BC4-481D-3F4DBD2E6B9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100" name="Gruppieren 101">
            <a:extLst>
              <a:ext uri="{FF2B5EF4-FFF2-40B4-BE49-F238E27FC236}">
                <a16:creationId xmlns:a16="http://schemas.microsoft.com/office/drawing/2014/main" id="{ABC02D10-0BEF-638E-933B-46F869BC7F3D}"/>
              </a:ext>
            </a:extLst>
          </p:cNvPr>
          <p:cNvGrpSpPr>
            <a:grpSpLocks/>
          </p:cNvGrpSpPr>
          <p:nvPr/>
        </p:nvGrpSpPr>
        <p:grpSpPr bwMode="gray">
          <a:xfrm>
            <a:off x="7488413" y="2801410"/>
            <a:ext cx="218785" cy="1078966"/>
            <a:chOff x="7547118" y="3160877"/>
            <a:chExt cx="204116" cy="1006626"/>
          </a:xfrm>
          <a:solidFill>
            <a:schemeClr val="accent6"/>
          </a:solidFill>
        </p:grpSpPr>
        <p:grpSp>
          <p:nvGrpSpPr>
            <p:cNvPr id="101" name="Gruppieren 102">
              <a:extLst>
                <a:ext uri="{FF2B5EF4-FFF2-40B4-BE49-F238E27FC236}">
                  <a16:creationId xmlns:a16="http://schemas.microsoft.com/office/drawing/2014/main" id="{4C8AB22E-96F8-A9D4-8862-2047D6B362D3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160877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14" name="Freeform 579">
                <a:extLst>
                  <a:ext uri="{FF2B5EF4-FFF2-40B4-BE49-F238E27FC236}">
                    <a16:creationId xmlns:a16="http://schemas.microsoft.com/office/drawing/2014/main" id="{8693E0D3-5710-5891-BAD3-F0E1F90F3A5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5" name="Freeform 580">
                <a:extLst>
                  <a:ext uri="{FF2B5EF4-FFF2-40B4-BE49-F238E27FC236}">
                    <a16:creationId xmlns:a16="http://schemas.microsoft.com/office/drawing/2014/main" id="{805E2F95-F252-FCC4-B810-E7CCADB4431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6" name="Freeform 581">
                <a:extLst>
                  <a:ext uri="{FF2B5EF4-FFF2-40B4-BE49-F238E27FC236}">
                    <a16:creationId xmlns:a16="http://schemas.microsoft.com/office/drawing/2014/main" id="{197726C4-F79E-13F0-6B9C-D98CC62FA18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2" name="Gruppieren 103">
              <a:extLst>
                <a:ext uri="{FF2B5EF4-FFF2-40B4-BE49-F238E27FC236}">
                  <a16:creationId xmlns:a16="http://schemas.microsoft.com/office/drawing/2014/main" id="{AD9D7700-FE10-27C0-6854-5127F8E7A6EE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417896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11" name="Freeform 579">
                <a:extLst>
                  <a:ext uri="{FF2B5EF4-FFF2-40B4-BE49-F238E27FC236}">
                    <a16:creationId xmlns:a16="http://schemas.microsoft.com/office/drawing/2014/main" id="{B4B7473F-8E7E-FBD5-CDD0-3E28A816676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Freeform 580">
                <a:extLst>
                  <a:ext uri="{FF2B5EF4-FFF2-40B4-BE49-F238E27FC236}">
                    <a16:creationId xmlns:a16="http://schemas.microsoft.com/office/drawing/2014/main" id="{45DEA3B9-C0A2-5974-5673-282C2417B8C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3" name="Freeform 581">
                <a:extLst>
                  <a:ext uri="{FF2B5EF4-FFF2-40B4-BE49-F238E27FC236}">
                    <a16:creationId xmlns:a16="http://schemas.microsoft.com/office/drawing/2014/main" id="{C983369F-E96F-6232-7129-33902E99EFE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3" name="Gruppieren 104">
              <a:extLst>
                <a:ext uri="{FF2B5EF4-FFF2-40B4-BE49-F238E27FC236}">
                  <a16:creationId xmlns:a16="http://schemas.microsoft.com/office/drawing/2014/main" id="{EAA28CC9-0921-DFB7-E774-32B39557BE2B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668770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08" name="Freeform 579">
                <a:extLst>
                  <a:ext uri="{FF2B5EF4-FFF2-40B4-BE49-F238E27FC236}">
                    <a16:creationId xmlns:a16="http://schemas.microsoft.com/office/drawing/2014/main" id="{54AA4DF8-0A0D-6386-AB6D-2AAA4F65990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9" name="Freeform 580">
                <a:extLst>
                  <a:ext uri="{FF2B5EF4-FFF2-40B4-BE49-F238E27FC236}">
                    <a16:creationId xmlns:a16="http://schemas.microsoft.com/office/drawing/2014/main" id="{4D0EB19B-1A11-D71E-2A16-7612554E5C9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0" name="Freeform 581">
                <a:extLst>
                  <a:ext uri="{FF2B5EF4-FFF2-40B4-BE49-F238E27FC236}">
                    <a16:creationId xmlns:a16="http://schemas.microsoft.com/office/drawing/2014/main" id="{ED43B2BE-EE72-8CB3-B4F7-2AE58E39AB3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4" name="Gruppieren 105">
              <a:extLst>
                <a:ext uri="{FF2B5EF4-FFF2-40B4-BE49-F238E27FC236}">
                  <a16:creationId xmlns:a16="http://schemas.microsoft.com/office/drawing/2014/main" id="{804D91F8-96ED-8D2F-80CB-86EE0C2378AD}"/>
                </a:ext>
              </a:extLst>
            </p:cNvPr>
            <p:cNvGrpSpPr>
              <a:grpSpLocks/>
            </p:cNvGrpSpPr>
            <p:nvPr/>
          </p:nvGrpSpPr>
          <p:grpSpPr bwMode="gray">
            <a:xfrm>
              <a:off x="7547118" y="3952644"/>
              <a:ext cx="204116" cy="214859"/>
              <a:chOff x="1897064" y="5099050"/>
              <a:chExt cx="301625" cy="317500"/>
            </a:xfrm>
            <a:grpFill/>
          </p:grpSpPr>
          <p:sp>
            <p:nvSpPr>
              <p:cNvPr id="105" name="Freeform 579">
                <a:extLst>
                  <a:ext uri="{FF2B5EF4-FFF2-40B4-BE49-F238E27FC236}">
                    <a16:creationId xmlns:a16="http://schemas.microsoft.com/office/drawing/2014/main" id="{612A3F60-C2F8-2B48-F707-15D0D30A1E3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897064" y="5273675"/>
                <a:ext cx="301625" cy="142875"/>
              </a:xfrm>
              <a:custGeom>
                <a:avLst/>
                <a:gdLst>
                  <a:gd name="T0" fmla="*/ 200 w 200"/>
                  <a:gd name="T1" fmla="*/ 95 h 95"/>
                  <a:gd name="T2" fmla="*/ 0 w 200"/>
                  <a:gd name="T3" fmla="*/ 95 h 95"/>
                  <a:gd name="T4" fmla="*/ 0 w 200"/>
                  <a:gd name="T5" fmla="*/ 75 h 95"/>
                  <a:gd name="T6" fmla="*/ 23 w 200"/>
                  <a:gd name="T7" fmla="*/ 42 h 95"/>
                  <a:gd name="T8" fmla="*/ 72 w 200"/>
                  <a:gd name="T9" fmla="*/ 24 h 95"/>
                  <a:gd name="T10" fmla="*/ 72 w 200"/>
                  <a:gd name="T11" fmla="*/ 2 h 95"/>
                  <a:gd name="T12" fmla="*/ 80 w 200"/>
                  <a:gd name="T13" fmla="*/ 2 h 95"/>
                  <a:gd name="T14" fmla="*/ 80 w 200"/>
                  <a:gd name="T15" fmla="*/ 30 h 95"/>
                  <a:gd name="T16" fmla="*/ 26 w 200"/>
                  <a:gd name="T17" fmla="*/ 50 h 95"/>
                  <a:gd name="T18" fmla="*/ 8 w 200"/>
                  <a:gd name="T19" fmla="*/ 75 h 95"/>
                  <a:gd name="T20" fmla="*/ 8 w 200"/>
                  <a:gd name="T21" fmla="*/ 87 h 95"/>
                  <a:gd name="T22" fmla="*/ 192 w 200"/>
                  <a:gd name="T23" fmla="*/ 87 h 95"/>
                  <a:gd name="T24" fmla="*/ 192 w 200"/>
                  <a:gd name="T25" fmla="*/ 75 h 95"/>
                  <a:gd name="T26" fmla="*/ 174 w 200"/>
                  <a:gd name="T27" fmla="*/ 50 h 95"/>
                  <a:gd name="T28" fmla="*/ 120 w 200"/>
                  <a:gd name="T29" fmla="*/ 30 h 95"/>
                  <a:gd name="T30" fmla="*/ 120 w 200"/>
                  <a:gd name="T31" fmla="*/ 0 h 95"/>
                  <a:gd name="T32" fmla="*/ 128 w 200"/>
                  <a:gd name="T33" fmla="*/ 0 h 95"/>
                  <a:gd name="T34" fmla="*/ 128 w 200"/>
                  <a:gd name="T35" fmla="*/ 24 h 95"/>
                  <a:gd name="T36" fmla="*/ 177 w 200"/>
                  <a:gd name="T37" fmla="*/ 42 h 95"/>
                  <a:gd name="T38" fmla="*/ 200 w 200"/>
                  <a:gd name="T39" fmla="*/ 75 h 95"/>
                  <a:gd name="T40" fmla="*/ 200 w 200"/>
                  <a:gd name="T4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95">
                    <a:moveTo>
                      <a:pt x="200" y="95"/>
                    </a:moveTo>
                    <a:cubicBezTo>
                      <a:pt x="0" y="95"/>
                      <a:pt x="0" y="95"/>
                      <a:pt x="0" y="95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60"/>
                      <a:pt x="9" y="47"/>
                      <a:pt x="23" y="4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15" y="54"/>
                      <a:pt x="8" y="64"/>
                      <a:pt x="8" y="75"/>
                    </a:cubicBezTo>
                    <a:cubicBezTo>
                      <a:pt x="8" y="87"/>
                      <a:pt x="8" y="87"/>
                      <a:pt x="8" y="87"/>
                    </a:cubicBezTo>
                    <a:cubicBezTo>
                      <a:pt x="192" y="87"/>
                      <a:pt x="192" y="87"/>
                      <a:pt x="192" y="87"/>
                    </a:cubicBezTo>
                    <a:cubicBezTo>
                      <a:pt x="192" y="75"/>
                      <a:pt x="192" y="75"/>
                      <a:pt x="192" y="75"/>
                    </a:cubicBezTo>
                    <a:cubicBezTo>
                      <a:pt x="192" y="64"/>
                      <a:pt x="185" y="54"/>
                      <a:pt x="174" y="50"/>
                    </a:cubicBezTo>
                    <a:cubicBezTo>
                      <a:pt x="120" y="30"/>
                      <a:pt x="120" y="30"/>
                      <a:pt x="120" y="3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8" y="24"/>
                      <a:pt x="128" y="24"/>
                      <a:pt x="128" y="24"/>
                    </a:cubicBezTo>
                    <a:cubicBezTo>
                      <a:pt x="177" y="42"/>
                      <a:pt x="177" y="42"/>
                      <a:pt x="177" y="42"/>
                    </a:cubicBezTo>
                    <a:cubicBezTo>
                      <a:pt x="191" y="47"/>
                      <a:pt x="200" y="60"/>
                      <a:pt x="200" y="75"/>
                    </a:cubicBezTo>
                    <a:lnTo>
                      <a:pt x="20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Freeform 580">
                <a:extLst>
                  <a:ext uri="{FF2B5EF4-FFF2-40B4-BE49-F238E27FC236}">
                    <a16:creationId xmlns:a16="http://schemas.microsoft.com/office/drawing/2014/main" id="{D8B645A1-0DB4-EDD9-C4B8-5A79B3975E8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3739" y="5099050"/>
                <a:ext cx="163513" cy="193675"/>
              </a:xfrm>
              <a:custGeom>
                <a:avLst/>
                <a:gdLst>
                  <a:gd name="T0" fmla="*/ 55 w 109"/>
                  <a:gd name="T1" fmla="*/ 129 h 129"/>
                  <a:gd name="T2" fmla="*/ 0 w 109"/>
                  <a:gd name="T3" fmla="*/ 64 h 129"/>
                  <a:gd name="T4" fmla="*/ 55 w 109"/>
                  <a:gd name="T5" fmla="*/ 0 h 129"/>
                  <a:gd name="T6" fmla="*/ 109 w 109"/>
                  <a:gd name="T7" fmla="*/ 64 h 129"/>
                  <a:gd name="T8" fmla="*/ 55 w 109"/>
                  <a:gd name="T9" fmla="*/ 129 h 129"/>
                  <a:gd name="T10" fmla="*/ 55 w 109"/>
                  <a:gd name="T11" fmla="*/ 8 h 129"/>
                  <a:gd name="T12" fmla="*/ 8 w 109"/>
                  <a:gd name="T13" fmla="*/ 64 h 129"/>
                  <a:gd name="T14" fmla="*/ 55 w 109"/>
                  <a:gd name="T15" fmla="*/ 121 h 129"/>
                  <a:gd name="T16" fmla="*/ 101 w 109"/>
                  <a:gd name="T17" fmla="*/ 64 h 129"/>
                  <a:gd name="T18" fmla="*/ 55 w 109"/>
                  <a:gd name="T19" fmla="*/ 8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129">
                    <a:moveTo>
                      <a:pt x="55" y="129"/>
                    </a:moveTo>
                    <a:cubicBezTo>
                      <a:pt x="25" y="129"/>
                      <a:pt x="0" y="100"/>
                      <a:pt x="0" y="64"/>
                    </a:cubicBezTo>
                    <a:cubicBezTo>
                      <a:pt x="0" y="29"/>
                      <a:pt x="25" y="0"/>
                      <a:pt x="55" y="0"/>
                    </a:cubicBezTo>
                    <a:cubicBezTo>
                      <a:pt x="85" y="0"/>
                      <a:pt x="109" y="29"/>
                      <a:pt x="109" y="64"/>
                    </a:cubicBezTo>
                    <a:cubicBezTo>
                      <a:pt x="109" y="100"/>
                      <a:pt x="85" y="129"/>
                      <a:pt x="55" y="129"/>
                    </a:cubicBezTo>
                    <a:close/>
                    <a:moveTo>
                      <a:pt x="55" y="8"/>
                    </a:moveTo>
                    <a:cubicBezTo>
                      <a:pt x="29" y="8"/>
                      <a:pt x="8" y="33"/>
                      <a:pt x="8" y="64"/>
                    </a:cubicBezTo>
                    <a:cubicBezTo>
                      <a:pt x="8" y="96"/>
                      <a:pt x="29" y="121"/>
                      <a:pt x="55" y="121"/>
                    </a:cubicBezTo>
                    <a:cubicBezTo>
                      <a:pt x="80" y="121"/>
                      <a:pt x="101" y="96"/>
                      <a:pt x="101" y="64"/>
                    </a:cubicBezTo>
                    <a:cubicBezTo>
                      <a:pt x="101" y="33"/>
                      <a:pt x="80" y="8"/>
                      <a:pt x="55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7" name="Freeform 581">
                <a:extLst>
                  <a:ext uri="{FF2B5EF4-FFF2-40B4-BE49-F238E27FC236}">
                    <a16:creationId xmlns:a16="http://schemas.microsoft.com/office/drawing/2014/main" id="{211452D8-D56A-8A6E-7A08-A06DF7E1E12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968501" y="5145088"/>
                <a:ext cx="153988" cy="49213"/>
              </a:xfrm>
              <a:custGeom>
                <a:avLst/>
                <a:gdLst>
                  <a:gd name="T0" fmla="*/ 89 w 102"/>
                  <a:gd name="T1" fmla="*/ 33 h 33"/>
                  <a:gd name="T2" fmla="*/ 59 w 102"/>
                  <a:gd name="T3" fmla="*/ 16 h 33"/>
                  <a:gd name="T4" fmla="*/ 21 w 102"/>
                  <a:gd name="T5" fmla="*/ 32 h 33"/>
                  <a:gd name="T6" fmla="*/ 0 w 102"/>
                  <a:gd name="T7" fmla="*/ 27 h 33"/>
                  <a:gd name="T8" fmla="*/ 4 w 102"/>
                  <a:gd name="T9" fmla="*/ 20 h 33"/>
                  <a:gd name="T10" fmla="*/ 21 w 102"/>
                  <a:gd name="T11" fmla="*/ 24 h 33"/>
                  <a:gd name="T12" fmla="*/ 56 w 102"/>
                  <a:gd name="T13" fmla="*/ 7 h 33"/>
                  <a:gd name="T14" fmla="*/ 59 w 102"/>
                  <a:gd name="T15" fmla="*/ 0 h 33"/>
                  <a:gd name="T16" fmla="*/ 63 w 102"/>
                  <a:gd name="T17" fmla="*/ 7 h 33"/>
                  <a:gd name="T18" fmla="*/ 96 w 102"/>
                  <a:gd name="T19" fmla="*/ 24 h 33"/>
                  <a:gd name="T20" fmla="*/ 100 w 102"/>
                  <a:gd name="T21" fmla="*/ 24 h 33"/>
                  <a:gd name="T22" fmla="*/ 101 w 102"/>
                  <a:gd name="T23" fmla="*/ 24 h 33"/>
                  <a:gd name="T24" fmla="*/ 102 w 102"/>
                  <a:gd name="T25" fmla="*/ 32 h 33"/>
                  <a:gd name="T26" fmla="*/ 100 w 102"/>
                  <a:gd name="T27" fmla="*/ 32 h 33"/>
                  <a:gd name="T28" fmla="*/ 98 w 102"/>
                  <a:gd name="T29" fmla="*/ 32 h 33"/>
                  <a:gd name="T30" fmla="*/ 89 w 102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2" h="33">
                    <a:moveTo>
                      <a:pt x="89" y="33"/>
                    </a:moveTo>
                    <a:cubicBezTo>
                      <a:pt x="77" y="33"/>
                      <a:pt x="67" y="28"/>
                      <a:pt x="59" y="16"/>
                    </a:cubicBezTo>
                    <a:cubicBezTo>
                      <a:pt x="51" y="25"/>
                      <a:pt x="35" y="32"/>
                      <a:pt x="21" y="32"/>
                    </a:cubicBezTo>
                    <a:cubicBezTo>
                      <a:pt x="14" y="32"/>
                      <a:pt x="7" y="31"/>
                      <a:pt x="0" y="27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9" y="23"/>
                      <a:pt x="15" y="24"/>
                      <a:pt x="21" y="24"/>
                    </a:cubicBezTo>
                    <a:cubicBezTo>
                      <a:pt x="35" y="24"/>
                      <a:pt x="51" y="16"/>
                      <a:pt x="56" y="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2" y="22"/>
                      <a:pt x="81" y="27"/>
                      <a:pt x="96" y="24"/>
                    </a:cubicBezTo>
                    <a:cubicBezTo>
                      <a:pt x="98" y="24"/>
                      <a:pt x="99" y="24"/>
                      <a:pt x="100" y="24"/>
                    </a:cubicBezTo>
                    <a:cubicBezTo>
                      <a:pt x="100" y="24"/>
                      <a:pt x="101" y="24"/>
                      <a:pt x="101" y="24"/>
                    </a:cubicBezTo>
                    <a:cubicBezTo>
                      <a:pt x="102" y="32"/>
                      <a:pt x="102" y="32"/>
                      <a:pt x="102" y="32"/>
                    </a:cubicBezTo>
                    <a:cubicBezTo>
                      <a:pt x="101" y="32"/>
                      <a:pt x="101" y="32"/>
                      <a:pt x="100" y="32"/>
                    </a:cubicBezTo>
                    <a:cubicBezTo>
                      <a:pt x="99" y="32"/>
                      <a:pt x="99" y="32"/>
                      <a:pt x="98" y="32"/>
                    </a:cubicBezTo>
                    <a:cubicBezTo>
                      <a:pt x="95" y="33"/>
                      <a:pt x="92" y="33"/>
                      <a:pt x="89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" name="Rectangle 98">
            <a:extLst>
              <a:ext uri="{FF2B5EF4-FFF2-40B4-BE49-F238E27FC236}">
                <a16:creationId xmlns:a16="http://schemas.microsoft.com/office/drawing/2014/main" id="{C433BCDA-F214-3AE7-BC9B-ECD936CABF95}"/>
              </a:ext>
            </a:extLst>
          </p:cNvPr>
          <p:cNvSpPr>
            <a:spLocks/>
          </p:cNvSpPr>
          <p:nvPr/>
        </p:nvSpPr>
        <p:spPr bwMode="gray">
          <a:xfrm>
            <a:off x="408525" y="975640"/>
            <a:ext cx="3609982" cy="149579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sz="5200" b="1" spc="-10">
                <a:ea typeface="Chronicle Display Roman" charset="0"/>
                <a:cs typeface="Chronicle Display Roman" charset="0"/>
              </a:rPr>
              <a:t>ROC-AUC 0.728/0.923</a:t>
            </a:r>
          </a:p>
        </p:txBody>
      </p:sp>
      <p:sp>
        <p:nvSpPr>
          <p:cNvPr id="18" name="Rectangle 116">
            <a:extLst>
              <a:ext uri="{FF2B5EF4-FFF2-40B4-BE49-F238E27FC236}">
                <a16:creationId xmlns:a16="http://schemas.microsoft.com/office/drawing/2014/main" id="{1B6AE5B7-CA8A-D188-866C-C8EB9B2BC16D}"/>
              </a:ext>
            </a:extLst>
          </p:cNvPr>
          <p:cNvSpPr>
            <a:spLocks/>
          </p:cNvSpPr>
          <p:nvPr/>
        </p:nvSpPr>
        <p:spPr bwMode="gray">
          <a:xfrm>
            <a:off x="408525" y="4350548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Rectangle 121">
            <a:extLst>
              <a:ext uri="{FF2B5EF4-FFF2-40B4-BE49-F238E27FC236}">
                <a16:creationId xmlns:a16="http://schemas.microsoft.com/office/drawing/2014/main" id="{FB5548AD-1226-000D-04DA-6493EC2597EB}"/>
              </a:ext>
            </a:extLst>
          </p:cNvPr>
          <p:cNvSpPr>
            <a:spLocks/>
          </p:cNvSpPr>
          <p:nvPr/>
        </p:nvSpPr>
        <p:spPr bwMode="gray">
          <a:xfrm>
            <a:off x="408525" y="5777939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Rectangle 459">
            <a:extLst>
              <a:ext uri="{FF2B5EF4-FFF2-40B4-BE49-F238E27FC236}">
                <a16:creationId xmlns:a16="http://schemas.microsoft.com/office/drawing/2014/main" id="{A158D588-3092-6080-3F46-BF1548BBC710}"/>
              </a:ext>
            </a:extLst>
          </p:cNvPr>
          <p:cNvSpPr>
            <a:spLocks/>
          </p:cNvSpPr>
          <p:nvPr/>
        </p:nvSpPr>
        <p:spPr bwMode="gray">
          <a:xfrm>
            <a:off x="408525" y="3090018"/>
            <a:ext cx="2064668" cy="738664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lang="en-US" sz="4800" b="1">
                <a:ea typeface="Chronicle Display Roman" charset="0"/>
                <a:cs typeface="Chronicle Display Roman" charset="0"/>
              </a:rPr>
              <a:t>2014-24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F59F35F-16F4-2952-867F-488B5EF81208}"/>
              </a:ext>
            </a:extLst>
          </p:cNvPr>
          <p:cNvSpPr txBox="1">
            <a:spLocks/>
          </p:cNvSpPr>
          <p:nvPr/>
        </p:nvSpPr>
        <p:spPr bwMode="gray">
          <a:xfrm>
            <a:off x="408525" y="3900620"/>
            <a:ext cx="1547924" cy="21114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>
                <a:solidFill>
                  <a:schemeClr val="accent1"/>
                </a:solidFill>
                <a:ea typeface="Open Sans" charset="0"/>
                <a:cs typeface="Open Sans" charset="0"/>
              </a:rPr>
              <a:t>CV and Test Period</a:t>
            </a:r>
            <a:endParaRPr lang="en-US" sz="1400">
              <a:solidFill>
                <a:schemeClr val="accent1"/>
              </a:solidFill>
              <a:ea typeface="Open Sans" charset="0"/>
              <a:cs typeface="Open Sans" charset="0"/>
            </a:endParaRPr>
          </a:p>
        </p:txBody>
      </p:sp>
      <p:sp>
        <p:nvSpPr>
          <p:cNvPr id="20" name="Rectangle 122">
            <a:extLst>
              <a:ext uri="{FF2B5EF4-FFF2-40B4-BE49-F238E27FC236}">
                <a16:creationId xmlns:a16="http://schemas.microsoft.com/office/drawing/2014/main" id="{FB3EED51-EC20-FD0B-1677-74640B53FCB4}"/>
              </a:ext>
            </a:extLst>
          </p:cNvPr>
          <p:cNvSpPr>
            <a:spLocks/>
          </p:cNvSpPr>
          <p:nvPr/>
        </p:nvSpPr>
        <p:spPr bwMode="gray">
          <a:xfrm>
            <a:off x="408525" y="2567844"/>
            <a:ext cx="3351213" cy="279399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541ED510-A1CE-9EF1-6F81-34313F97C31F}"/>
              </a:ext>
            </a:extLst>
          </p:cNvPr>
          <p:cNvSpPr>
            <a:spLocks/>
          </p:cNvSpPr>
          <p:nvPr/>
        </p:nvSpPr>
        <p:spPr bwMode="gray">
          <a:xfrm>
            <a:off x="408525" y="5094114"/>
            <a:ext cx="701027" cy="53020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r>
              <a:rPr lang="en-US" sz="3400" b="1">
                <a:ea typeface="Chronicle Display Roman" charset="0"/>
                <a:cs typeface="Chronicle Display Roman" charset="0"/>
              </a:rPr>
              <a:t>25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2B7BBCA5-F60B-FC26-6B96-C3A6156C2DEC}"/>
              </a:ext>
            </a:extLst>
          </p:cNvPr>
          <p:cNvSpPr>
            <a:spLocks/>
          </p:cNvSpPr>
          <p:nvPr/>
        </p:nvSpPr>
        <p:spPr bwMode="gray">
          <a:xfrm>
            <a:off x="1014341" y="5202667"/>
            <a:ext cx="563552" cy="3323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sz="1200">
                <a:ea typeface="Open Sans" charset="0"/>
                <a:cs typeface="Open Sans" charset="0"/>
              </a:rPr>
              <a:t>Features</a:t>
            </a:r>
            <a:br>
              <a:rPr lang="en-US" sz="1200">
                <a:solidFill>
                  <a:srgbClr val="3C464B"/>
                </a:solidFill>
                <a:ea typeface="Open Sans" charset="0"/>
                <a:cs typeface="Open Sans" charset="0"/>
              </a:rPr>
            </a:br>
            <a:r>
              <a:rPr lang="en-US" sz="1200">
                <a:solidFill>
                  <a:schemeClr val="accent1"/>
                </a:solidFill>
                <a:ea typeface="Open Sans" charset="0"/>
                <a:cs typeface="Open Sans" charset="0"/>
              </a:rPr>
              <a:t>3 Proxies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D7ED67-2CEF-CD52-2B4C-87E354E5B1EE}"/>
              </a:ext>
            </a:extLst>
          </p:cNvPr>
          <p:cNvSpPr>
            <a:spLocks/>
          </p:cNvSpPr>
          <p:nvPr/>
        </p:nvSpPr>
        <p:spPr bwMode="gray">
          <a:xfrm>
            <a:off x="2779991" y="5119569"/>
            <a:ext cx="704360" cy="49859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>
                <a:ea typeface="Open Sans" charset="0"/>
                <a:cs typeface="Open Sans" charset="0"/>
              </a:rPr>
              <a:t>Event Rate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accent1"/>
                </a:solidFill>
                <a:ea typeface="Open Sans" charset="0"/>
                <a:cs typeface="Open Sans" charset="0"/>
              </a:rPr>
              <a:t>No legal 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accent1"/>
                </a:solidFill>
                <a:ea typeface="Open Sans" charset="0"/>
                <a:cs typeface="Open Sans" charset="0"/>
              </a:rPr>
              <a:t>Bankruptcy</a:t>
            </a:r>
          </a:p>
        </p:txBody>
      </p:sp>
      <p:sp>
        <p:nvSpPr>
          <p:cNvPr id="22" name="Rectangle 105">
            <a:extLst>
              <a:ext uri="{FF2B5EF4-FFF2-40B4-BE49-F238E27FC236}">
                <a16:creationId xmlns:a16="http://schemas.microsoft.com/office/drawing/2014/main" id="{7D6C829D-286E-7720-E649-B4A07D0E7B0D}"/>
              </a:ext>
            </a:extLst>
          </p:cNvPr>
          <p:cNvSpPr>
            <a:spLocks/>
          </p:cNvSpPr>
          <p:nvPr/>
        </p:nvSpPr>
        <p:spPr bwMode="gray">
          <a:xfrm>
            <a:off x="2200947" y="5101095"/>
            <a:ext cx="538609" cy="523220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r>
              <a:rPr lang="en-US" sz="3400" b="1">
                <a:ea typeface="Chronicle Display Roman" charset="0"/>
                <a:cs typeface="Chronicle Display Roman" charset="0"/>
              </a:rPr>
              <a:t>4%</a:t>
            </a:r>
          </a:p>
        </p:txBody>
      </p:sp>
      <p:cxnSp>
        <p:nvCxnSpPr>
          <p:cNvPr id="117" name="Gerader Verbinder 118">
            <a:extLst>
              <a:ext uri="{FF2B5EF4-FFF2-40B4-BE49-F238E27FC236}">
                <a16:creationId xmlns:a16="http://schemas.microsoft.com/office/drawing/2014/main" id="{6E7D8695-12A8-150F-1F51-E08A490DAD2D}"/>
              </a:ext>
            </a:extLst>
          </p:cNvPr>
          <p:cNvCxnSpPr>
            <a:cxnSpLocks/>
          </p:cNvCxnSpPr>
          <p:nvPr/>
        </p:nvCxnSpPr>
        <p:spPr bwMode="gray">
          <a:xfrm>
            <a:off x="3053183" y="2567844"/>
            <a:ext cx="0" cy="858808"/>
          </a:xfrm>
          <a:prstGeom prst="line">
            <a:avLst/>
          </a:prstGeom>
          <a:noFill/>
          <a:ln w="9525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Gerader Verbinder 119">
            <a:extLst>
              <a:ext uri="{FF2B5EF4-FFF2-40B4-BE49-F238E27FC236}">
                <a16:creationId xmlns:a16="http://schemas.microsoft.com/office/drawing/2014/main" id="{C326DA29-3BDB-CFBA-287B-8D1273C56718}"/>
              </a:ext>
            </a:extLst>
          </p:cNvPr>
          <p:cNvCxnSpPr>
            <a:cxnSpLocks/>
          </p:cNvCxnSpPr>
          <p:nvPr/>
        </p:nvCxnSpPr>
        <p:spPr bwMode="gray">
          <a:xfrm>
            <a:off x="3437491" y="2567845"/>
            <a:ext cx="0" cy="330357"/>
          </a:xfrm>
          <a:prstGeom prst="line">
            <a:avLst/>
          </a:prstGeom>
          <a:noFill/>
          <a:ln w="9525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9" name="Gruppieren 122">
            <a:extLst>
              <a:ext uri="{FF2B5EF4-FFF2-40B4-BE49-F238E27FC236}">
                <a16:creationId xmlns:a16="http://schemas.microsoft.com/office/drawing/2014/main" id="{5F7F1FC4-FA05-AABF-3752-EFB7BE0CBA46}"/>
              </a:ext>
            </a:extLst>
          </p:cNvPr>
          <p:cNvGrpSpPr>
            <a:grpSpLocks/>
          </p:cNvGrpSpPr>
          <p:nvPr/>
        </p:nvGrpSpPr>
        <p:grpSpPr bwMode="gray">
          <a:xfrm>
            <a:off x="40852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0" name="Freeform 582">
              <a:extLst>
                <a:ext uri="{FF2B5EF4-FFF2-40B4-BE49-F238E27FC236}">
                  <a16:creationId xmlns:a16="http://schemas.microsoft.com/office/drawing/2014/main" id="{2C0FBBC7-13FE-F802-8B30-EB77A1A855F7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Freeform 583">
              <a:extLst>
                <a:ext uri="{FF2B5EF4-FFF2-40B4-BE49-F238E27FC236}">
                  <a16:creationId xmlns:a16="http://schemas.microsoft.com/office/drawing/2014/main" id="{F8F868E0-6C42-0F8C-4EEC-1521DB7923B3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2" name="Gruppieren 125">
            <a:extLst>
              <a:ext uri="{FF2B5EF4-FFF2-40B4-BE49-F238E27FC236}">
                <a16:creationId xmlns:a16="http://schemas.microsoft.com/office/drawing/2014/main" id="{AB9C16FD-0A4C-F175-5AE1-78D51F181E10}"/>
              </a:ext>
            </a:extLst>
          </p:cNvPr>
          <p:cNvGrpSpPr>
            <a:grpSpLocks/>
          </p:cNvGrpSpPr>
          <p:nvPr/>
        </p:nvGrpSpPr>
        <p:grpSpPr bwMode="gray">
          <a:xfrm>
            <a:off x="67321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3" name="Freeform 582">
              <a:extLst>
                <a:ext uri="{FF2B5EF4-FFF2-40B4-BE49-F238E27FC236}">
                  <a16:creationId xmlns:a16="http://schemas.microsoft.com/office/drawing/2014/main" id="{6313284D-0451-1248-A3DD-5A95B1D3FAA2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Freeform 583">
              <a:extLst>
                <a:ext uri="{FF2B5EF4-FFF2-40B4-BE49-F238E27FC236}">
                  <a16:creationId xmlns:a16="http://schemas.microsoft.com/office/drawing/2014/main" id="{49E448D1-AB7F-08C9-40AF-A9765B5FA563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5" name="Gruppieren 128">
            <a:extLst>
              <a:ext uri="{FF2B5EF4-FFF2-40B4-BE49-F238E27FC236}">
                <a16:creationId xmlns:a16="http://schemas.microsoft.com/office/drawing/2014/main" id="{2B9C6F3A-7DC4-7A75-DB9A-18FF34E9BA8B}"/>
              </a:ext>
            </a:extLst>
          </p:cNvPr>
          <p:cNvGrpSpPr>
            <a:grpSpLocks/>
          </p:cNvGrpSpPr>
          <p:nvPr/>
        </p:nvGrpSpPr>
        <p:grpSpPr bwMode="gray">
          <a:xfrm>
            <a:off x="937901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6" name="Freeform 582">
              <a:extLst>
                <a:ext uri="{FF2B5EF4-FFF2-40B4-BE49-F238E27FC236}">
                  <a16:creationId xmlns:a16="http://schemas.microsoft.com/office/drawing/2014/main" id="{20A3F879-14EC-D560-D984-A4D3823DE508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Freeform 583">
              <a:extLst>
                <a:ext uri="{FF2B5EF4-FFF2-40B4-BE49-F238E27FC236}">
                  <a16:creationId xmlns:a16="http://schemas.microsoft.com/office/drawing/2014/main" id="{14E0A2AB-0978-D5D9-BF1D-3E8766305753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8" name="Gruppieren 131">
            <a:extLst>
              <a:ext uri="{FF2B5EF4-FFF2-40B4-BE49-F238E27FC236}">
                <a16:creationId xmlns:a16="http://schemas.microsoft.com/office/drawing/2014/main" id="{141F31CF-673B-EE0C-530D-73C524D92640}"/>
              </a:ext>
            </a:extLst>
          </p:cNvPr>
          <p:cNvGrpSpPr>
            <a:grpSpLocks/>
          </p:cNvGrpSpPr>
          <p:nvPr/>
        </p:nvGrpSpPr>
        <p:grpSpPr bwMode="gray">
          <a:xfrm>
            <a:off x="1202589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29" name="Freeform 582">
              <a:extLst>
                <a:ext uri="{FF2B5EF4-FFF2-40B4-BE49-F238E27FC236}">
                  <a16:creationId xmlns:a16="http://schemas.microsoft.com/office/drawing/2014/main" id="{BD9802F1-776B-08D6-E9A3-7476458F3711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Freeform 583">
              <a:extLst>
                <a:ext uri="{FF2B5EF4-FFF2-40B4-BE49-F238E27FC236}">
                  <a16:creationId xmlns:a16="http://schemas.microsoft.com/office/drawing/2014/main" id="{26270F4F-2739-5129-C1B5-130CDCA096A1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1" name="Gruppieren 134">
            <a:extLst>
              <a:ext uri="{FF2B5EF4-FFF2-40B4-BE49-F238E27FC236}">
                <a16:creationId xmlns:a16="http://schemas.microsoft.com/office/drawing/2014/main" id="{772E9789-DD8D-6706-F674-838792491EF5}"/>
              </a:ext>
            </a:extLst>
          </p:cNvPr>
          <p:cNvGrpSpPr>
            <a:grpSpLocks/>
          </p:cNvGrpSpPr>
          <p:nvPr/>
        </p:nvGrpSpPr>
        <p:grpSpPr bwMode="gray">
          <a:xfrm>
            <a:off x="1467277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2" name="Freeform 582">
              <a:extLst>
                <a:ext uri="{FF2B5EF4-FFF2-40B4-BE49-F238E27FC236}">
                  <a16:creationId xmlns:a16="http://schemas.microsoft.com/office/drawing/2014/main" id="{959F5A10-7996-2642-6A5E-65F890E8C65B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Freeform 583">
              <a:extLst>
                <a:ext uri="{FF2B5EF4-FFF2-40B4-BE49-F238E27FC236}">
                  <a16:creationId xmlns:a16="http://schemas.microsoft.com/office/drawing/2014/main" id="{D3F70CB1-0C3A-D9E5-1282-4A3109002440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4" name="Gruppieren 137">
            <a:extLst>
              <a:ext uri="{FF2B5EF4-FFF2-40B4-BE49-F238E27FC236}">
                <a16:creationId xmlns:a16="http://schemas.microsoft.com/office/drawing/2014/main" id="{FBD901F6-E8B0-C257-B8D2-31DF05279BB6}"/>
              </a:ext>
            </a:extLst>
          </p:cNvPr>
          <p:cNvGrpSpPr>
            <a:grpSpLocks/>
          </p:cNvGrpSpPr>
          <p:nvPr/>
        </p:nvGrpSpPr>
        <p:grpSpPr bwMode="gray">
          <a:xfrm>
            <a:off x="173196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5" name="Freeform 582">
              <a:extLst>
                <a:ext uri="{FF2B5EF4-FFF2-40B4-BE49-F238E27FC236}">
                  <a16:creationId xmlns:a16="http://schemas.microsoft.com/office/drawing/2014/main" id="{C025AFBE-0ED5-F240-9A33-DC10EB830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Freeform 583">
              <a:extLst>
                <a:ext uri="{FF2B5EF4-FFF2-40B4-BE49-F238E27FC236}">
                  <a16:creationId xmlns:a16="http://schemas.microsoft.com/office/drawing/2014/main" id="{5A3C151F-CE3E-FCAA-D4E3-CA0184B0A2FF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7" name="Gruppieren 140">
            <a:extLst>
              <a:ext uri="{FF2B5EF4-FFF2-40B4-BE49-F238E27FC236}">
                <a16:creationId xmlns:a16="http://schemas.microsoft.com/office/drawing/2014/main" id="{46427B4F-A790-5F4E-7E9E-A277DB404082}"/>
              </a:ext>
            </a:extLst>
          </p:cNvPr>
          <p:cNvGrpSpPr>
            <a:grpSpLocks/>
          </p:cNvGrpSpPr>
          <p:nvPr/>
        </p:nvGrpSpPr>
        <p:grpSpPr bwMode="gray">
          <a:xfrm>
            <a:off x="199665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38" name="Freeform 582">
              <a:extLst>
                <a:ext uri="{FF2B5EF4-FFF2-40B4-BE49-F238E27FC236}">
                  <a16:creationId xmlns:a16="http://schemas.microsoft.com/office/drawing/2014/main" id="{6309C654-222B-6EF9-E61A-9C055473F53A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Freeform 583">
              <a:extLst>
                <a:ext uri="{FF2B5EF4-FFF2-40B4-BE49-F238E27FC236}">
                  <a16:creationId xmlns:a16="http://schemas.microsoft.com/office/drawing/2014/main" id="{2CDF2E3E-C38F-EAF4-4F17-4D2EC62D2370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0" name="Gruppieren 143">
            <a:extLst>
              <a:ext uri="{FF2B5EF4-FFF2-40B4-BE49-F238E27FC236}">
                <a16:creationId xmlns:a16="http://schemas.microsoft.com/office/drawing/2014/main" id="{9FD046BF-8824-3A27-E8DD-3E4CE21C4DBB}"/>
              </a:ext>
            </a:extLst>
          </p:cNvPr>
          <p:cNvGrpSpPr>
            <a:grpSpLocks/>
          </p:cNvGrpSpPr>
          <p:nvPr/>
        </p:nvGrpSpPr>
        <p:grpSpPr bwMode="gray">
          <a:xfrm>
            <a:off x="2261341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1" name="Freeform 582">
              <a:extLst>
                <a:ext uri="{FF2B5EF4-FFF2-40B4-BE49-F238E27FC236}">
                  <a16:creationId xmlns:a16="http://schemas.microsoft.com/office/drawing/2014/main" id="{F934B5A8-D1AC-4B38-479D-E37888D2E79A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Freeform 583">
              <a:extLst>
                <a:ext uri="{FF2B5EF4-FFF2-40B4-BE49-F238E27FC236}">
                  <a16:creationId xmlns:a16="http://schemas.microsoft.com/office/drawing/2014/main" id="{3F122349-0A11-4C42-1166-E653803DA7A8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3" name="Gruppieren 146">
            <a:extLst>
              <a:ext uri="{FF2B5EF4-FFF2-40B4-BE49-F238E27FC236}">
                <a16:creationId xmlns:a16="http://schemas.microsoft.com/office/drawing/2014/main" id="{F68A0CD0-3454-6BBF-971B-C35EF2FE666D}"/>
              </a:ext>
            </a:extLst>
          </p:cNvPr>
          <p:cNvGrpSpPr>
            <a:grpSpLocks/>
          </p:cNvGrpSpPr>
          <p:nvPr/>
        </p:nvGrpSpPr>
        <p:grpSpPr bwMode="gray">
          <a:xfrm>
            <a:off x="2526029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4" name="Freeform 582">
              <a:extLst>
                <a:ext uri="{FF2B5EF4-FFF2-40B4-BE49-F238E27FC236}">
                  <a16:creationId xmlns:a16="http://schemas.microsoft.com/office/drawing/2014/main" id="{D87524F7-3802-F947-86A6-C1B1B9C17EC0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Freeform 583">
              <a:extLst>
                <a:ext uri="{FF2B5EF4-FFF2-40B4-BE49-F238E27FC236}">
                  <a16:creationId xmlns:a16="http://schemas.microsoft.com/office/drawing/2014/main" id="{82C5E184-3950-8F78-8974-B2DA84C2FCF5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6" name="Gruppieren 149">
            <a:extLst>
              <a:ext uri="{FF2B5EF4-FFF2-40B4-BE49-F238E27FC236}">
                <a16:creationId xmlns:a16="http://schemas.microsoft.com/office/drawing/2014/main" id="{2EF18CAC-B9D6-8B46-A3B3-2913E806337E}"/>
              </a:ext>
            </a:extLst>
          </p:cNvPr>
          <p:cNvGrpSpPr>
            <a:grpSpLocks/>
          </p:cNvGrpSpPr>
          <p:nvPr/>
        </p:nvGrpSpPr>
        <p:grpSpPr bwMode="gray">
          <a:xfrm>
            <a:off x="2790717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47" name="Freeform 582">
              <a:extLst>
                <a:ext uri="{FF2B5EF4-FFF2-40B4-BE49-F238E27FC236}">
                  <a16:creationId xmlns:a16="http://schemas.microsoft.com/office/drawing/2014/main" id="{B0D1B5CF-8F20-7B64-96C7-57CC58D41848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Freeform 583">
              <a:extLst>
                <a:ext uri="{FF2B5EF4-FFF2-40B4-BE49-F238E27FC236}">
                  <a16:creationId xmlns:a16="http://schemas.microsoft.com/office/drawing/2014/main" id="{3CEF719B-57EA-F2A2-4179-591815B99B7B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9" name="Gruppieren 152">
            <a:extLst>
              <a:ext uri="{FF2B5EF4-FFF2-40B4-BE49-F238E27FC236}">
                <a16:creationId xmlns:a16="http://schemas.microsoft.com/office/drawing/2014/main" id="{034A5A53-E097-9699-FF3D-A055E8861957}"/>
              </a:ext>
            </a:extLst>
          </p:cNvPr>
          <p:cNvGrpSpPr>
            <a:grpSpLocks/>
          </p:cNvGrpSpPr>
          <p:nvPr/>
        </p:nvGrpSpPr>
        <p:grpSpPr bwMode="gray">
          <a:xfrm>
            <a:off x="3055405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0" name="Freeform 582">
              <a:extLst>
                <a:ext uri="{FF2B5EF4-FFF2-40B4-BE49-F238E27FC236}">
                  <a16:creationId xmlns:a16="http://schemas.microsoft.com/office/drawing/2014/main" id="{8909FA89-1924-7260-274C-CE55D34FD9CB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Freeform 583">
              <a:extLst>
                <a:ext uri="{FF2B5EF4-FFF2-40B4-BE49-F238E27FC236}">
                  <a16:creationId xmlns:a16="http://schemas.microsoft.com/office/drawing/2014/main" id="{CE09FABD-4104-A275-6378-1B65EC8169F0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2" name="Gruppieren 155">
            <a:extLst>
              <a:ext uri="{FF2B5EF4-FFF2-40B4-BE49-F238E27FC236}">
                <a16:creationId xmlns:a16="http://schemas.microsoft.com/office/drawing/2014/main" id="{A1B5CF5B-36E7-66A4-41EB-ADFB13BF1735}"/>
              </a:ext>
            </a:extLst>
          </p:cNvPr>
          <p:cNvGrpSpPr>
            <a:grpSpLocks/>
          </p:cNvGrpSpPr>
          <p:nvPr/>
        </p:nvGrpSpPr>
        <p:grpSpPr bwMode="gray">
          <a:xfrm>
            <a:off x="3320093" y="4765530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3" name="Freeform 582">
              <a:extLst>
                <a:ext uri="{FF2B5EF4-FFF2-40B4-BE49-F238E27FC236}">
                  <a16:creationId xmlns:a16="http://schemas.microsoft.com/office/drawing/2014/main" id="{5A124A68-91CC-3F3E-5C25-87B564C77C24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Freeform 583">
              <a:extLst>
                <a:ext uri="{FF2B5EF4-FFF2-40B4-BE49-F238E27FC236}">
                  <a16:creationId xmlns:a16="http://schemas.microsoft.com/office/drawing/2014/main" id="{EC3C7329-EF02-D37D-B0AC-178EBC7734B0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55" name="Gruppieren 158">
            <a:extLst>
              <a:ext uri="{FF2B5EF4-FFF2-40B4-BE49-F238E27FC236}">
                <a16:creationId xmlns:a16="http://schemas.microsoft.com/office/drawing/2014/main" id="{7B1F6F52-1F75-2F3A-B91E-8537815D124E}"/>
              </a:ext>
            </a:extLst>
          </p:cNvPr>
          <p:cNvGrpSpPr>
            <a:grpSpLocks/>
          </p:cNvGrpSpPr>
          <p:nvPr/>
        </p:nvGrpSpPr>
        <p:grpSpPr bwMode="gray">
          <a:xfrm>
            <a:off x="3584778" y="4765528"/>
            <a:ext cx="174960" cy="174960"/>
            <a:chOff x="1862139" y="6499225"/>
            <a:chExt cx="360363" cy="360363"/>
          </a:xfrm>
          <a:solidFill>
            <a:schemeClr val="accent6"/>
          </a:solidFill>
        </p:grpSpPr>
        <p:sp>
          <p:nvSpPr>
            <p:cNvPr id="156" name="Freeform 582">
              <a:extLst>
                <a:ext uri="{FF2B5EF4-FFF2-40B4-BE49-F238E27FC236}">
                  <a16:creationId xmlns:a16="http://schemas.microsoft.com/office/drawing/2014/main" id="{640C786D-A659-643C-C956-60F4A7231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1862139" y="6499225"/>
              <a:ext cx="360363" cy="360363"/>
            </a:xfrm>
            <a:custGeom>
              <a:avLst/>
              <a:gdLst>
                <a:gd name="T0" fmla="*/ 100 w 240"/>
                <a:gd name="T1" fmla="*/ 240 h 240"/>
                <a:gd name="T2" fmla="*/ 96 w 240"/>
                <a:gd name="T3" fmla="*/ 206 h 240"/>
                <a:gd name="T4" fmla="*/ 76 w 240"/>
                <a:gd name="T5" fmla="*/ 198 h 240"/>
                <a:gd name="T6" fmla="*/ 49 w 240"/>
                <a:gd name="T7" fmla="*/ 219 h 240"/>
                <a:gd name="T8" fmla="*/ 20 w 240"/>
                <a:gd name="T9" fmla="*/ 188 h 240"/>
                <a:gd name="T10" fmla="*/ 42 w 240"/>
                <a:gd name="T11" fmla="*/ 164 h 240"/>
                <a:gd name="T12" fmla="*/ 4 w 240"/>
                <a:gd name="T13" fmla="*/ 136 h 240"/>
                <a:gd name="T14" fmla="*/ 0 w 240"/>
                <a:gd name="T15" fmla="*/ 100 h 240"/>
                <a:gd name="T16" fmla="*/ 34 w 240"/>
                <a:gd name="T17" fmla="*/ 96 h 240"/>
                <a:gd name="T18" fmla="*/ 21 w 240"/>
                <a:gd name="T19" fmla="*/ 55 h 240"/>
                <a:gd name="T20" fmla="*/ 49 w 240"/>
                <a:gd name="T21" fmla="*/ 21 h 240"/>
                <a:gd name="T22" fmla="*/ 76 w 240"/>
                <a:gd name="T23" fmla="*/ 42 h 240"/>
                <a:gd name="T24" fmla="*/ 96 w 240"/>
                <a:gd name="T25" fmla="*/ 4 h 240"/>
                <a:gd name="T26" fmla="*/ 140 w 240"/>
                <a:gd name="T27" fmla="*/ 0 h 240"/>
                <a:gd name="T28" fmla="*/ 144 w 240"/>
                <a:gd name="T29" fmla="*/ 34 h 240"/>
                <a:gd name="T30" fmla="*/ 185 w 240"/>
                <a:gd name="T31" fmla="*/ 21 h 240"/>
                <a:gd name="T32" fmla="*/ 219 w 240"/>
                <a:gd name="T33" fmla="*/ 49 h 240"/>
                <a:gd name="T34" fmla="*/ 219 w 240"/>
                <a:gd name="T35" fmla="*/ 55 h 240"/>
                <a:gd name="T36" fmla="*/ 206 w 240"/>
                <a:gd name="T37" fmla="*/ 96 h 240"/>
                <a:gd name="T38" fmla="*/ 240 w 240"/>
                <a:gd name="T39" fmla="*/ 100 h 240"/>
                <a:gd name="T40" fmla="*/ 236 w 240"/>
                <a:gd name="T41" fmla="*/ 136 h 240"/>
                <a:gd name="T42" fmla="*/ 198 w 240"/>
                <a:gd name="T43" fmla="*/ 164 h 240"/>
                <a:gd name="T44" fmla="*/ 219 w 240"/>
                <a:gd name="T45" fmla="*/ 191 h 240"/>
                <a:gd name="T46" fmla="*/ 185 w 240"/>
                <a:gd name="T47" fmla="*/ 219 h 240"/>
                <a:gd name="T48" fmla="*/ 149 w 240"/>
                <a:gd name="T49" fmla="*/ 204 h 240"/>
                <a:gd name="T50" fmla="*/ 144 w 240"/>
                <a:gd name="T51" fmla="*/ 236 h 240"/>
                <a:gd name="T52" fmla="*/ 104 w 240"/>
                <a:gd name="T53" fmla="*/ 232 h 240"/>
                <a:gd name="T54" fmla="*/ 136 w 240"/>
                <a:gd name="T55" fmla="*/ 203 h 240"/>
                <a:gd name="T56" fmla="*/ 146 w 240"/>
                <a:gd name="T57" fmla="*/ 196 h 240"/>
                <a:gd name="T58" fmla="*/ 167 w 240"/>
                <a:gd name="T59" fmla="*/ 190 h 240"/>
                <a:gd name="T60" fmla="*/ 211 w 240"/>
                <a:gd name="T61" fmla="*/ 188 h 240"/>
                <a:gd name="T62" fmla="*/ 190 w 240"/>
                <a:gd name="T63" fmla="*/ 163 h 240"/>
                <a:gd name="T64" fmla="*/ 199 w 240"/>
                <a:gd name="T65" fmla="*/ 132 h 240"/>
                <a:gd name="T66" fmla="*/ 232 w 240"/>
                <a:gd name="T67" fmla="*/ 128 h 240"/>
                <a:gd name="T68" fmla="*/ 203 w 240"/>
                <a:gd name="T69" fmla="*/ 104 h 240"/>
                <a:gd name="T70" fmla="*/ 190 w 240"/>
                <a:gd name="T71" fmla="*/ 77 h 240"/>
                <a:gd name="T72" fmla="*/ 211 w 240"/>
                <a:gd name="T73" fmla="*/ 52 h 240"/>
                <a:gd name="T74" fmla="*/ 167 w 240"/>
                <a:gd name="T75" fmla="*/ 50 h 240"/>
                <a:gd name="T76" fmla="*/ 139 w 240"/>
                <a:gd name="T77" fmla="*/ 41 h 240"/>
                <a:gd name="T78" fmla="*/ 136 w 240"/>
                <a:gd name="T79" fmla="*/ 8 h 240"/>
                <a:gd name="T80" fmla="*/ 104 w 240"/>
                <a:gd name="T81" fmla="*/ 37 h 240"/>
                <a:gd name="T82" fmla="*/ 77 w 240"/>
                <a:gd name="T83" fmla="*/ 50 h 240"/>
                <a:gd name="T84" fmla="*/ 52 w 240"/>
                <a:gd name="T85" fmla="*/ 29 h 240"/>
                <a:gd name="T86" fmla="*/ 50 w 240"/>
                <a:gd name="T87" fmla="*/ 73 h 240"/>
                <a:gd name="T88" fmla="*/ 41 w 240"/>
                <a:gd name="T89" fmla="*/ 101 h 240"/>
                <a:gd name="T90" fmla="*/ 8 w 240"/>
                <a:gd name="T91" fmla="*/ 104 h 240"/>
                <a:gd name="T92" fmla="*/ 37 w 240"/>
                <a:gd name="T93" fmla="*/ 128 h 240"/>
                <a:gd name="T94" fmla="*/ 50 w 240"/>
                <a:gd name="T95" fmla="*/ 163 h 240"/>
                <a:gd name="T96" fmla="*/ 29 w 240"/>
                <a:gd name="T97" fmla="*/ 188 h 240"/>
                <a:gd name="T98" fmla="*/ 73 w 240"/>
                <a:gd name="T99" fmla="*/ 190 h 240"/>
                <a:gd name="T100" fmla="*/ 94 w 240"/>
                <a:gd name="T101" fmla="*/ 196 h 240"/>
                <a:gd name="T102" fmla="*/ 104 w 240"/>
                <a:gd name="T103" fmla="*/ 203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0" h="240">
                  <a:moveTo>
                    <a:pt x="140" y="240"/>
                  </a:moveTo>
                  <a:cubicBezTo>
                    <a:pt x="100" y="240"/>
                    <a:pt x="100" y="240"/>
                    <a:pt x="100" y="240"/>
                  </a:cubicBezTo>
                  <a:cubicBezTo>
                    <a:pt x="98" y="240"/>
                    <a:pt x="96" y="238"/>
                    <a:pt x="96" y="236"/>
                  </a:cubicBezTo>
                  <a:cubicBezTo>
                    <a:pt x="96" y="206"/>
                    <a:pt x="96" y="206"/>
                    <a:pt x="96" y="206"/>
                  </a:cubicBezTo>
                  <a:cubicBezTo>
                    <a:pt x="95" y="205"/>
                    <a:pt x="93" y="205"/>
                    <a:pt x="91" y="204"/>
                  </a:cubicBezTo>
                  <a:cubicBezTo>
                    <a:pt x="86" y="202"/>
                    <a:pt x="81" y="200"/>
                    <a:pt x="76" y="198"/>
                  </a:cubicBezTo>
                  <a:cubicBezTo>
                    <a:pt x="55" y="219"/>
                    <a:pt x="55" y="219"/>
                    <a:pt x="55" y="219"/>
                  </a:cubicBezTo>
                  <a:cubicBezTo>
                    <a:pt x="54" y="221"/>
                    <a:pt x="51" y="221"/>
                    <a:pt x="49" y="219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0" y="190"/>
                    <a:pt x="20" y="189"/>
                    <a:pt x="20" y="188"/>
                  </a:cubicBezTo>
                  <a:cubicBezTo>
                    <a:pt x="20" y="187"/>
                    <a:pt x="20" y="186"/>
                    <a:pt x="21" y="185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38" y="157"/>
                    <a:pt x="35" y="146"/>
                    <a:pt x="3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2" y="136"/>
                    <a:pt x="0" y="134"/>
                    <a:pt x="0" y="13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8"/>
                    <a:pt x="2" y="96"/>
                    <a:pt x="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5" y="91"/>
                    <a:pt x="39" y="82"/>
                    <a:pt x="42" y="76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19" y="54"/>
                    <a:pt x="19" y="51"/>
                    <a:pt x="21" y="49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1" y="19"/>
                    <a:pt x="54" y="19"/>
                    <a:pt x="55" y="2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82" y="38"/>
                    <a:pt x="91" y="35"/>
                    <a:pt x="96" y="34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8" y="0"/>
                    <a:pt x="100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2" y="0"/>
                    <a:pt x="144" y="2"/>
                    <a:pt x="144" y="4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49" y="35"/>
                    <a:pt x="158" y="38"/>
                    <a:pt x="164" y="42"/>
                  </a:cubicBezTo>
                  <a:cubicBezTo>
                    <a:pt x="185" y="21"/>
                    <a:pt x="185" y="21"/>
                    <a:pt x="185" y="21"/>
                  </a:cubicBezTo>
                  <a:cubicBezTo>
                    <a:pt x="186" y="19"/>
                    <a:pt x="189" y="19"/>
                    <a:pt x="191" y="21"/>
                  </a:cubicBezTo>
                  <a:cubicBezTo>
                    <a:pt x="219" y="49"/>
                    <a:pt x="219" y="49"/>
                    <a:pt x="219" y="49"/>
                  </a:cubicBezTo>
                  <a:cubicBezTo>
                    <a:pt x="220" y="50"/>
                    <a:pt x="220" y="51"/>
                    <a:pt x="220" y="52"/>
                  </a:cubicBezTo>
                  <a:cubicBezTo>
                    <a:pt x="220" y="53"/>
                    <a:pt x="220" y="54"/>
                    <a:pt x="219" y="5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202" y="82"/>
                    <a:pt x="204" y="89"/>
                    <a:pt x="20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8" y="96"/>
                    <a:pt x="240" y="98"/>
                    <a:pt x="240" y="100"/>
                  </a:cubicBezTo>
                  <a:cubicBezTo>
                    <a:pt x="240" y="132"/>
                    <a:pt x="240" y="132"/>
                    <a:pt x="240" y="132"/>
                  </a:cubicBezTo>
                  <a:cubicBezTo>
                    <a:pt x="240" y="134"/>
                    <a:pt x="238" y="136"/>
                    <a:pt x="236" y="136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5" y="152"/>
                    <a:pt x="202" y="158"/>
                    <a:pt x="198" y="164"/>
                  </a:cubicBezTo>
                  <a:cubicBezTo>
                    <a:pt x="219" y="185"/>
                    <a:pt x="219" y="185"/>
                    <a:pt x="219" y="185"/>
                  </a:cubicBezTo>
                  <a:cubicBezTo>
                    <a:pt x="221" y="186"/>
                    <a:pt x="221" y="189"/>
                    <a:pt x="219" y="191"/>
                  </a:cubicBezTo>
                  <a:cubicBezTo>
                    <a:pt x="191" y="219"/>
                    <a:pt x="191" y="219"/>
                    <a:pt x="191" y="219"/>
                  </a:cubicBezTo>
                  <a:cubicBezTo>
                    <a:pt x="189" y="221"/>
                    <a:pt x="186" y="221"/>
                    <a:pt x="185" y="219"/>
                  </a:cubicBezTo>
                  <a:cubicBezTo>
                    <a:pt x="164" y="198"/>
                    <a:pt x="164" y="198"/>
                    <a:pt x="164" y="198"/>
                  </a:cubicBezTo>
                  <a:cubicBezTo>
                    <a:pt x="159" y="200"/>
                    <a:pt x="154" y="202"/>
                    <a:pt x="149" y="204"/>
                  </a:cubicBezTo>
                  <a:cubicBezTo>
                    <a:pt x="147" y="205"/>
                    <a:pt x="145" y="205"/>
                    <a:pt x="144" y="206"/>
                  </a:cubicBezTo>
                  <a:cubicBezTo>
                    <a:pt x="144" y="236"/>
                    <a:pt x="144" y="236"/>
                    <a:pt x="144" y="236"/>
                  </a:cubicBezTo>
                  <a:cubicBezTo>
                    <a:pt x="144" y="238"/>
                    <a:pt x="142" y="240"/>
                    <a:pt x="140" y="240"/>
                  </a:cubicBezTo>
                  <a:close/>
                  <a:moveTo>
                    <a:pt x="104" y="232"/>
                  </a:moveTo>
                  <a:cubicBezTo>
                    <a:pt x="136" y="232"/>
                    <a:pt x="136" y="232"/>
                    <a:pt x="136" y="232"/>
                  </a:cubicBezTo>
                  <a:cubicBezTo>
                    <a:pt x="136" y="203"/>
                    <a:pt x="136" y="203"/>
                    <a:pt x="136" y="203"/>
                  </a:cubicBezTo>
                  <a:cubicBezTo>
                    <a:pt x="136" y="202"/>
                    <a:pt x="137" y="200"/>
                    <a:pt x="138" y="200"/>
                  </a:cubicBezTo>
                  <a:cubicBezTo>
                    <a:pt x="140" y="199"/>
                    <a:pt x="143" y="198"/>
                    <a:pt x="146" y="196"/>
                  </a:cubicBezTo>
                  <a:cubicBezTo>
                    <a:pt x="152" y="195"/>
                    <a:pt x="158" y="192"/>
                    <a:pt x="163" y="190"/>
                  </a:cubicBezTo>
                  <a:cubicBezTo>
                    <a:pt x="164" y="189"/>
                    <a:pt x="166" y="189"/>
                    <a:pt x="167" y="190"/>
                  </a:cubicBezTo>
                  <a:cubicBezTo>
                    <a:pt x="188" y="211"/>
                    <a:pt x="188" y="211"/>
                    <a:pt x="188" y="211"/>
                  </a:cubicBezTo>
                  <a:cubicBezTo>
                    <a:pt x="211" y="188"/>
                    <a:pt x="211" y="188"/>
                    <a:pt x="211" y="188"/>
                  </a:cubicBezTo>
                  <a:cubicBezTo>
                    <a:pt x="190" y="167"/>
                    <a:pt x="190" y="167"/>
                    <a:pt x="190" y="167"/>
                  </a:cubicBezTo>
                  <a:cubicBezTo>
                    <a:pt x="189" y="166"/>
                    <a:pt x="189" y="164"/>
                    <a:pt x="190" y="163"/>
                  </a:cubicBezTo>
                  <a:cubicBezTo>
                    <a:pt x="190" y="162"/>
                    <a:pt x="190" y="162"/>
                    <a:pt x="190" y="162"/>
                  </a:cubicBezTo>
                  <a:cubicBezTo>
                    <a:pt x="194" y="155"/>
                    <a:pt x="197" y="150"/>
                    <a:pt x="199" y="132"/>
                  </a:cubicBezTo>
                  <a:cubicBezTo>
                    <a:pt x="199" y="130"/>
                    <a:pt x="201" y="128"/>
                    <a:pt x="203" y="128"/>
                  </a:cubicBezTo>
                  <a:cubicBezTo>
                    <a:pt x="232" y="128"/>
                    <a:pt x="232" y="128"/>
                    <a:pt x="232" y="128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03" y="104"/>
                    <a:pt x="203" y="104"/>
                    <a:pt x="203" y="104"/>
                  </a:cubicBezTo>
                  <a:cubicBezTo>
                    <a:pt x="201" y="104"/>
                    <a:pt x="200" y="103"/>
                    <a:pt x="199" y="101"/>
                  </a:cubicBezTo>
                  <a:cubicBezTo>
                    <a:pt x="197" y="93"/>
                    <a:pt x="194" y="84"/>
                    <a:pt x="190" y="77"/>
                  </a:cubicBezTo>
                  <a:cubicBezTo>
                    <a:pt x="189" y="76"/>
                    <a:pt x="189" y="74"/>
                    <a:pt x="190" y="7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188" y="29"/>
                    <a:pt x="188" y="29"/>
                    <a:pt x="188" y="29"/>
                  </a:cubicBezTo>
                  <a:cubicBezTo>
                    <a:pt x="167" y="50"/>
                    <a:pt x="167" y="50"/>
                    <a:pt x="167" y="50"/>
                  </a:cubicBezTo>
                  <a:cubicBezTo>
                    <a:pt x="166" y="51"/>
                    <a:pt x="164" y="51"/>
                    <a:pt x="163" y="50"/>
                  </a:cubicBezTo>
                  <a:cubicBezTo>
                    <a:pt x="155" y="46"/>
                    <a:pt x="143" y="41"/>
                    <a:pt x="139" y="41"/>
                  </a:cubicBezTo>
                  <a:cubicBezTo>
                    <a:pt x="137" y="40"/>
                    <a:pt x="136" y="39"/>
                    <a:pt x="136" y="37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9"/>
                    <a:pt x="103" y="40"/>
                    <a:pt x="101" y="41"/>
                  </a:cubicBezTo>
                  <a:cubicBezTo>
                    <a:pt x="96" y="42"/>
                    <a:pt x="85" y="46"/>
                    <a:pt x="77" y="50"/>
                  </a:cubicBezTo>
                  <a:cubicBezTo>
                    <a:pt x="76" y="51"/>
                    <a:pt x="74" y="51"/>
                    <a:pt x="73" y="5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6"/>
                    <a:pt x="50" y="77"/>
                  </a:cubicBezTo>
                  <a:cubicBezTo>
                    <a:pt x="46" y="85"/>
                    <a:pt x="42" y="96"/>
                    <a:pt x="41" y="101"/>
                  </a:cubicBezTo>
                  <a:cubicBezTo>
                    <a:pt x="40" y="103"/>
                    <a:pt x="39" y="104"/>
                    <a:pt x="37" y="104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9" y="128"/>
                    <a:pt x="40" y="129"/>
                    <a:pt x="41" y="131"/>
                  </a:cubicBezTo>
                  <a:cubicBezTo>
                    <a:pt x="42" y="143"/>
                    <a:pt x="46" y="156"/>
                    <a:pt x="50" y="163"/>
                  </a:cubicBezTo>
                  <a:cubicBezTo>
                    <a:pt x="51" y="164"/>
                    <a:pt x="51" y="166"/>
                    <a:pt x="50" y="16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52" y="211"/>
                    <a:pt x="52" y="211"/>
                    <a:pt x="52" y="211"/>
                  </a:cubicBezTo>
                  <a:cubicBezTo>
                    <a:pt x="73" y="190"/>
                    <a:pt x="73" y="190"/>
                    <a:pt x="73" y="190"/>
                  </a:cubicBezTo>
                  <a:cubicBezTo>
                    <a:pt x="74" y="189"/>
                    <a:pt x="76" y="189"/>
                    <a:pt x="77" y="190"/>
                  </a:cubicBezTo>
                  <a:cubicBezTo>
                    <a:pt x="82" y="192"/>
                    <a:pt x="88" y="195"/>
                    <a:pt x="94" y="196"/>
                  </a:cubicBezTo>
                  <a:cubicBezTo>
                    <a:pt x="97" y="198"/>
                    <a:pt x="100" y="199"/>
                    <a:pt x="102" y="200"/>
                  </a:cubicBezTo>
                  <a:cubicBezTo>
                    <a:pt x="103" y="200"/>
                    <a:pt x="104" y="202"/>
                    <a:pt x="104" y="203"/>
                  </a:cubicBezTo>
                  <a:lnTo>
                    <a:pt x="104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Freeform 583">
              <a:extLst>
                <a:ext uri="{FF2B5EF4-FFF2-40B4-BE49-F238E27FC236}">
                  <a16:creationId xmlns:a16="http://schemas.microsoft.com/office/drawing/2014/main" id="{C20C51A6-320E-AB84-F440-345B6E4BFE41}"/>
                </a:ext>
              </a:extLst>
            </p:cNvPr>
            <p:cNvSpPr>
              <a:spLocks/>
            </p:cNvSpPr>
            <p:nvPr/>
          </p:nvSpPr>
          <p:spPr bwMode="gray">
            <a:xfrm>
              <a:off x="1970089" y="6607175"/>
              <a:ext cx="144463" cy="144463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58" name="Grafik 166">
            <a:extLst>
              <a:ext uri="{FF2B5EF4-FFF2-40B4-BE49-F238E27FC236}">
                <a16:creationId xmlns:a16="http://schemas.microsoft.com/office/drawing/2014/main" id="{87EE1440-106F-1771-92F2-B22451108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3115814" y="2915206"/>
            <a:ext cx="643357" cy="643357"/>
          </a:xfrm>
          <a:prstGeom prst="rect">
            <a:avLst/>
          </a:prstGeom>
        </p:spPr>
      </p:pic>
      <p:pic>
        <p:nvPicPr>
          <p:cNvPr id="159" name="Grafik 168">
            <a:extLst>
              <a:ext uri="{FF2B5EF4-FFF2-40B4-BE49-F238E27FC236}">
                <a16:creationId xmlns:a16="http://schemas.microsoft.com/office/drawing/2014/main" id="{182638F8-1FDF-ABE2-8E06-6DB1ECFFCC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2731504" y="3437439"/>
            <a:ext cx="643357" cy="643357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2598C5B-E7DC-D900-D828-FA5AA8630780}"/>
              </a:ext>
            </a:extLst>
          </p:cNvPr>
          <p:cNvSpPr txBox="1">
            <a:spLocks/>
          </p:cNvSpPr>
          <p:nvPr/>
        </p:nvSpPr>
        <p:spPr bwMode="gray">
          <a:xfrm>
            <a:off x="8599487" y="2471739"/>
            <a:ext cx="3221038" cy="914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accent1"/>
                </a:solidFill>
                <a:ea typeface="Open Sans" charset="0"/>
                <a:cs typeface="Open Sans" charset="0"/>
              </a:rPr>
              <a:t>Ranking ≠ perfect probabilities:</a:t>
            </a:r>
          </a:p>
          <a:p>
            <a:pPr>
              <a:lnSpc>
                <a:spcPct val="90000"/>
              </a:lnSpc>
            </a:pPr>
            <a:r>
              <a:rPr lang="en-US" sz="2000">
                <a:ea typeface="Open Sans" charset="0"/>
                <a:cs typeface="Open Sans" charset="0"/>
              </a:rPr>
              <a:t>Tail miscalibration persists </a:t>
            </a:r>
          </a:p>
          <a:p>
            <a:pPr>
              <a:lnSpc>
                <a:spcPct val="90000"/>
              </a:lnSpc>
            </a:pPr>
            <a:r>
              <a:rPr lang="en-US" sz="2000">
                <a:ea typeface="Open Sans" charset="0"/>
                <a:cs typeface="Open Sans" charset="0"/>
              </a:rPr>
              <a:t>even after calibration</a:t>
            </a:r>
          </a:p>
        </p:txBody>
      </p:sp>
      <p:pic>
        <p:nvPicPr>
          <p:cNvPr id="6" name="Grafik 5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9C0CF011-0F2D-3B72-79E9-B8A95C0AD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sp>
        <p:nvSpPr>
          <p:cNvPr id="10" name="Rectangle 666">
            <a:extLst>
              <a:ext uri="{FF2B5EF4-FFF2-40B4-BE49-F238E27FC236}">
                <a16:creationId xmlns:a16="http://schemas.microsoft.com/office/drawing/2014/main" id="{81563020-94B1-0289-67B8-513D7D3DC491}"/>
              </a:ext>
            </a:extLst>
          </p:cNvPr>
          <p:cNvSpPr>
            <a:spLocks/>
          </p:cNvSpPr>
          <p:nvPr/>
        </p:nvSpPr>
        <p:spPr bwMode="gray">
          <a:xfrm>
            <a:off x="8599487" y="5616650"/>
            <a:ext cx="3221038" cy="44437"/>
          </a:xfrm>
          <a:prstGeom prst="rect">
            <a:avLst/>
          </a:prstGeom>
          <a:solidFill>
            <a:schemeClr val="bg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3C464B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3F1C67F1-F589-03E9-D87D-592E002847C6}"/>
              </a:ext>
            </a:extLst>
          </p:cNvPr>
          <p:cNvSpPr txBox="1">
            <a:spLocks/>
          </p:cNvSpPr>
          <p:nvPr/>
        </p:nvSpPr>
        <p:spPr bwMode="gray">
          <a:xfrm>
            <a:off x="8598823" y="5709905"/>
            <a:ext cx="1161403" cy="37114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noProof="1"/>
              <a:t>Monitor calibration drift under retraining</a:t>
            </a:r>
          </a:p>
        </p:txBody>
      </p:sp>
      <p:sp>
        <p:nvSpPr>
          <p:cNvPr id="24" name="Rectangle 459">
            <a:extLst>
              <a:ext uri="{FF2B5EF4-FFF2-40B4-BE49-F238E27FC236}">
                <a16:creationId xmlns:a16="http://schemas.microsoft.com/office/drawing/2014/main" id="{B90E64F5-93AA-CFEA-6245-F3B09EA7B97C}"/>
              </a:ext>
            </a:extLst>
          </p:cNvPr>
          <p:cNvSpPr>
            <a:spLocks/>
          </p:cNvSpPr>
          <p:nvPr/>
        </p:nvSpPr>
        <p:spPr bwMode="gray">
          <a:xfrm>
            <a:off x="8572212" y="1910715"/>
            <a:ext cx="3132241" cy="3077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r>
              <a:rPr lang="en-US" sz="2000" b="1">
                <a:ea typeface="Chronicle Display Roman" charset="0"/>
                <a:cs typeface="Chronicle Display Roman" charset="0"/>
              </a:rPr>
              <a:t>0.0349 → 0.0307</a:t>
            </a: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5317EB35-6C13-FE04-9120-5800A4C32D9B}"/>
              </a:ext>
            </a:extLst>
          </p:cNvPr>
          <p:cNvSpPr txBox="1">
            <a:spLocks/>
          </p:cNvSpPr>
          <p:nvPr/>
        </p:nvSpPr>
        <p:spPr bwMode="gray">
          <a:xfrm>
            <a:off x="10468177" y="1984639"/>
            <a:ext cx="363882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b="1">
                <a:ea typeface="Open Sans" charset="0"/>
                <a:cs typeface="Open Sans" charset="0"/>
              </a:rPr>
              <a:t>Brier</a:t>
            </a:r>
          </a:p>
        </p:txBody>
      </p:sp>
      <p:sp>
        <p:nvSpPr>
          <p:cNvPr id="160" name="Rectangle 459">
            <a:extLst>
              <a:ext uri="{FF2B5EF4-FFF2-40B4-BE49-F238E27FC236}">
                <a16:creationId xmlns:a16="http://schemas.microsoft.com/office/drawing/2014/main" id="{1B371F21-3527-F719-C211-37E310DE1ACA}"/>
              </a:ext>
            </a:extLst>
          </p:cNvPr>
          <p:cNvSpPr>
            <a:spLocks/>
          </p:cNvSpPr>
          <p:nvPr/>
        </p:nvSpPr>
        <p:spPr bwMode="gray">
          <a:xfrm>
            <a:off x="9196085" y="1437371"/>
            <a:ext cx="1133475" cy="53020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r>
              <a:rPr lang="en-US" sz="2000" b="1" noProof="1"/>
              <a:t>0.124 → 0.302</a:t>
            </a:r>
            <a:endParaRPr lang="en-US" sz="2000" b="1">
              <a:ea typeface="Chronicle Display Roman" charset="0"/>
              <a:cs typeface="Chronicle Display Roman" charset="0"/>
            </a:endParaRPr>
          </a:p>
        </p:txBody>
      </p:sp>
      <p:sp>
        <p:nvSpPr>
          <p:cNvPr id="161" name="Subtitle 2">
            <a:extLst>
              <a:ext uri="{FF2B5EF4-FFF2-40B4-BE49-F238E27FC236}">
                <a16:creationId xmlns:a16="http://schemas.microsoft.com/office/drawing/2014/main" id="{05AC26E3-3E9B-77A6-3C59-4D807390A2BB}"/>
              </a:ext>
            </a:extLst>
          </p:cNvPr>
          <p:cNvSpPr txBox="1">
            <a:spLocks/>
          </p:cNvSpPr>
          <p:nvPr/>
        </p:nvSpPr>
        <p:spPr bwMode="gray">
          <a:xfrm>
            <a:off x="8572213" y="1540051"/>
            <a:ext cx="1161403" cy="37114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400" b="1">
                <a:ea typeface="Open Sans" charset="0"/>
                <a:cs typeface="Open Sans" charset="0"/>
              </a:rPr>
              <a:t>PR-AUC</a:t>
            </a:r>
          </a:p>
        </p:txBody>
      </p:sp>
      <p:sp>
        <p:nvSpPr>
          <p:cNvPr id="162" name="Subtitle 2">
            <a:extLst>
              <a:ext uri="{FF2B5EF4-FFF2-40B4-BE49-F238E27FC236}">
                <a16:creationId xmlns:a16="http://schemas.microsoft.com/office/drawing/2014/main" id="{5B2CD9B1-200C-F9A0-641D-4995823C9731}"/>
              </a:ext>
            </a:extLst>
          </p:cNvPr>
          <p:cNvSpPr txBox="1">
            <a:spLocks/>
          </p:cNvSpPr>
          <p:nvPr/>
        </p:nvSpPr>
        <p:spPr bwMode="gray">
          <a:xfrm>
            <a:off x="8598823" y="2325938"/>
            <a:ext cx="2241660" cy="22533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buFont typeface="Arial" pitchFamily="34" charset="0"/>
              <a:buNone/>
            </a:pPr>
            <a:r>
              <a:rPr lang="en-US" sz="1700" b="1" spc="200">
                <a:solidFill>
                  <a:schemeClr val="accent1"/>
                </a:solidFill>
                <a:ea typeface="Open Sans" charset="0"/>
                <a:cs typeface="Open Sans" charset="0"/>
              </a:rPr>
              <a:t>********************</a:t>
            </a:r>
          </a:p>
        </p:txBody>
      </p:sp>
    </p:spTree>
    <p:extLst>
      <p:ext uri="{BB962C8B-B14F-4D97-AF65-F5344CB8AC3E}">
        <p14:creationId xmlns:p14="http://schemas.microsoft.com/office/powerpoint/2010/main" val="386321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2095-BC2A-C936-95A3-81095FB7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BF2BFC0-FCE8-A351-DCEA-48421AC3A3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7146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F2BFC0-FCE8-A351-DCEA-48421AC3A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0F84FF9-3D63-A123-D84B-51F817803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noProof="1"/>
              <a:t>Thank you for listening!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B7CF36-5431-344C-9533-20E66678F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Plenary discussion </a:t>
            </a:r>
            <a:r>
              <a:rPr lang="en-US" noProof="1">
                <a:solidFill>
                  <a:prstClr val="black"/>
                </a:solidFill>
              </a:rPr>
              <a:t>Introduction to AI in Finance</a:t>
            </a:r>
          </a:p>
        </p:txBody>
      </p:sp>
      <p:pic>
        <p:nvPicPr>
          <p:cNvPr id="9" name="Grafik 8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569D2E9D-264F-8152-1D85-2729E5453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4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BCD614E-A3F7-9999-DBEC-A2F36FF6B4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583769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CD614E-A3F7-9999-DBEC-A2F36FF6B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0FD52DD-737C-64B4-8981-212AF901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Questions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audience</a:t>
            </a:r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C33E603-5D73-362A-951E-BE7D3D3D43D6}"/>
              </a:ext>
            </a:extLst>
          </p:cNvPr>
          <p:cNvSpPr/>
          <p:nvPr/>
        </p:nvSpPr>
        <p:spPr>
          <a:xfrm>
            <a:off x="729204" y="1169042"/>
            <a:ext cx="1446835" cy="1261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63817F4-9714-A3C7-8A9E-E95BE4174B51}"/>
              </a:ext>
            </a:extLst>
          </p:cNvPr>
          <p:cNvSpPr/>
          <p:nvPr/>
        </p:nvSpPr>
        <p:spPr>
          <a:xfrm>
            <a:off x="729204" y="3020992"/>
            <a:ext cx="1446835" cy="1261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 b="1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A3493C1-50F2-20DA-4D6D-00586CD0BF57}"/>
              </a:ext>
            </a:extLst>
          </p:cNvPr>
          <p:cNvSpPr/>
          <p:nvPr/>
        </p:nvSpPr>
        <p:spPr>
          <a:xfrm>
            <a:off x="729204" y="4872942"/>
            <a:ext cx="1446835" cy="1261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3600" b="1">
                <a:solidFill>
                  <a:schemeClr val="tx2"/>
                </a:solidFill>
              </a:rPr>
              <a:t>3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B1020C7A-04E4-AD9B-08A7-1955C997C94F}"/>
              </a:ext>
            </a:extLst>
          </p:cNvPr>
          <p:cNvCxnSpPr>
            <a:cxnSpLocks/>
          </p:cNvCxnSpPr>
          <p:nvPr/>
        </p:nvCxnSpPr>
        <p:spPr>
          <a:xfrm>
            <a:off x="729204" y="2725837"/>
            <a:ext cx="986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83794C5B-3961-A5CB-2C80-0301991FE4FF}"/>
              </a:ext>
            </a:extLst>
          </p:cNvPr>
          <p:cNvCxnSpPr>
            <a:cxnSpLocks/>
          </p:cNvCxnSpPr>
          <p:nvPr/>
        </p:nvCxnSpPr>
        <p:spPr>
          <a:xfrm>
            <a:off x="729203" y="4577787"/>
            <a:ext cx="986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23DFC46F-7EB0-3F72-B22D-E4671F8B1C81}"/>
              </a:ext>
            </a:extLst>
          </p:cNvPr>
          <p:cNvSpPr/>
          <p:nvPr/>
        </p:nvSpPr>
        <p:spPr>
          <a:xfrm>
            <a:off x="2361235" y="1290576"/>
            <a:ext cx="8102279" cy="10185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noProof="1">
                <a:solidFill>
                  <a:schemeClr val="tx2"/>
                </a:solidFill>
              </a:rPr>
              <a:t>Distress definition</a:t>
            </a:r>
            <a:endParaRPr lang="en-US" noProof="1">
              <a:solidFill>
                <a:schemeClr val="tx2"/>
              </a:solidFill>
            </a:endParaRPr>
          </a:p>
          <a:p>
            <a:r>
              <a:rPr lang="en-US" noProof="1"/>
              <a:t>Which proxy is “correct” for your use case (negative equity vs cashflow deterioration vs leverage rating), and how much precision are you willing to trade for stakeholder transparency?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F50ACE9-D648-91B1-BB27-2BB1761659E2}"/>
              </a:ext>
            </a:extLst>
          </p:cNvPr>
          <p:cNvSpPr/>
          <p:nvPr/>
        </p:nvSpPr>
        <p:spPr>
          <a:xfrm>
            <a:off x="2361235" y="3142526"/>
            <a:ext cx="8102279" cy="10185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noProof="1">
                <a:solidFill>
                  <a:schemeClr val="tx2"/>
                </a:solidFill>
              </a:rPr>
              <a:t>Operating point</a:t>
            </a:r>
            <a:endParaRPr lang="en-US" noProof="1">
              <a:solidFill>
                <a:schemeClr val="tx2"/>
              </a:solidFill>
            </a:endParaRPr>
          </a:p>
          <a:p>
            <a:r>
              <a:rPr lang="en-US" noProof="1"/>
              <a:t>In practice, what screening capacity (5-20%?) and FN/FP cost ratio would you choose, and who should own the consequences of that decision and its costs?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C38DED1-C3D8-664B-31EE-0E93107797D0}"/>
              </a:ext>
            </a:extLst>
          </p:cNvPr>
          <p:cNvSpPr/>
          <p:nvPr/>
        </p:nvSpPr>
        <p:spPr>
          <a:xfrm>
            <a:off x="2361235" y="4994476"/>
            <a:ext cx="8102279" cy="10185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noProof="1">
                <a:solidFill>
                  <a:schemeClr val="tx2"/>
                </a:solidFill>
              </a:rPr>
              <a:t>Deployment &amp; governance</a:t>
            </a:r>
            <a:r>
              <a:rPr lang="en-US" noProof="1">
                <a:solidFill>
                  <a:schemeClr val="tx2"/>
                </a:solidFill>
              </a:rPr>
              <a:t> </a:t>
            </a:r>
          </a:p>
          <a:p>
            <a:r>
              <a:rPr lang="en-US" noProof="1"/>
              <a:t>Would you deploy the output as risk tiers + event triggers (monitoring tool)</a:t>
            </a:r>
          </a:p>
        </p:txBody>
      </p:sp>
      <p:pic>
        <p:nvPicPr>
          <p:cNvPr id="4" name="Grafik 3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F338B63F-FF94-E5A4-36D1-12D73E77D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59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54FF9-AB24-100A-24C0-F75C104E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234157C-2C04-2DF7-E652-06B9C4691A3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22566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34157C-2C04-2DF7-E652-06B9C4691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FE31B47-6E0C-D743-ACAD-40429A358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de-DE"/>
              <a:t>Appendix</a:t>
            </a:r>
          </a:p>
        </p:txBody>
      </p:sp>
      <p:pic>
        <p:nvPicPr>
          <p:cNvPr id="9" name="Grafik 8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1A4625E9-9779-D155-2D0D-831468ADB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01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CA494D-4B5C-5745-6A52-10C95FDF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AD6A4C68-0E97-8611-6C79-57F0FD6AD52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766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6A4C68-0E97-8611-6C79-57F0FD6AD5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F77FC27-C46C-6F8E-30E0-EE64F47AB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Appendix 1: Data Cleaning</a:t>
            </a:r>
          </a:p>
        </p:txBody>
      </p:sp>
      <p:pic>
        <p:nvPicPr>
          <p:cNvPr id="10" name="Grafik 9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9B0133A7-919C-32B7-0B53-EA48A523D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F4CA0C9-F70C-0BBA-EBC0-152FAF872D9E}"/>
              </a:ext>
            </a:extLst>
          </p:cNvPr>
          <p:cNvGrpSpPr/>
          <p:nvPr/>
        </p:nvGrpSpPr>
        <p:grpSpPr>
          <a:xfrm>
            <a:off x="1413832" y="5237243"/>
            <a:ext cx="2833372" cy="889235"/>
            <a:chOff x="1413832" y="5379772"/>
            <a:chExt cx="2833372" cy="889235"/>
          </a:xfrm>
        </p:grpSpPr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CB3756BD-8931-0427-0AC1-894EC5805E6E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413832" y="5379772"/>
              <a:ext cx="2833372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</a:rPr>
                <a:t>Train-only preprocessing</a:t>
              </a:r>
            </a:p>
          </p:txBody>
        </p:sp>
        <p:sp>
          <p:nvSpPr>
            <p:cNvPr id="16" name="Subtitle 2">
              <a:extLst>
                <a:ext uri="{FF2B5EF4-FFF2-40B4-BE49-F238E27FC236}">
                  <a16:creationId xmlns:a16="http://schemas.microsoft.com/office/drawing/2014/main" id="{290D78B9-2235-67CD-3194-4B3EF0999852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413832" y="5622676"/>
              <a:ext cx="2833372" cy="64633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err="1">
                  <a:solidFill>
                    <a:schemeClr val="tx1"/>
                  </a:solidFill>
                  <a:latin typeface="+mn-lt"/>
                  <a:cs typeface="+mn-cs"/>
                </a:rPr>
                <a:t>Winsorize</a:t>
              </a:r>
              <a:r>
                <a:rPr lang="en-US" sz="1400">
                  <a:solidFill>
                    <a:schemeClr val="tx1"/>
                  </a:solidFill>
                  <a:latin typeface="+mn-lt"/>
                  <a:cs typeface="+mn-cs"/>
                </a:rPr>
                <a:t> (1/99), KNN-impute missing values, and standardize using the training set only; then apply to </a:t>
              </a:r>
              <a:r>
                <a:rPr lang="en-US" sz="1400" err="1">
                  <a:solidFill>
                    <a:schemeClr val="tx1"/>
                  </a:solidFill>
                  <a:latin typeface="+mn-lt"/>
                  <a:cs typeface="+mn-cs"/>
                </a:rPr>
                <a:t>val</a:t>
              </a:r>
              <a:r>
                <a:rPr lang="en-US" sz="1400">
                  <a:solidFill>
                    <a:schemeClr val="tx1"/>
                  </a:solidFill>
                  <a:latin typeface="+mn-lt"/>
                  <a:cs typeface="+mn-cs"/>
                </a:rPr>
                <a:t>/test</a:t>
              </a:r>
            </a:p>
          </p:txBody>
        </p:sp>
      </p:grpSp>
      <p:grpSp>
        <p:nvGrpSpPr>
          <p:cNvPr id="2" name="Gruppieren 41">
            <a:extLst>
              <a:ext uri="{FF2B5EF4-FFF2-40B4-BE49-F238E27FC236}">
                <a16:creationId xmlns:a16="http://schemas.microsoft.com/office/drawing/2014/main" id="{88315429-C149-390C-0F77-833237FE088B}"/>
              </a:ext>
            </a:extLst>
          </p:cNvPr>
          <p:cNvGrpSpPr>
            <a:grpSpLocks/>
          </p:cNvGrpSpPr>
          <p:nvPr/>
        </p:nvGrpSpPr>
        <p:grpSpPr>
          <a:xfrm>
            <a:off x="1413832" y="2123955"/>
            <a:ext cx="2833372" cy="888749"/>
            <a:chOff x="1101249" y="1981108"/>
            <a:chExt cx="2895398" cy="908206"/>
          </a:xfrm>
        </p:grpSpPr>
        <p:sp>
          <p:nvSpPr>
            <p:cNvPr id="3" name="TextBox 17">
              <a:extLst>
                <a:ext uri="{FF2B5EF4-FFF2-40B4-BE49-F238E27FC236}">
                  <a16:creationId xmlns:a16="http://schemas.microsoft.com/office/drawing/2014/main" id="{CBF4509E-D020-0206-3C66-23C42354B268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101249" y="1981108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Raw </a:t>
              </a:r>
              <a:r>
                <a:rPr lang="en-US" sz="1400" b="1" err="1">
                  <a:solidFill>
                    <a:schemeClr val="accent1"/>
                  </a:solidFill>
                  <a:sym typeface="Futura"/>
                </a:rPr>
                <a:t>Compustat</a:t>
              </a: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 panel</a:t>
              </a:r>
            </a:p>
          </p:txBody>
        </p:sp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1F83A00F-02E7-6AC6-56FF-53AD0A289F02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101249" y="2228833"/>
              <a:ext cx="2895398" cy="66048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algn="l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>
                  <a:solidFill>
                    <a:schemeClr val="tx1"/>
                  </a:solidFill>
                  <a:latin typeface="+mn-lt"/>
                  <a:cs typeface="+mn-cs"/>
                </a:rPr>
                <a:t>Annual fundamentals (US public firms), unbalanced panel across firms and years</a:t>
              </a:r>
            </a:p>
          </p:txBody>
        </p:sp>
      </p:grpSp>
      <p:grpSp>
        <p:nvGrpSpPr>
          <p:cNvPr id="6" name="Gruppieren 40">
            <a:extLst>
              <a:ext uri="{FF2B5EF4-FFF2-40B4-BE49-F238E27FC236}">
                <a16:creationId xmlns:a16="http://schemas.microsoft.com/office/drawing/2014/main" id="{24A91E2F-7021-88B6-C87B-D3E281B97DEC}"/>
              </a:ext>
            </a:extLst>
          </p:cNvPr>
          <p:cNvGrpSpPr>
            <a:grpSpLocks/>
          </p:cNvGrpSpPr>
          <p:nvPr/>
        </p:nvGrpSpPr>
        <p:grpSpPr>
          <a:xfrm>
            <a:off x="1413832" y="3161721"/>
            <a:ext cx="2833372" cy="888749"/>
            <a:chOff x="1101249" y="2865810"/>
            <a:chExt cx="2895398" cy="908205"/>
          </a:xfrm>
        </p:grpSpPr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E70535C9-7E48-3358-DF82-CFF4D74CAE82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1101249" y="2865810"/>
              <a:ext cx="2895398" cy="2201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Deduplication &amp; consistency checks</a:t>
              </a:r>
            </a:p>
          </p:txBody>
        </p:sp>
        <p:sp>
          <p:nvSpPr>
            <p:cNvPr id="9" name="Subtitle 2">
              <a:extLst>
                <a:ext uri="{FF2B5EF4-FFF2-40B4-BE49-F238E27FC236}">
                  <a16:creationId xmlns:a16="http://schemas.microsoft.com/office/drawing/2014/main" id="{58B6F004-5F5C-C255-605B-FF4ED5432533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101249" y="3113535"/>
              <a:ext cx="2895398" cy="6604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>
                  <a:solidFill>
                    <a:schemeClr val="tx1"/>
                  </a:solidFill>
                  <a:latin typeface="+mn-lt"/>
                  <a:cs typeface="+mn-cs"/>
                </a:rPr>
                <a:t>Remove duplicates (keep latest reporting date) and drop invalid / inconsistent firm-year records</a:t>
              </a:r>
            </a:p>
          </p:txBody>
        </p:sp>
      </p:grpSp>
      <p:grpSp>
        <p:nvGrpSpPr>
          <p:cNvPr id="11" name="Gruppieren 42">
            <a:extLst>
              <a:ext uri="{FF2B5EF4-FFF2-40B4-BE49-F238E27FC236}">
                <a16:creationId xmlns:a16="http://schemas.microsoft.com/office/drawing/2014/main" id="{93811424-F49F-7B23-D3DE-897B84B456A2}"/>
              </a:ext>
            </a:extLst>
          </p:cNvPr>
          <p:cNvGrpSpPr>
            <a:grpSpLocks/>
          </p:cNvGrpSpPr>
          <p:nvPr/>
        </p:nvGrpSpPr>
        <p:grpSpPr>
          <a:xfrm>
            <a:off x="1413832" y="4199477"/>
            <a:ext cx="2833372" cy="888752"/>
            <a:chOff x="1101249" y="3991572"/>
            <a:chExt cx="2895398" cy="908211"/>
          </a:xfrm>
        </p:grpSpPr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D492A110-CF26-D041-0BB5-BF052F1E325F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101249" y="3991572"/>
              <a:ext cx="2895398" cy="22016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defRPr/>
              </a:pPr>
              <a:r>
                <a:rPr lang="en-US" sz="1400" b="1">
                  <a:solidFill>
                    <a:schemeClr val="accent1"/>
                  </a:solidFill>
                  <a:sym typeface="Futura"/>
                </a:rPr>
                <a:t>Leakage-safe feature construction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BCA71447-702F-FBE0-706A-A5BD1E62A87B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101249" y="4239300"/>
              <a:ext cx="2895398" cy="66048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1400" noProof="1">
                  <a:solidFill>
                    <a:schemeClr val="tx1"/>
                  </a:solidFill>
                  <a:latin typeface="+mn-lt"/>
                  <a:cs typeface="+mn-cs"/>
                </a:rPr>
                <a:t>Build lagged ratios (size, liquidity, leverage, profitability, asset structure) using only information available at </a:t>
              </a:r>
              <a:r>
                <a:rPr lang="en-US" sz="1400" i="1" noProof="1">
                  <a:solidFill>
                    <a:schemeClr val="tx1"/>
                  </a:solidFill>
                  <a:latin typeface="+mn-lt"/>
                  <a:cs typeface="+mn-cs"/>
                </a:rPr>
                <a:t>t</a:t>
              </a:r>
            </a:p>
          </p:txBody>
        </p:sp>
      </p:grpSp>
      <p:sp>
        <p:nvSpPr>
          <p:cNvPr id="17" name="TextBox 27">
            <a:extLst>
              <a:ext uri="{FF2B5EF4-FFF2-40B4-BE49-F238E27FC236}">
                <a16:creationId xmlns:a16="http://schemas.microsoft.com/office/drawing/2014/main" id="{C3834BD2-1CCF-E7C5-9409-C7A4917BAEB4}"/>
              </a:ext>
            </a:extLst>
          </p:cNvPr>
          <p:cNvSpPr txBox="1">
            <a:spLocks/>
          </p:cNvSpPr>
          <p:nvPr/>
        </p:nvSpPr>
        <p:spPr>
          <a:xfrm>
            <a:off x="8305245" y="3648348"/>
            <a:ext cx="3694668" cy="361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R="0" lvl="0" fontAlgn="auto"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400" b="1">
                <a:solidFill>
                  <a:schemeClr val="accent1"/>
                </a:solidFill>
                <a:sym typeface="Futura"/>
              </a:rPr>
              <a:t>Leakage-aware preprocessing pipeline</a:t>
            </a:r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135EC912-2F91-A0AD-B7E1-EDE40EA19123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02522" y="3043422"/>
            <a:ext cx="2405766" cy="1182345"/>
          </a:xfrm>
          <a:custGeom>
            <a:avLst/>
            <a:gdLst>
              <a:gd name="T0" fmla="*/ 287 w 584"/>
              <a:gd name="T1" fmla="*/ 243 h 243"/>
              <a:gd name="T2" fmla="*/ 498 w 584"/>
              <a:gd name="T3" fmla="*/ 208 h 243"/>
              <a:gd name="T4" fmla="*/ 584 w 584"/>
              <a:gd name="T5" fmla="*/ 0 h 243"/>
              <a:gd name="T6" fmla="*/ 291 w 584"/>
              <a:gd name="T7" fmla="*/ 33 h 243"/>
              <a:gd name="T8" fmla="*/ 0 w 584"/>
              <a:gd name="T9" fmla="*/ 0 h 243"/>
              <a:gd name="T10" fmla="*/ 84 w 584"/>
              <a:gd name="T11" fmla="*/ 211 h 243"/>
              <a:gd name="T12" fmla="*/ 287 w 584"/>
              <a:gd name="T13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4" h="243">
                <a:moveTo>
                  <a:pt x="287" y="243"/>
                </a:moveTo>
                <a:cubicBezTo>
                  <a:pt x="379" y="243"/>
                  <a:pt x="458" y="229"/>
                  <a:pt x="498" y="208"/>
                </a:cubicBezTo>
                <a:cubicBezTo>
                  <a:pt x="519" y="141"/>
                  <a:pt x="547" y="71"/>
                  <a:pt x="584" y="0"/>
                </a:cubicBezTo>
                <a:cubicBezTo>
                  <a:pt x="526" y="19"/>
                  <a:pt x="417" y="33"/>
                  <a:pt x="291" y="33"/>
                </a:cubicBezTo>
                <a:cubicBezTo>
                  <a:pt x="167" y="33"/>
                  <a:pt x="59" y="20"/>
                  <a:pt x="0" y="0"/>
                </a:cubicBezTo>
                <a:cubicBezTo>
                  <a:pt x="29" y="60"/>
                  <a:pt x="59" y="130"/>
                  <a:pt x="84" y="211"/>
                </a:cubicBezTo>
                <a:cubicBezTo>
                  <a:pt x="125" y="231"/>
                  <a:pt x="201" y="243"/>
                  <a:pt x="287" y="243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C20EA199-3F61-2C79-CCCA-24C50004FD7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247342" y="4056721"/>
            <a:ext cx="1705827" cy="1167033"/>
          </a:xfrm>
          <a:custGeom>
            <a:avLst/>
            <a:gdLst>
              <a:gd name="T0" fmla="*/ 203 w 414"/>
              <a:gd name="T1" fmla="*/ 35 h 240"/>
              <a:gd name="T2" fmla="*/ 0 w 414"/>
              <a:gd name="T3" fmla="*/ 3 h 240"/>
              <a:gd name="T4" fmla="*/ 46 w 414"/>
              <a:gd name="T5" fmla="*/ 204 h 240"/>
              <a:gd name="T6" fmla="*/ 49 w 414"/>
              <a:gd name="T7" fmla="*/ 215 h 240"/>
              <a:gd name="T8" fmla="*/ 205 w 414"/>
              <a:gd name="T9" fmla="*/ 240 h 240"/>
              <a:gd name="T10" fmla="*/ 354 w 414"/>
              <a:gd name="T11" fmla="*/ 217 h 240"/>
              <a:gd name="T12" fmla="*/ 362 w 414"/>
              <a:gd name="T13" fmla="*/ 214 h 240"/>
              <a:gd name="T14" fmla="*/ 376 w 414"/>
              <a:gd name="T15" fmla="*/ 139 h 240"/>
              <a:gd name="T16" fmla="*/ 414 w 414"/>
              <a:gd name="T17" fmla="*/ 0 h 240"/>
              <a:gd name="T18" fmla="*/ 203 w 414"/>
              <a:gd name="T19" fmla="*/ 35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4" h="240">
                <a:moveTo>
                  <a:pt x="203" y="35"/>
                </a:moveTo>
                <a:cubicBezTo>
                  <a:pt x="117" y="35"/>
                  <a:pt x="41" y="23"/>
                  <a:pt x="0" y="3"/>
                </a:cubicBezTo>
                <a:cubicBezTo>
                  <a:pt x="18" y="64"/>
                  <a:pt x="35" y="131"/>
                  <a:pt x="46" y="204"/>
                </a:cubicBezTo>
                <a:cubicBezTo>
                  <a:pt x="47" y="208"/>
                  <a:pt x="48" y="211"/>
                  <a:pt x="49" y="215"/>
                </a:cubicBezTo>
                <a:cubicBezTo>
                  <a:pt x="85" y="230"/>
                  <a:pt x="142" y="240"/>
                  <a:pt x="205" y="240"/>
                </a:cubicBezTo>
                <a:cubicBezTo>
                  <a:pt x="264" y="240"/>
                  <a:pt x="317" y="231"/>
                  <a:pt x="354" y="217"/>
                </a:cubicBezTo>
                <a:cubicBezTo>
                  <a:pt x="357" y="216"/>
                  <a:pt x="359" y="215"/>
                  <a:pt x="362" y="214"/>
                </a:cubicBezTo>
                <a:cubicBezTo>
                  <a:pt x="366" y="190"/>
                  <a:pt x="371" y="165"/>
                  <a:pt x="376" y="139"/>
                </a:cubicBezTo>
                <a:cubicBezTo>
                  <a:pt x="386" y="96"/>
                  <a:pt x="398" y="49"/>
                  <a:pt x="414" y="0"/>
                </a:cubicBezTo>
                <a:cubicBezTo>
                  <a:pt x="374" y="21"/>
                  <a:pt x="295" y="35"/>
                  <a:pt x="203" y="35"/>
                </a:cubicBez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7F5C7098-BFCF-E04E-E8FE-FA19E0A7F6A8}"/>
              </a:ext>
            </a:extLst>
          </p:cNvPr>
          <p:cNvSpPr>
            <a:spLocks/>
          </p:cNvSpPr>
          <p:nvPr/>
        </p:nvSpPr>
        <p:spPr bwMode="auto">
          <a:xfrm>
            <a:off x="4255513" y="1557338"/>
            <a:ext cx="3718024" cy="637955"/>
          </a:xfrm>
          <a:custGeom>
            <a:avLst/>
            <a:gdLst>
              <a:gd name="T0" fmla="*/ 452 w 903"/>
              <a:gd name="T1" fmla="*/ 0 h 131"/>
              <a:gd name="T2" fmla="*/ 0 w 903"/>
              <a:gd name="T3" fmla="*/ 65 h 131"/>
              <a:gd name="T4" fmla="*/ 11 w 903"/>
              <a:gd name="T5" fmla="*/ 80 h 131"/>
              <a:gd name="T6" fmla="*/ 452 w 903"/>
              <a:gd name="T7" fmla="*/ 131 h 131"/>
              <a:gd name="T8" fmla="*/ 686 w 903"/>
              <a:gd name="T9" fmla="*/ 121 h 131"/>
              <a:gd name="T10" fmla="*/ 686 w 903"/>
              <a:gd name="T11" fmla="*/ 121 h 131"/>
              <a:gd name="T12" fmla="*/ 753 w 903"/>
              <a:gd name="T13" fmla="*/ 114 h 131"/>
              <a:gd name="T14" fmla="*/ 753 w 903"/>
              <a:gd name="T15" fmla="*/ 114 h 131"/>
              <a:gd name="T16" fmla="*/ 760 w 903"/>
              <a:gd name="T17" fmla="*/ 113 h 131"/>
              <a:gd name="T18" fmla="*/ 761 w 903"/>
              <a:gd name="T19" fmla="*/ 113 h 131"/>
              <a:gd name="T20" fmla="*/ 768 w 903"/>
              <a:gd name="T21" fmla="*/ 112 h 131"/>
              <a:gd name="T22" fmla="*/ 768 w 903"/>
              <a:gd name="T23" fmla="*/ 112 h 131"/>
              <a:gd name="T24" fmla="*/ 775 w 903"/>
              <a:gd name="T25" fmla="*/ 111 h 131"/>
              <a:gd name="T26" fmla="*/ 776 w 903"/>
              <a:gd name="T27" fmla="*/ 111 h 131"/>
              <a:gd name="T28" fmla="*/ 783 w 903"/>
              <a:gd name="T29" fmla="*/ 110 h 131"/>
              <a:gd name="T30" fmla="*/ 783 w 903"/>
              <a:gd name="T31" fmla="*/ 110 h 131"/>
              <a:gd name="T32" fmla="*/ 893 w 903"/>
              <a:gd name="T33" fmla="*/ 80 h 131"/>
              <a:gd name="T34" fmla="*/ 903 w 903"/>
              <a:gd name="T35" fmla="*/ 65 h 131"/>
              <a:gd name="T36" fmla="*/ 452 w 903"/>
              <a:gd name="T37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03" h="131">
                <a:moveTo>
                  <a:pt x="452" y="0"/>
                </a:moveTo>
                <a:cubicBezTo>
                  <a:pt x="203" y="0"/>
                  <a:pt x="0" y="29"/>
                  <a:pt x="0" y="65"/>
                </a:cubicBezTo>
                <a:cubicBezTo>
                  <a:pt x="0" y="70"/>
                  <a:pt x="4" y="75"/>
                  <a:pt x="11" y="80"/>
                </a:cubicBezTo>
                <a:cubicBezTo>
                  <a:pt x="56" y="109"/>
                  <a:pt x="236" y="131"/>
                  <a:pt x="452" y="131"/>
                </a:cubicBezTo>
                <a:cubicBezTo>
                  <a:pt x="538" y="131"/>
                  <a:pt x="618" y="127"/>
                  <a:pt x="686" y="121"/>
                </a:cubicBezTo>
                <a:cubicBezTo>
                  <a:pt x="686" y="121"/>
                  <a:pt x="686" y="121"/>
                  <a:pt x="686" y="121"/>
                </a:cubicBezTo>
                <a:cubicBezTo>
                  <a:pt x="710" y="119"/>
                  <a:pt x="732" y="117"/>
                  <a:pt x="753" y="114"/>
                </a:cubicBezTo>
                <a:cubicBezTo>
                  <a:pt x="753" y="114"/>
                  <a:pt x="753" y="114"/>
                  <a:pt x="753" y="114"/>
                </a:cubicBezTo>
                <a:cubicBezTo>
                  <a:pt x="756" y="114"/>
                  <a:pt x="758" y="114"/>
                  <a:pt x="760" y="113"/>
                </a:cubicBezTo>
                <a:cubicBezTo>
                  <a:pt x="761" y="113"/>
                  <a:pt x="761" y="113"/>
                  <a:pt x="761" y="113"/>
                </a:cubicBezTo>
                <a:cubicBezTo>
                  <a:pt x="763" y="113"/>
                  <a:pt x="766" y="113"/>
                  <a:pt x="768" y="112"/>
                </a:cubicBezTo>
                <a:cubicBezTo>
                  <a:pt x="768" y="112"/>
                  <a:pt x="768" y="112"/>
                  <a:pt x="768" y="112"/>
                </a:cubicBezTo>
                <a:cubicBezTo>
                  <a:pt x="771" y="112"/>
                  <a:pt x="773" y="111"/>
                  <a:pt x="775" y="111"/>
                </a:cubicBezTo>
                <a:cubicBezTo>
                  <a:pt x="776" y="111"/>
                  <a:pt x="776" y="111"/>
                  <a:pt x="776" y="111"/>
                </a:cubicBezTo>
                <a:cubicBezTo>
                  <a:pt x="778" y="111"/>
                  <a:pt x="780" y="110"/>
                  <a:pt x="783" y="110"/>
                </a:cubicBezTo>
                <a:cubicBezTo>
                  <a:pt x="783" y="110"/>
                  <a:pt x="783" y="110"/>
                  <a:pt x="783" y="110"/>
                </a:cubicBezTo>
                <a:cubicBezTo>
                  <a:pt x="836" y="102"/>
                  <a:pt x="875" y="91"/>
                  <a:pt x="893" y="80"/>
                </a:cubicBezTo>
                <a:cubicBezTo>
                  <a:pt x="900" y="75"/>
                  <a:pt x="903" y="70"/>
                  <a:pt x="903" y="65"/>
                </a:cubicBezTo>
                <a:cubicBezTo>
                  <a:pt x="903" y="29"/>
                  <a:pt x="701" y="0"/>
                  <a:pt x="452" y="0"/>
                </a:cubicBezTo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2" name="Oval 32">
            <a:extLst>
              <a:ext uri="{FF2B5EF4-FFF2-40B4-BE49-F238E27FC236}">
                <a16:creationId xmlns:a16="http://schemas.microsoft.com/office/drawing/2014/main" id="{D521D1B9-DAA7-1CAA-E4A0-5031A462CB79}"/>
              </a:ext>
            </a:extLst>
          </p:cNvPr>
          <p:cNvSpPr>
            <a:spLocks/>
          </p:cNvSpPr>
          <p:nvPr/>
        </p:nvSpPr>
        <p:spPr bwMode="auto">
          <a:xfrm>
            <a:off x="4824122" y="1723919"/>
            <a:ext cx="2524335" cy="3555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3" name="Freeform 35">
            <a:extLst>
              <a:ext uri="{FF2B5EF4-FFF2-40B4-BE49-F238E27FC236}">
                <a16:creationId xmlns:a16="http://schemas.microsoft.com/office/drawing/2014/main" id="{7D8ED864-DD52-CE13-BD6B-3A0CA5A4C665}"/>
              </a:ext>
            </a:extLst>
          </p:cNvPr>
          <p:cNvSpPr>
            <a:spLocks/>
          </p:cNvSpPr>
          <p:nvPr/>
        </p:nvSpPr>
        <p:spPr bwMode="auto">
          <a:xfrm>
            <a:off x="4301694" y="1944589"/>
            <a:ext cx="3630083" cy="1264003"/>
          </a:xfrm>
          <a:custGeom>
            <a:avLst/>
            <a:gdLst>
              <a:gd name="T0" fmla="*/ 882 w 882"/>
              <a:gd name="T1" fmla="*/ 0 h 260"/>
              <a:gd name="T2" fmla="*/ 798 w 882"/>
              <a:gd name="T3" fmla="*/ 25 h 260"/>
              <a:gd name="T4" fmla="*/ 675 w 882"/>
              <a:gd name="T5" fmla="*/ 41 h 260"/>
              <a:gd name="T6" fmla="*/ 441 w 882"/>
              <a:gd name="T7" fmla="*/ 51 h 260"/>
              <a:gd name="T8" fmla="*/ 0 w 882"/>
              <a:gd name="T9" fmla="*/ 0 h 260"/>
              <a:gd name="T10" fmla="*/ 0 w 882"/>
              <a:gd name="T11" fmla="*/ 0 h 260"/>
              <a:gd name="T12" fmla="*/ 146 w 882"/>
              <a:gd name="T13" fmla="*/ 227 h 260"/>
              <a:gd name="T14" fmla="*/ 437 w 882"/>
              <a:gd name="T15" fmla="*/ 260 h 260"/>
              <a:gd name="T16" fmla="*/ 604 w 882"/>
              <a:gd name="T17" fmla="*/ 251 h 260"/>
              <a:gd name="T18" fmla="*/ 683 w 882"/>
              <a:gd name="T19" fmla="*/ 239 h 260"/>
              <a:gd name="T20" fmla="*/ 730 w 882"/>
              <a:gd name="T21" fmla="*/ 227 h 260"/>
              <a:gd name="T22" fmla="*/ 882 w 882"/>
              <a:gd name="T23" fmla="*/ 0 h 260"/>
              <a:gd name="T24" fmla="*/ 882 w 882"/>
              <a:gd name="T25" fmla="*/ 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82" h="260">
                <a:moveTo>
                  <a:pt x="882" y="0"/>
                </a:moveTo>
                <a:cubicBezTo>
                  <a:pt x="867" y="9"/>
                  <a:pt x="838" y="18"/>
                  <a:pt x="798" y="25"/>
                </a:cubicBezTo>
                <a:cubicBezTo>
                  <a:pt x="765" y="32"/>
                  <a:pt x="723" y="37"/>
                  <a:pt x="675" y="41"/>
                </a:cubicBezTo>
                <a:cubicBezTo>
                  <a:pt x="607" y="47"/>
                  <a:pt x="527" y="51"/>
                  <a:pt x="441" y="51"/>
                </a:cubicBezTo>
                <a:cubicBezTo>
                  <a:pt x="225" y="51"/>
                  <a:pt x="45" y="29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73" y="78"/>
                  <a:pt x="146" y="227"/>
                </a:cubicBezTo>
                <a:cubicBezTo>
                  <a:pt x="205" y="247"/>
                  <a:pt x="313" y="260"/>
                  <a:pt x="437" y="260"/>
                </a:cubicBezTo>
                <a:cubicBezTo>
                  <a:pt x="498" y="260"/>
                  <a:pt x="555" y="257"/>
                  <a:pt x="604" y="251"/>
                </a:cubicBezTo>
                <a:cubicBezTo>
                  <a:pt x="634" y="248"/>
                  <a:pt x="660" y="244"/>
                  <a:pt x="683" y="239"/>
                </a:cubicBezTo>
                <a:cubicBezTo>
                  <a:pt x="701" y="235"/>
                  <a:pt x="717" y="231"/>
                  <a:pt x="730" y="227"/>
                </a:cubicBezTo>
                <a:cubicBezTo>
                  <a:pt x="770" y="150"/>
                  <a:pt x="819" y="73"/>
                  <a:pt x="882" y="0"/>
                </a:cubicBezTo>
                <a:cubicBezTo>
                  <a:pt x="882" y="0"/>
                  <a:pt x="882" y="0"/>
                  <a:pt x="882" y="0"/>
                </a:cubicBezTo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80168" tIns="40084" rIns="80168" bIns="4008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1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ED4C5D70-F588-51DB-4FEE-BADE5B17B999}"/>
              </a:ext>
            </a:extLst>
          </p:cNvPr>
          <p:cNvSpPr txBox="1">
            <a:spLocks/>
          </p:cNvSpPr>
          <p:nvPr/>
        </p:nvSpPr>
        <p:spPr>
          <a:xfrm>
            <a:off x="8305245" y="4104651"/>
            <a:ext cx="3694668" cy="1723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/>
              <a:t>Chronological split (train → validation → test) to mimic a real-time setting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Fit all transforms on </a:t>
            </a:r>
            <a:r>
              <a:rPr lang="en-US" sz="1400" b="1"/>
              <a:t>train only </a:t>
            </a:r>
            <a:r>
              <a:rPr lang="en-US" sz="1400"/>
              <a:t>(</a:t>
            </a:r>
            <a:r>
              <a:rPr lang="en-US" sz="1400" err="1"/>
              <a:t>winsor</a:t>
            </a:r>
            <a:r>
              <a:rPr lang="en-US" sz="1400"/>
              <a:t> bounds, imputer, scaler)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Address class imbalance via instance weights / cost-sensitive learning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Output: clean feature matrix + 1-year-ahead transition labels (healthy</a:t>
            </a:r>
            <a:r>
              <a:rPr lang="en-US" sz="1400" i="1"/>
              <a:t> t </a:t>
            </a:r>
            <a:r>
              <a:rPr lang="en-US" sz="1400">
                <a:sym typeface="Wingdings" pitchFamily="2" charset="2"/>
              </a:rPr>
              <a:t> distressed </a:t>
            </a:r>
            <a:r>
              <a:rPr lang="en-US" sz="1400" i="1">
                <a:sym typeface="Wingdings" pitchFamily="2" charset="2"/>
              </a:rPr>
              <a:t>t+1</a:t>
            </a:r>
            <a:r>
              <a:rPr lang="en-US" sz="1400">
                <a:sym typeface="Wingdings" pitchFamily="2" charset="2"/>
              </a:rPr>
              <a:t>)</a:t>
            </a:r>
            <a:endParaRPr lang="en-US" sz="1400"/>
          </a:p>
        </p:txBody>
      </p:sp>
      <p:sp>
        <p:nvSpPr>
          <p:cNvPr id="55" name="Gleichschenkliges Dreieck 15">
            <a:extLst>
              <a:ext uri="{FF2B5EF4-FFF2-40B4-BE49-F238E27FC236}">
                <a16:creationId xmlns:a16="http://schemas.microsoft.com/office/drawing/2014/main" id="{F4DD9466-D186-AB0B-C687-75EADA67D736}"/>
              </a:ext>
            </a:extLst>
          </p:cNvPr>
          <p:cNvSpPr>
            <a:spLocks noChangeAspect="1"/>
          </p:cNvSpPr>
          <p:nvPr/>
        </p:nvSpPr>
        <p:spPr>
          <a:xfrm rot="5400000">
            <a:off x="7734683" y="3748713"/>
            <a:ext cx="298800" cy="160690"/>
          </a:xfrm>
          <a:custGeom>
            <a:avLst/>
            <a:gdLst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  <a:gd name="connsiteX3" fmla="*/ 0 w 198882"/>
              <a:gd name="connsiteY3" fmla="*/ 113994 h 113994"/>
              <a:gd name="connsiteX0" fmla="*/ 0 w 198882"/>
              <a:gd name="connsiteY0" fmla="*/ 113994 h 205434"/>
              <a:gd name="connsiteX1" fmla="*/ 99441 w 198882"/>
              <a:gd name="connsiteY1" fmla="*/ 0 h 205434"/>
              <a:gd name="connsiteX2" fmla="*/ 198882 w 198882"/>
              <a:gd name="connsiteY2" fmla="*/ 113994 h 205434"/>
              <a:gd name="connsiteX3" fmla="*/ 91440 w 198882"/>
              <a:gd name="connsiteY3" fmla="*/ 205434 h 205434"/>
              <a:gd name="connsiteX0" fmla="*/ 0 w 198882"/>
              <a:gd name="connsiteY0" fmla="*/ 113994 h 113994"/>
              <a:gd name="connsiteX1" fmla="*/ 99441 w 198882"/>
              <a:gd name="connsiteY1" fmla="*/ 0 h 113994"/>
              <a:gd name="connsiteX2" fmla="*/ 198882 w 198882"/>
              <a:gd name="connsiteY2" fmla="*/ 113994 h 113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882" h="113994">
                <a:moveTo>
                  <a:pt x="0" y="113994"/>
                </a:moveTo>
                <a:lnTo>
                  <a:pt x="99441" y="0"/>
                </a:lnTo>
                <a:lnTo>
                  <a:pt x="198882" y="113994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fik 32" descr="Zahnräder Silhouette">
            <a:extLst>
              <a:ext uri="{FF2B5EF4-FFF2-40B4-BE49-F238E27FC236}">
                <a16:creationId xmlns:a16="http://schemas.microsoft.com/office/drawing/2014/main" id="{A8AF01BC-6653-B510-8703-AEDE3CBAA0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00208" y="5420700"/>
            <a:ext cx="637200" cy="637200"/>
          </a:xfrm>
          <a:prstGeom prst="rect">
            <a:avLst/>
          </a:prstGeom>
        </p:spPr>
      </p:pic>
      <p:pic>
        <p:nvPicPr>
          <p:cNvPr id="39" name="Grafik 38" descr="Datenbank Silhouette">
            <a:extLst>
              <a:ext uri="{FF2B5EF4-FFF2-40B4-BE49-F238E27FC236}">
                <a16:creationId xmlns:a16="http://schemas.microsoft.com/office/drawing/2014/main" id="{860B069B-CC3B-56B2-2849-5193F24C21C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00208" y="2420779"/>
            <a:ext cx="637200" cy="637200"/>
          </a:xfrm>
          <a:prstGeom prst="rect">
            <a:avLst/>
          </a:prstGeom>
        </p:spPr>
      </p:pic>
      <p:pic>
        <p:nvPicPr>
          <p:cNvPr id="40" name="Grafik 29">
            <a:extLst>
              <a:ext uri="{FF2B5EF4-FFF2-40B4-BE49-F238E27FC236}">
                <a16:creationId xmlns:a16="http://schemas.microsoft.com/office/drawing/2014/main" id="{4CE8FA4B-667E-1753-DB2E-A4ACFA6AF13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00208" y="3407748"/>
            <a:ext cx="637955" cy="637955"/>
          </a:xfrm>
          <a:prstGeom prst="rect">
            <a:avLst/>
          </a:prstGeom>
        </p:spPr>
      </p:pic>
      <p:pic>
        <p:nvPicPr>
          <p:cNvPr id="42" name="Grafik 41" descr="Uhr Silhouette">
            <a:extLst>
              <a:ext uri="{FF2B5EF4-FFF2-40B4-BE49-F238E27FC236}">
                <a16:creationId xmlns:a16="http://schemas.microsoft.com/office/drawing/2014/main" id="{D8580FFB-E341-D973-63A4-F4A85B453A2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67689" y="4385675"/>
            <a:ext cx="637200" cy="6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2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AD383ED-D243-BC04-BFB0-61EF2BC3E9B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63187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D383ED-D243-BC04-BFB0-61EF2BC3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9244277-10C6-3253-B6C8-450E5603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1"/>
              <a:t>Bibilography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1C26C6-EFC2-06B1-16F1-A432EFFE7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13" y="728020"/>
            <a:ext cx="11808000" cy="5400000"/>
          </a:xfrm>
        </p:spPr>
        <p:txBody>
          <a:bodyPr/>
          <a:lstStyle/>
          <a:p>
            <a:r>
              <a:rPr lang="de-DE" sz="1400"/>
              <a:t>Altman, Edward I. (1968): </a:t>
            </a:r>
            <a:r>
              <a:rPr lang="de-DE" sz="1400" i="1"/>
              <a:t>Financial </a:t>
            </a:r>
            <a:r>
              <a:rPr lang="de-DE" sz="1400" i="1" err="1"/>
              <a:t>Ratios</a:t>
            </a:r>
            <a:r>
              <a:rPr lang="de-DE" sz="1400" i="1"/>
              <a:t>, </a:t>
            </a:r>
            <a:r>
              <a:rPr lang="de-DE" sz="1400" i="1" err="1"/>
              <a:t>Discriminant</a:t>
            </a:r>
            <a:r>
              <a:rPr lang="de-DE" sz="1400" i="1"/>
              <a:t> Analysis and </a:t>
            </a:r>
            <a:r>
              <a:rPr lang="de-DE" sz="1400" i="1" err="1"/>
              <a:t>the</a:t>
            </a:r>
            <a:r>
              <a:rPr lang="de-DE" sz="1400" i="1"/>
              <a:t> </a:t>
            </a:r>
            <a:r>
              <a:rPr lang="de-DE" sz="1400" i="1" err="1"/>
              <a:t>Prediction</a:t>
            </a:r>
            <a:r>
              <a:rPr lang="de-DE" sz="1400" i="1"/>
              <a:t> </a:t>
            </a:r>
            <a:r>
              <a:rPr lang="de-DE" sz="1400" i="1" err="1"/>
              <a:t>of</a:t>
            </a:r>
            <a:r>
              <a:rPr lang="de-DE" sz="1400" i="1"/>
              <a:t> Corporate </a:t>
            </a:r>
            <a:r>
              <a:rPr lang="de-DE" sz="1400" i="1" err="1"/>
              <a:t>Bankruptcy</a:t>
            </a:r>
            <a:r>
              <a:rPr lang="de-DE" sz="1400"/>
              <a:t>, The Journal </a:t>
            </a:r>
            <a:r>
              <a:rPr lang="de-DE" sz="1400" err="1"/>
              <a:t>of</a:t>
            </a:r>
            <a:r>
              <a:rPr lang="de-DE" sz="1400"/>
              <a:t> Finance, Vol. 23, </a:t>
            </a:r>
            <a:r>
              <a:rPr lang="de-DE" sz="1400" err="1"/>
              <a:t>No</a:t>
            </a:r>
            <a:r>
              <a:rPr lang="de-DE" sz="1400"/>
              <a:t>. 4, pp. 589–609.</a:t>
            </a:r>
          </a:p>
          <a:p>
            <a:r>
              <a:rPr lang="de-DE" sz="1400"/>
              <a:t>Beaver, William H. (1966): </a:t>
            </a:r>
            <a:r>
              <a:rPr lang="de-DE" sz="1400" i="1"/>
              <a:t>Financial </a:t>
            </a:r>
            <a:r>
              <a:rPr lang="de-DE" sz="1400" i="1" err="1"/>
              <a:t>Ratios</a:t>
            </a:r>
            <a:r>
              <a:rPr lang="de-DE" sz="1400" i="1"/>
              <a:t> </a:t>
            </a:r>
            <a:r>
              <a:rPr lang="de-DE" sz="1400" i="1" err="1"/>
              <a:t>as</a:t>
            </a:r>
            <a:r>
              <a:rPr lang="de-DE" sz="1400" i="1"/>
              <a:t> </a:t>
            </a:r>
            <a:r>
              <a:rPr lang="de-DE" sz="1400" i="1" err="1"/>
              <a:t>Predictors</a:t>
            </a:r>
            <a:r>
              <a:rPr lang="de-DE" sz="1400" i="1"/>
              <a:t> </a:t>
            </a:r>
            <a:r>
              <a:rPr lang="de-DE" sz="1400" i="1" err="1"/>
              <a:t>of</a:t>
            </a:r>
            <a:r>
              <a:rPr lang="de-DE" sz="1400" i="1"/>
              <a:t> </a:t>
            </a:r>
            <a:r>
              <a:rPr lang="de-DE" sz="1400" i="1" err="1"/>
              <a:t>Failure</a:t>
            </a:r>
            <a:r>
              <a:rPr lang="de-DE" sz="1400"/>
              <a:t>, Journal </a:t>
            </a:r>
            <a:r>
              <a:rPr lang="de-DE" sz="1400" err="1"/>
              <a:t>of</a:t>
            </a:r>
            <a:r>
              <a:rPr lang="de-DE" sz="1400"/>
              <a:t> Accounting Research, Vol. 4, pp. 71–111.</a:t>
            </a:r>
          </a:p>
          <a:p>
            <a:r>
              <a:rPr lang="de-DE" sz="1400"/>
              <a:t>Beaver, William H.; Ryan, Stephen G. (2005): </a:t>
            </a:r>
            <a:r>
              <a:rPr lang="de-DE" sz="1400" err="1"/>
              <a:t>Conditional</a:t>
            </a:r>
            <a:r>
              <a:rPr lang="de-DE" sz="1400"/>
              <a:t> and </a:t>
            </a:r>
            <a:r>
              <a:rPr lang="de-DE" sz="1400" err="1"/>
              <a:t>Unconditional</a:t>
            </a:r>
            <a:r>
              <a:rPr lang="de-DE" sz="1400"/>
              <a:t> </a:t>
            </a:r>
            <a:r>
              <a:rPr lang="de-DE" sz="1400" err="1"/>
              <a:t>Conservatism</a:t>
            </a:r>
            <a:r>
              <a:rPr lang="de-DE" sz="1400"/>
              <a:t>: </a:t>
            </a:r>
            <a:r>
              <a:rPr lang="de-DE" sz="1400" err="1"/>
              <a:t>Concepts</a:t>
            </a:r>
            <a:r>
              <a:rPr lang="de-DE" sz="1400"/>
              <a:t> and Modeling, Review </a:t>
            </a:r>
            <a:r>
              <a:rPr lang="de-DE" sz="1400" err="1"/>
              <a:t>of</a:t>
            </a:r>
            <a:r>
              <a:rPr lang="de-DE" sz="1400"/>
              <a:t> Accounting Studies, Vol. 10, </a:t>
            </a:r>
            <a:r>
              <a:rPr lang="de-DE" sz="1400" err="1"/>
              <a:t>No</a:t>
            </a:r>
            <a:r>
              <a:rPr lang="de-DE" sz="1400"/>
              <a:t>. 2–3, pp. 269–309.</a:t>
            </a:r>
          </a:p>
          <a:p>
            <a:r>
              <a:rPr lang="de-DE" sz="1400"/>
              <a:t>Beaver, William H.; Correia, Maria; McNichols, Maureen F. (2012): Do </a:t>
            </a:r>
            <a:r>
              <a:rPr lang="de-DE" sz="1400" err="1"/>
              <a:t>Differences</a:t>
            </a:r>
            <a:r>
              <a:rPr lang="de-DE" sz="1400"/>
              <a:t> in Financial Reporting Attributes Impair </a:t>
            </a:r>
            <a:r>
              <a:rPr lang="de-DE" sz="1400" err="1"/>
              <a:t>the</a:t>
            </a:r>
            <a:r>
              <a:rPr lang="de-DE" sz="1400"/>
              <a:t> </a:t>
            </a:r>
            <a:r>
              <a:rPr lang="de-DE" sz="1400" err="1"/>
              <a:t>Predictive</a:t>
            </a:r>
            <a:r>
              <a:rPr lang="de-DE" sz="1400"/>
              <a:t> Ability </a:t>
            </a:r>
            <a:r>
              <a:rPr lang="de-DE" sz="1400" err="1"/>
              <a:t>of</a:t>
            </a:r>
            <a:r>
              <a:rPr lang="de-DE" sz="1400"/>
              <a:t> Financial </a:t>
            </a:r>
            <a:r>
              <a:rPr lang="de-DE" sz="1400" err="1"/>
              <a:t>Ratios</a:t>
            </a:r>
            <a:r>
              <a:rPr lang="de-DE" sz="1400"/>
              <a:t> </a:t>
            </a:r>
            <a:r>
              <a:rPr lang="de-DE" sz="1400" err="1"/>
              <a:t>for</a:t>
            </a:r>
            <a:r>
              <a:rPr lang="de-DE" sz="1400"/>
              <a:t> </a:t>
            </a:r>
            <a:r>
              <a:rPr lang="de-DE" sz="1400" err="1"/>
              <a:t>Bankruptcy</a:t>
            </a:r>
            <a:r>
              <a:rPr lang="de-DE" sz="1400"/>
              <a:t>?, Review </a:t>
            </a:r>
            <a:r>
              <a:rPr lang="de-DE" sz="1400" err="1"/>
              <a:t>of</a:t>
            </a:r>
            <a:r>
              <a:rPr lang="de-DE" sz="1400"/>
              <a:t> Accounting Studies, Vol. 17, </a:t>
            </a:r>
            <a:r>
              <a:rPr lang="de-DE" sz="1400" err="1"/>
              <a:t>No</a:t>
            </a:r>
            <a:r>
              <a:rPr lang="de-DE" sz="1400"/>
              <a:t>. 4, pp. 969–1010.</a:t>
            </a:r>
          </a:p>
          <a:p>
            <a:r>
              <a:rPr lang="de-DE" sz="1400"/>
              <a:t>Campbell, John Y./Hilscher, Jens/Szilagyi, Jan (2008): </a:t>
            </a:r>
            <a:r>
              <a:rPr lang="de-DE" sz="1400" i="1"/>
              <a:t>In Search </a:t>
            </a:r>
            <a:r>
              <a:rPr lang="de-DE" sz="1400" i="1" err="1"/>
              <a:t>of</a:t>
            </a:r>
            <a:r>
              <a:rPr lang="de-DE" sz="1400" i="1"/>
              <a:t> </a:t>
            </a:r>
            <a:r>
              <a:rPr lang="de-DE" sz="1400" i="1" err="1"/>
              <a:t>Distress</a:t>
            </a:r>
            <a:r>
              <a:rPr lang="de-DE" sz="1400" i="1"/>
              <a:t> Risk</a:t>
            </a:r>
            <a:r>
              <a:rPr lang="de-DE" sz="1400"/>
              <a:t>, The Journal </a:t>
            </a:r>
            <a:r>
              <a:rPr lang="de-DE" sz="1400" err="1"/>
              <a:t>of</a:t>
            </a:r>
            <a:r>
              <a:rPr lang="de-DE" sz="1400"/>
              <a:t> Finance, Vol. 63, </a:t>
            </a:r>
            <a:r>
              <a:rPr lang="de-DE" sz="1400" err="1"/>
              <a:t>No</a:t>
            </a:r>
            <a:r>
              <a:rPr lang="de-DE" sz="1400"/>
              <a:t>. 6, pp. 2899–2939.</a:t>
            </a:r>
          </a:p>
          <a:p>
            <a:r>
              <a:rPr lang="de-DE" sz="1400"/>
              <a:t>Denis, David J./Denis, Diane K. (1995): </a:t>
            </a:r>
            <a:r>
              <a:rPr lang="de-DE" sz="1400" i="1"/>
              <a:t>Performance </a:t>
            </a:r>
            <a:r>
              <a:rPr lang="de-DE" sz="1400" i="1" err="1"/>
              <a:t>Changes</a:t>
            </a:r>
            <a:r>
              <a:rPr lang="de-DE" sz="1400" i="1"/>
              <a:t> </a:t>
            </a:r>
            <a:r>
              <a:rPr lang="de-DE" sz="1400" i="1" err="1"/>
              <a:t>Following</a:t>
            </a:r>
            <a:r>
              <a:rPr lang="de-DE" sz="1400" i="1"/>
              <a:t> Top Management </a:t>
            </a:r>
            <a:r>
              <a:rPr lang="de-DE" sz="1400" i="1" err="1"/>
              <a:t>Dismissals</a:t>
            </a:r>
            <a:r>
              <a:rPr lang="de-DE" sz="1400"/>
              <a:t>, The Journal </a:t>
            </a:r>
            <a:r>
              <a:rPr lang="de-DE" sz="1400" err="1"/>
              <a:t>of</a:t>
            </a:r>
            <a:r>
              <a:rPr lang="de-DE" sz="1400"/>
              <a:t> Finance, Vol. 50, </a:t>
            </a:r>
            <a:r>
              <a:rPr lang="de-DE" sz="1400" err="1"/>
              <a:t>No</a:t>
            </a:r>
            <a:r>
              <a:rPr lang="de-DE" sz="1400"/>
              <a:t>. 4, pp. 1029–1057.</a:t>
            </a:r>
          </a:p>
          <a:p>
            <a:r>
              <a:rPr lang="de-DE" sz="1400"/>
              <a:t>Franzen, Margaret; </a:t>
            </a:r>
            <a:r>
              <a:rPr lang="de-DE" sz="1400" err="1"/>
              <a:t>Borgerhoff</a:t>
            </a:r>
            <a:r>
              <a:rPr lang="de-DE" sz="1400"/>
              <a:t> Mulder, Monique (2007): </a:t>
            </a:r>
            <a:r>
              <a:rPr lang="de-DE" sz="1400" err="1"/>
              <a:t>Ecological</a:t>
            </a:r>
            <a:r>
              <a:rPr lang="de-DE" sz="1400"/>
              <a:t>, </a:t>
            </a:r>
            <a:r>
              <a:rPr lang="de-DE" sz="1400" err="1"/>
              <a:t>Economic</a:t>
            </a:r>
            <a:r>
              <a:rPr lang="de-DE" sz="1400"/>
              <a:t> and </a:t>
            </a:r>
            <a:r>
              <a:rPr lang="de-DE" sz="1400" err="1"/>
              <a:t>Social</a:t>
            </a:r>
            <a:r>
              <a:rPr lang="de-DE" sz="1400"/>
              <a:t> </a:t>
            </a:r>
            <a:r>
              <a:rPr lang="de-DE" sz="1400" err="1"/>
              <a:t>Perspectives</a:t>
            </a:r>
            <a:r>
              <a:rPr lang="de-DE" sz="1400"/>
              <a:t> on </a:t>
            </a:r>
            <a:r>
              <a:rPr lang="de-DE" sz="1400" err="1"/>
              <a:t>Cocoa</a:t>
            </a:r>
            <a:r>
              <a:rPr lang="de-DE" sz="1400"/>
              <a:t> </a:t>
            </a:r>
            <a:r>
              <a:rPr lang="de-DE" sz="1400" err="1"/>
              <a:t>Production</a:t>
            </a:r>
            <a:r>
              <a:rPr lang="de-DE" sz="1400"/>
              <a:t> Worldwide, </a:t>
            </a:r>
            <a:r>
              <a:rPr lang="de-DE" sz="1400" err="1"/>
              <a:t>Biodiversity</a:t>
            </a:r>
            <a:r>
              <a:rPr lang="de-DE" sz="1400"/>
              <a:t> and </a:t>
            </a:r>
            <a:r>
              <a:rPr lang="de-DE" sz="1400" err="1"/>
              <a:t>Conservation</a:t>
            </a:r>
            <a:r>
              <a:rPr lang="de-DE" sz="1400"/>
              <a:t>, Vol. 16, </a:t>
            </a:r>
            <a:r>
              <a:rPr lang="de-DE" sz="1400" err="1"/>
              <a:t>No</a:t>
            </a:r>
            <a:r>
              <a:rPr lang="de-DE" sz="1400"/>
              <a:t>. 13, pp. 3835–3849.</a:t>
            </a:r>
          </a:p>
          <a:p>
            <a:r>
              <a:rPr lang="de-DE" sz="1400"/>
              <a:t>Law, Jonathan (2008): A Dictionary </a:t>
            </a:r>
            <a:r>
              <a:rPr lang="de-DE" sz="1400" err="1"/>
              <a:t>of</a:t>
            </a:r>
            <a:r>
              <a:rPr lang="de-DE" sz="1400"/>
              <a:t> Finance and Banking, 6th </a:t>
            </a:r>
            <a:r>
              <a:rPr lang="de-DE" sz="1400" err="1"/>
              <a:t>ed</a:t>
            </a:r>
            <a:r>
              <a:rPr lang="de-DE" sz="1400"/>
              <a:t>., Oxford University Press, Oxford.</a:t>
            </a:r>
          </a:p>
          <a:p>
            <a:r>
              <a:rPr lang="de-DE" sz="1400"/>
              <a:t>Lawless, Robert M./Ferris, Stephen P. (1997): </a:t>
            </a:r>
            <a:r>
              <a:rPr lang="de-DE" sz="1400" i="1"/>
              <a:t>Professional Fees and Other </a:t>
            </a:r>
            <a:r>
              <a:rPr lang="de-DE" sz="1400" i="1" err="1"/>
              <a:t>Direct</a:t>
            </a:r>
            <a:r>
              <a:rPr lang="de-DE" sz="1400" i="1"/>
              <a:t> Costs in Chapter 7 Business </a:t>
            </a:r>
            <a:r>
              <a:rPr lang="de-DE" sz="1400" i="1" err="1"/>
              <a:t>Liquidations</a:t>
            </a:r>
            <a:r>
              <a:rPr lang="de-DE" sz="1400"/>
              <a:t>, Washington University Law Quarterly:1207–1236.</a:t>
            </a:r>
          </a:p>
          <a:p>
            <a:r>
              <a:rPr lang="de-DE" sz="1400" err="1"/>
              <a:t>Ohlson</a:t>
            </a:r>
            <a:r>
              <a:rPr lang="de-DE" sz="1400"/>
              <a:t>, James A. (1980): </a:t>
            </a:r>
            <a:r>
              <a:rPr lang="de-DE" sz="1400" i="1"/>
              <a:t>Financial </a:t>
            </a:r>
            <a:r>
              <a:rPr lang="de-DE" sz="1400" i="1" err="1"/>
              <a:t>Ratios</a:t>
            </a:r>
            <a:r>
              <a:rPr lang="de-DE" sz="1400" i="1"/>
              <a:t> and </a:t>
            </a:r>
            <a:r>
              <a:rPr lang="de-DE" sz="1400" i="1" err="1"/>
              <a:t>the</a:t>
            </a:r>
            <a:r>
              <a:rPr lang="de-DE" sz="1400" i="1"/>
              <a:t> </a:t>
            </a:r>
            <a:r>
              <a:rPr lang="de-DE" sz="1400" i="1" err="1"/>
              <a:t>Probabilistic</a:t>
            </a:r>
            <a:r>
              <a:rPr lang="de-DE" sz="1400" i="1"/>
              <a:t> </a:t>
            </a:r>
            <a:r>
              <a:rPr lang="de-DE" sz="1400" i="1" err="1"/>
              <a:t>Prediction</a:t>
            </a:r>
            <a:r>
              <a:rPr lang="de-DE" sz="1400" i="1"/>
              <a:t> </a:t>
            </a:r>
            <a:r>
              <a:rPr lang="de-DE" sz="1400" i="1" err="1"/>
              <a:t>of</a:t>
            </a:r>
            <a:r>
              <a:rPr lang="de-DE" sz="1400" i="1"/>
              <a:t> </a:t>
            </a:r>
            <a:r>
              <a:rPr lang="de-DE" sz="1400" i="1" err="1"/>
              <a:t>Bankruptcy</a:t>
            </a:r>
            <a:r>
              <a:rPr lang="de-DE" sz="1400"/>
              <a:t>, Journal </a:t>
            </a:r>
            <a:r>
              <a:rPr lang="de-DE" sz="1400" err="1"/>
              <a:t>of</a:t>
            </a:r>
            <a:r>
              <a:rPr lang="de-DE" sz="1400"/>
              <a:t> Accounting Research, Vol. 18, </a:t>
            </a:r>
            <a:r>
              <a:rPr lang="de-DE" sz="1400" err="1"/>
              <a:t>No</a:t>
            </a:r>
            <a:r>
              <a:rPr lang="de-DE" sz="1400"/>
              <a:t>. 1, pp. 109–131.</a:t>
            </a:r>
          </a:p>
          <a:p>
            <a:r>
              <a:rPr lang="de-DE" sz="1400" err="1"/>
              <a:t>Opler</a:t>
            </a:r>
            <a:r>
              <a:rPr lang="de-DE" sz="1400"/>
              <a:t>, Tim C./Titman, Sheridan (1994): </a:t>
            </a:r>
            <a:r>
              <a:rPr lang="de-DE" sz="1400" i="1"/>
              <a:t>Financial </a:t>
            </a:r>
            <a:r>
              <a:rPr lang="de-DE" sz="1400" i="1" err="1"/>
              <a:t>Distress</a:t>
            </a:r>
            <a:r>
              <a:rPr lang="de-DE" sz="1400" i="1"/>
              <a:t> and Corporate Performance</a:t>
            </a:r>
            <a:r>
              <a:rPr lang="de-DE" sz="1400"/>
              <a:t>, The Journal </a:t>
            </a:r>
            <a:r>
              <a:rPr lang="de-DE" sz="1400" err="1"/>
              <a:t>of</a:t>
            </a:r>
            <a:r>
              <a:rPr lang="de-DE" sz="1400"/>
              <a:t> Finance, Vol. 49, </a:t>
            </a:r>
            <a:r>
              <a:rPr lang="de-DE" sz="1400" err="1"/>
              <a:t>No</a:t>
            </a:r>
            <a:r>
              <a:rPr lang="de-DE" sz="1400"/>
              <a:t>. 3, pp. 1015–1040.</a:t>
            </a:r>
          </a:p>
          <a:p>
            <a:r>
              <a:rPr lang="de-DE" sz="1400" err="1"/>
              <a:t>Pulvino</a:t>
            </a:r>
            <a:r>
              <a:rPr lang="de-DE" sz="1400"/>
              <a:t>, Todd C. (1998): </a:t>
            </a:r>
            <a:r>
              <a:rPr lang="de-DE" sz="1400" i="1"/>
              <a:t>Do Asset </a:t>
            </a:r>
            <a:r>
              <a:rPr lang="de-DE" sz="1400" i="1" err="1"/>
              <a:t>Fire</a:t>
            </a:r>
            <a:r>
              <a:rPr lang="de-DE" sz="1400" i="1"/>
              <a:t> Sales </a:t>
            </a:r>
            <a:r>
              <a:rPr lang="de-DE" sz="1400" i="1" err="1"/>
              <a:t>Exist</a:t>
            </a:r>
            <a:r>
              <a:rPr lang="de-DE" sz="1400" i="1"/>
              <a:t>? An </a:t>
            </a:r>
            <a:r>
              <a:rPr lang="de-DE" sz="1400" i="1" err="1"/>
              <a:t>Empirical</a:t>
            </a:r>
            <a:r>
              <a:rPr lang="de-DE" sz="1400" i="1"/>
              <a:t> Investigation </a:t>
            </a:r>
            <a:r>
              <a:rPr lang="de-DE" sz="1400" i="1" err="1"/>
              <a:t>of</a:t>
            </a:r>
            <a:r>
              <a:rPr lang="de-DE" sz="1400" i="1"/>
              <a:t> Commercial Aircraft Transactions</a:t>
            </a:r>
            <a:r>
              <a:rPr lang="de-DE" sz="1400"/>
              <a:t>, The Journal </a:t>
            </a:r>
            <a:r>
              <a:rPr lang="de-DE" sz="1400" err="1"/>
              <a:t>of</a:t>
            </a:r>
            <a:r>
              <a:rPr lang="de-DE" sz="1400"/>
              <a:t> Finance, Vol. 53, </a:t>
            </a:r>
            <a:r>
              <a:rPr lang="de-DE" sz="1400" err="1"/>
              <a:t>No</a:t>
            </a:r>
            <a:r>
              <a:rPr lang="de-DE" sz="1400"/>
              <a:t>. 3, pp. 939–978.</a:t>
            </a:r>
          </a:p>
          <a:p>
            <a:r>
              <a:rPr lang="de-DE" sz="1400" err="1"/>
              <a:t>Raviv</a:t>
            </a:r>
            <a:r>
              <a:rPr lang="de-DE" sz="1400"/>
              <a:t>, Alon/</a:t>
            </a:r>
            <a:r>
              <a:rPr lang="de-DE" sz="1400" err="1"/>
              <a:t>Sundgren</a:t>
            </a:r>
            <a:r>
              <a:rPr lang="de-DE" sz="1400"/>
              <a:t>, Stefan (1998): </a:t>
            </a:r>
            <a:r>
              <a:rPr lang="de-DE" sz="1400" i="1"/>
              <a:t>The </a:t>
            </a:r>
            <a:r>
              <a:rPr lang="de-DE" sz="1400" i="1" err="1"/>
              <a:t>Comparative</a:t>
            </a:r>
            <a:r>
              <a:rPr lang="de-DE" sz="1400" i="1"/>
              <a:t> Efficiency </a:t>
            </a:r>
            <a:r>
              <a:rPr lang="de-DE" sz="1400" i="1" err="1"/>
              <a:t>of</a:t>
            </a:r>
            <a:r>
              <a:rPr lang="de-DE" sz="1400" i="1"/>
              <a:t> </a:t>
            </a:r>
            <a:r>
              <a:rPr lang="de-DE" sz="1400" i="1" err="1"/>
              <a:t>Bankruptcy</a:t>
            </a:r>
            <a:r>
              <a:rPr lang="de-DE" sz="1400" i="1"/>
              <a:t> </a:t>
            </a:r>
            <a:r>
              <a:rPr lang="de-DE" sz="1400" i="1" err="1"/>
              <a:t>Reorganization</a:t>
            </a:r>
            <a:r>
              <a:rPr lang="de-DE" sz="1400"/>
              <a:t>, Journal </a:t>
            </a:r>
            <a:r>
              <a:rPr lang="de-DE" sz="1400" err="1"/>
              <a:t>of</a:t>
            </a:r>
            <a:r>
              <a:rPr lang="de-DE" sz="1400"/>
              <a:t> Banking &amp; Finance, Vol. 22, </a:t>
            </a:r>
            <a:r>
              <a:rPr lang="de-DE" sz="1400" err="1"/>
              <a:t>No</a:t>
            </a:r>
            <a:r>
              <a:rPr lang="de-DE" sz="1400"/>
              <a:t>. 4, pp. 463–485.</a:t>
            </a:r>
          </a:p>
          <a:p>
            <a:r>
              <a:rPr lang="de-DE" sz="1400"/>
              <a:t>Standard &amp; </a:t>
            </a:r>
            <a:r>
              <a:rPr lang="de-DE" sz="1400" err="1"/>
              <a:t>Poor’s</a:t>
            </a:r>
            <a:r>
              <a:rPr lang="de-DE" sz="1400"/>
              <a:t> (2009): </a:t>
            </a:r>
            <a:r>
              <a:rPr lang="de-DE" sz="1400" i="1"/>
              <a:t>Corporate Ratings </a:t>
            </a:r>
            <a:r>
              <a:rPr lang="de-DE" sz="1400" i="1" err="1"/>
              <a:t>Criteria</a:t>
            </a:r>
            <a:r>
              <a:rPr lang="de-DE" sz="1400"/>
              <a:t>, Standard &amp; </a:t>
            </a:r>
            <a:r>
              <a:rPr lang="de-DE" sz="1400" err="1"/>
              <a:t>Poor’s</a:t>
            </a:r>
            <a:r>
              <a:rPr lang="de-DE" sz="1400"/>
              <a:t> Financial Services, New York.</a:t>
            </a:r>
          </a:p>
          <a:p>
            <a:r>
              <a:rPr lang="de-DE" sz="1400" err="1"/>
              <a:t>Thorburn</a:t>
            </a:r>
            <a:r>
              <a:rPr lang="de-DE" sz="1400"/>
              <a:t>, Karin S. (2000): </a:t>
            </a:r>
            <a:r>
              <a:rPr lang="de-DE" sz="1400" i="1" err="1"/>
              <a:t>Bankruptcy</a:t>
            </a:r>
            <a:r>
              <a:rPr lang="de-DE" sz="1400" i="1"/>
              <a:t> </a:t>
            </a:r>
            <a:r>
              <a:rPr lang="de-DE" sz="1400" i="1" err="1"/>
              <a:t>Auctions</a:t>
            </a:r>
            <a:r>
              <a:rPr lang="de-DE" sz="1400" i="1"/>
              <a:t>: Costs, </a:t>
            </a:r>
            <a:r>
              <a:rPr lang="de-DE" sz="1400" i="1" err="1"/>
              <a:t>Debt</a:t>
            </a:r>
            <a:r>
              <a:rPr lang="de-DE" sz="1400" i="1"/>
              <a:t> Recovery, and Firm Survival</a:t>
            </a:r>
            <a:r>
              <a:rPr lang="de-DE" sz="1400"/>
              <a:t>, Journal </a:t>
            </a:r>
            <a:r>
              <a:rPr lang="de-DE" sz="1400" err="1"/>
              <a:t>of</a:t>
            </a:r>
            <a:r>
              <a:rPr lang="de-DE" sz="1400"/>
              <a:t> Financial Economics, Vol. 58, </a:t>
            </a:r>
            <a:r>
              <a:rPr lang="de-DE" sz="1400" err="1"/>
              <a:t>No</a:t>
            </a:r>
            <a:r>
              <a:rPr lang="de-DE" sz="1400"/>
              <a:t>. 3, pp. 337–368.</a:t>
            </a:r>
          </a:p>
          <a:p>
            <a:r>
              <a:rPr lang="de-DE" sz="1400"/>
              <a:t>Titman, Sheridan (1984): </a:t>
            </a:r>
            <a:r>
              <a:rPr lang="de-DE" sz="1400" i="1"/>
              <a:t>The </a:t>
            </a:r>
            <a:r>
              <a:rPr lang="de-DE" sz="1400" i="1" err="1"/>
              <a:t>Effect</a:t>
            </a:r>
            <a:r>
              <a:rPr lang="de-DE" sz="1400" i="1"/>
              <a:t> </a:t>
            </a:r>
            <a:r>
              <a:rPr lang="de-DE" sz="1400" i="1" err="1"/>
              <a:t>of</a:t>
            </a:r>
            <a:r>
              <a:rPr lang="de-DE" sz="1400" i="1"/>
              <a:t> Capital </a:t>
            </a:r>
            <a:r>
              <a:rPr lang="de-DE" sz="1400" i="1" err="1"/>
              <a:t>Structure</a:t>
            </a:r>
            <a:r>
              <a:rPr lang="de-DE" sz="1400" i="1"/>
              <a:t> on a </a:t>
            </a:r>
            <a:r>
              <a:rPr lang="de-DE" sz="1400" i="1" err="1"/>
              <a:t>Firm’s</a:t>
            </a:r>
            <a:r>
              <a:rPr lang="de-DE" sz="1400" i="1"/>
              <a:t> Liquidation </a:t>
            </a:r>
            <a:r>
              <a:rPr lang="de-DE" sz="1400" i="1" err="1"/>
              <a:t>Decision</a:t>
            </a:r>
            <a:r>
              <a:rPr lang="de-DE" sz="1400"/>
              <a:t>, Journal </a:t>
            </a:r>
            <a:r>
              <a:rPr lang="de-DE" sz="1400" err="1"/>
              <a:t>of</a:t>
            </a:r>
            <a:r>
              <a:rPr lang="de-DE" sz="1400"/>
              <a:t> Financial Economics, Vol. 13, </a:t>
            </a:r>
            <a:r>
              <a:rPr lang="de-DE" sz="1400" err="1"/>
              <a:t>No</a:t>
            </a:r>
            <a:r>
              <a:rPr lang="de-DE" sz="1400"/>
              <a:t>. 1, pp. 137–151.</a:t>
            </a:r>
          </a:p>
          <a:p>
            <a:endParaRPr lang="de-DE" sz="1600"/>
          </a:p>
        </p:txBody>
      </p:sp>
      <p:pic>
        <p:nvPicPr>
          <p:cNvPr id="8" name="Grafik 7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D7DE61B9-D849-4F81-58DF-993C2FAB4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0"/>
            <a:ext cx="22606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22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73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/////wMAUA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1pE9Ooz8ENPkdRf0y7Cj/wFAAAAAAADAAAAAAADAAAAAQADAAAAAAD///////8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pE9Ooz8ENPkdRf0y7Cj/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7590894"/>
  <p:tag name="EMPOWERCHARTSPROPERTIES_A_LENGTH" val="24576"/>
  <p:tag name="RUNTIME_ID" val="16acf1ac-cceb-491d-a6d1-e6cd071ec29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/////wMAXAwAAAAAAAAAAAAAIAD///////////////8AAAD////////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1EyNwlVm4JImabasrvuEzQFAAAAAAADAAAAAAADAAAAAQADAAAAAAD///////8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HgMAAAAAAAAAAAAACAB////////////////AAAA////////////////BAAAAAI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gEDAAAAAgD///////8MAAZQZXJzb25hbElkXzAFAAAAAAAEAAAAAAAEAAAAAQAE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215908"/>
  <p:tag name="EMPOWERCHARTSPROPERTIES_A_LENGTH" val="24576"/>
  <p:tag name="RUNTIME_ID" val="d8b6bc76-88c3-4d45-bdb1-8d2d63624c3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/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/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8688754"/>
  <p:tag name="EMPOWERCHARTSPROPERTIES_A_LENGTH" val="24576"/>
  <p:tag name="RUNTIME_ID" val="d5deb12e-56a9-4197-b833-8b2d72f808d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001175"/>
  <p:tag name="EMPOWERCHARTSPROPERTIES_A_LENGTH" val="24576"/>
  <p:tag name="RUNTIME_ID" val="5157e17a-719b-453a-aa1b-f7c797e9e3a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K/m7vbT35PmbL+nB7I81Q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K/m7vbT35PmbL+nB7I81QDRGF0YQAWAAAAAlBlcnNvbmFsSWQAAQAAAAAAAk5hbWUACwAAAFBlcnNvbmFsSWQAEFZlcnNpb24AAAAAAAlMYXN0V3JpdGUAa9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79459136"/>
  <p:tag name="EMPOWERCHARTSPROPERTIES_A_LENGTH" val="24576"/>
  <p:tag name="RUNTIME_ID" val="a886bc6a-a9bd-41da-95fb-00eef078435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280099430"/>
  <p:tag name="EMPOWERCHARTSPROPERTIES_A_LENGTH" val="24576"/>
  <p:tag name="RUNTIME_ID" val="155d7f78-9094-4aaa-a015-edd0ac21d8b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dVlPantxiy8NFAKe4rY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E_REPGyu5AzQQeic2FT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PjPM4lIxfd3wzE7O6k3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PF">
  <a:themeElements>
    <a:clrScheme name="Benutzerdefiniert 6">
      <a:dk1>
        <a:sysClr val="windowText" lastClr="000000"/>
      </a:dk1>
      <a:lt1>
        <a:sysClr val="window" lastClr="FFFFFF"/>
      </a:lt1>
      <a:dk2>
        <a:srgbClr val="009AC6"/>
      </a:dk2>
      <a:lt2>
        <a:srgbClr val="EEECE1"/>
      </a:lt2>
      <a:accent1>
        <a:srgbClr val="009AC6"/>
      </a:accent1>
      <a:accent2>
        <a:srgbClr val="1B4171"/>
      </a:accent2>
      <a:accent3>
        <a:srgbClr val="22CDFD"/>
      </a:accent3>
      <a:accent4>
        <a:srgbClr val="007394"/>
      </a:accent4>
      <a:accent5>
        <a:srgbClr val="4B88D4"/>
      </a:accent5>
      <a:accent6>
        <a:srgbClr val="B8B8B8"/>
      </a:accent6>
      <a:hlink>
        <a:srgbClr val="0000FF"/>
      </a:hlink>
      <a:folHlink>
        <a:srgbClr val="00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FB85BF769BA148A2765C55B672A290" ma:contentTypeVersion="3" ma:contentTypeDescription="Ein neues Dokument erstellen." ma:contentTypeScope="" ma:versionID="61136423eca055c3815941f8ad8d6b1f">
  <xsd:schema xmlns:xsd="http://www.w3.org/2001/XMLSchema" xmlns:xs="http://www.w3.org/2001/XMLSchema" xmlns:p="http://schemas.microsoft.com/office/2006/metadata/properties" xmlns:ns2="74fd0689-681c-4481-a04d-8587d5a185e0" targetNamespace="http://schemas.microsoft.com/office/2006/metadata/properties" ma:root="true" ma:fieldsID="63a5fdc3abf6014c018b77b60c632f2a" ns2:_="">
    <xsd:import namespace="74fd0689-681c-4481-a04d-8587d5a185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fd0689-681c-4481-a04d-8587d5a18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64979F-F840-4713-856F-228ED26E37A0}">
  <ds:schemaRefs>
    <ds:schemaRef ds:uri="74fd0689-681c-4481-a04d-8587d5a185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5DD8ED-A899-4318-9562-77E8EAB93B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AFB97-23C6-4981-A576-2E0DF9A0B34C}">
  <ds:schemaRefs>
    <ds:schemaRef ds:uri="74fd0689-681c-4481-a04d-8587d5a185e0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2859</Words>
  <Application>Microsoft Macintosh PowerPoint</Application>
  <PresentationFormat>Breitbild</PresentationFormat>
  <Paragraphs>378</Paragraphs>
  <Slides>20</Slides>
  <Notes>15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33" baseType="lpstr">
      <vt:lpstr>Arial Unicode MS</vt:lpstr>
      <vt:lpstr>-webkit-standard</vt:lpstr>
      <vt:lpstr>Aptos</vt:lpstr>
      <vt:lpstr>Arial</vt:lpstr>
      <vt:lpstr>Calibri</vt:lpstr>
      <vt:lpstr>Chronicle Display Roman</vt:lpstr>
      <vt:lpstr>Courier New</vt:lpstr>
      <vt:lpstr>Futura</vt:lpstr>
      <vt:lpstr>Open Sans</vt:lpstr>
      <vt:lpstr>Verdana</vt:lpstr>
      <vt:lpstr>Wingdings</vt:lpstr>
      <vt:lpstr>1_PF</vt:lpstr>
      <vt:lpstr>think-cell Folie</vt:lpstr>
      <vt:lpstr>Introduction to AI in Finance: Early-Warning Machine Learning for Corporate Financial Distress Prediction</vt:lpstr>
      <vt:lpstr>How we will proceed today</vt:lpstr>
      <vt:lpstr>Definition of Financial Distress</vt:lpstr>
      <vt:lpstr>Economic motivation: why early warning matters</vt:lpstr>
      <vt:lpstr>Cross Over of our Framework and the Literature</vt:lpstr>
      <vt:lpstr>Workflow Overview: from raw data to actionable early warning (1/2)</vt:lpstr>
      <vt:lpstr>Feature Map: Accounting signals used for early-warning prediction</vt:lpstr>
      <vt:lpstr>Proxies for Financial Distress </vt:lpstr>
      <vt:lpstr>Workflow Overview: from raw data to actionable early warning (2/2)</vt:lpstr>
      <vt:lpstr>Hyperparameters C parameter and 100 Bayesian Optimization Trials based on weighted Brier Scores across folds</vt:lpstr>
      <vt:lpstr>Model Evaluation: Figures </vt:lpstr>
      <vt:lpstr>Capacity Threshold</vt:lpstr>
      <vt:lpstr>Model evaluation through empirical results: our three takeaways</vt:lpstr>
      <vt:lpstr>Discussion</vt:lpstr>
      <vt:lpstr>Conclusion</vt:lpstr>
      <vt:lpstr>Thank you for listening!</vt:lpstr>
      <vt:lpstr>Questions for the audience</vt:lpstr>
      <vt:lpstr>Appendix</vt:lpstr>
      <vt:lpstr>Appendix 1: Data Cleaning</vt:lpstr>
      <vt:lpstr>Bibilography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Diskussion: Betting Against Beta - 3 Time-varying Risk</dc:title>
  <dc:creator>Samuel Moreno Garcia</dc:creator>
  <cp:lastModifiedBy>Silvia Freytag</cp:lastModifiedBy>
  <cp:revision>3</cp:revision>
  <dcterms:created xsi:type="dcterms:W3CDTF">2025-10-10T18:48:39Z</dcterms:created>
  <dcterms:modified xsi:type="dcterms:W3CDTF">2026-02-26T10:51:51Z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0x01010015FB85BF769BA148A2765C55B672A290</vt:lpwstr>
  </property>
</Properties>
</file>